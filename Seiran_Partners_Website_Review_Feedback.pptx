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3685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B8965A"/>
          </a:solidFill>
          <a:ln/>
        </p:spPr>
      </p:sp>
      <p:pic>
        <p:nvPicPr>
          <p:cNvPr id="3" name="Image 0" descr="/home/claude/seiran_ppt/assets/img-000.png"/>
          <p:cNvPicPr>
            <a:picLocks noChangeAspect="1"/>
          </p:cNvPicPr>
          <p:nvPr/>
        </p:nvPicPr>
        <p:blipFill>
          <a:blip r:embed="rId3"/>
          <a:stretch>
            <a:fillRect/>
          </a:stretch>
        </p:blipFill>
        <p:spPr>
          <a:xfrm>
            <a:off x="548640" y="502920"/>
            <a:ext cx="2194560" cy="735196"/>
          </a:xfrm>
          <a:prstGeom prst="rect">
            <a:avLst/>
          </a:prstGeom>
        </p:spPr>
      </p:pic>
      <p:sp>
        <p:nvSpPr>
          <p:cNvPr id="4" name="Text 1"/>
          <p:cNvSpPr txBox="1"/>
          <p:nvPr/>
        </p:nvSpPr>
        <p:spPr>
          <a:xfrm>
            <a:off x="548640" y="2651760"/>
            <a:ext cx="10058400" cy="365760"/>
          </a:xfrm>
          <a:prstGeom prst="rect">
            <a:avLst/>
          </a:prstGeom>
          <a:noFill/>
          <a:ln/>
        </p:spPr>
        <p:txBody>
          <a:bodyPr wrap="square" lIns="0" tIns="0" rIns="0" bIns="0" rtlCol="0" anchor="ctr"/>
          <a:lstStyle/>
          <a:p>
            <a:pPr marL="0" indent="0">
              <a:buNone/>
            </a:pPr>
            <a:r>
              <a:rPr lang="en-US" sz="1600" b="1" kern="0" spc="200" dirty="0">
                <a:solidFill>
                  <a:srgbClr val="7D6230"/>
                </a:solidFill>
                <a:latin typeface="Calibri" pitchFamily="34" charset="0"/>
                <a:ea typeface="Calibri" pitchFamily="34" charset="-122"/>
                <a:cs typeface="Calibri" pitchFamily="34" charset="-120"/>
              </a:rPr>
              <a:t>WEBSITE REVIEW</a:t>
            </a:r>
            <a:endParaRPr lang="en-US" sz="1600" dirty="0"/>
          </a:p>
        </p:txBody>
      </p:sp>
      <p:sp>
        <p:nvSpPr>
          <p:cNvPr id="5" name="Text 2"/>
          <p:cNvSpPr txBox="1"/>
          <p:nvPr/>
        </p:nvSpPr>
        <p:spPr>
          <a:xfrm>
            <a:off x="548640" y="3017520"/>
            <a:ext cx="10515600" cy="1005840"/>
          </a:xfrm>
          <a:prstGeom prst="rect">
            <a:avLst/>
          </a:prstGeom>
          <a:noFill/>
          <a:ln/>
        </p:spPr>
        <p:txBody>
          <a:bodyPr wrap="square" lIns="0" tIns="0" rIns="0" bIns="0"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Consolidated Feedback</a:t>
            </a:r>
            <a:endParaRPr lang="en-US" sz="4000" dirty="0"/>
          </a:p>
        </p:txBody>
      </p:sp>
      <p:sp>
        <p:nvSpPr>
          <p:cNvPr id="7" name="Shape 4"/>
          <p:cNvSpPr/>
          <p:nvPr/>
        </p:nvSpPr>
        <p:spPr>
          <a:xfrm>
            <a:off x="548640" y="4663440"/>
            <a:ext cx="2926080" cy="18288"/>
          </a:xfrm>
          <a:prstGeom prst="rect">
            <a:avLst/>
          </a:prstGeom>
          <a:solidFill>
            <a:srgbClr val="B8965A"/>
          </a:solidFill>
          <a:ln/>
        </p:spPr>
      </p:sp>
      <p:sp>
        <p:nvSpPr>
          <p:cNvPr id="8" name="Text 5"/>
          <p:cNvSpPr txBox="1"/>
          <p:nvPr/>
        </p:nvSpPr>
        <p:spPr>
          <a:xfrm>
            <a:off x="548640" y="4800600"/>
            <a:ext cx="7315200" cy="320040"/>
          </a:xfrm>
          <a:prstGeom prst="rect">
            <a:avLst/>
          </a:prstGeom>
          <a:noFill/>
          <a:ln/>
        </p:spPr>
        <p:txBody>
          <a:bodyPr wrap="square" lIns="0" tIns="0" rIns="0" bIns="0" rtlCol="0" anchor="ctr"/>
          <a:lstStyle/>
          <a:p>
            <a:pPr marL="0" indent="0">
              <a:buNone/>
            </a:pPr>
            <a:r>
              <a:rPr lang="en-US" sz="1200" i="1" dirty="0">
                <a:solidFill>
                  <a:srgbClr val="D8D5CC"/>
                </a:solidFill>
                <a:latin typeface="Calibri" pitchFamily="34" charset="0"/>
                <a:ea typeface="Calibri" pitchFamily="34" charset="-122"/>
                <a:cs typeface="Calibri" pitchFamily="34" charset="-120"/>
              </a:rPr>
              <a:t>Prepared for the website review session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Agenda</a:t>
            </a:r>
            <a:endParaRPr lang="en-US" sz="2500" dirty="0"/>
          </a:p>
        </p:txBody>
      </p:sp>
      <p:sp>
        <p:nvSpPr>
          <p:cNvPr id="5" name="Shape 3"/>
          <p:cNvSpPr/>
          <p:nvPr/>
        </p:nvSpPr>
        <p:spPr>
          <a:xfrm>
            <a:off x="548640" y="1371600"/>
            <a:ext cx="566928" cy="475488"/>
          </a:xfrm>
          <a:prstGeom prst="rect">
            <a:avLst/>
          </a:prstGeom>
          <a:solidFill>
            <a:srgbClr val="1B2A4A"/>
          </a:solidFill>
          <a:ln/>
        </p:spPr>
      </p:sp>
      <p:sp>
        <p:nvSpPr>
          <p:cNvPr id="6" name="Text 4"/>
          <p:cNvSpPr txBox="1"/>
          <p:nvPr/>
        </p:nvSpPr>
        <p:spPr>
          <a:xfrm>
            <a:off x="548640" y="1371600"/>
            <a:ext cx="56692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01</a:t>
            </a:r>
            <a:endParaRPr lang="en-US" sz="1600" dirty="0"/>
          </a:p>
        </p:txBody>
      </p:sp>
      <p:sp>
        <p:nvSpPr>
          <p:cNvPr id="7" name="Text 5"/>
          <p:cNvSpPr txBox="1"/>
          <p:nvPr/>
        </p:nvSpPr>
        <p:spPr>
          <a:xfrm>
            <a:off x="1280160" y="1371600"/>
            <a:ext cx="2926080" cy="475488"/>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Hero Page</a:t>
            </a:r>
            <a:endParaRPr lang="en-US" sz="1500" dirty="0"/>
          </a:p>
        </p:txBody>
      </p:sp>
      <p:sp>
        <p:nvSpPr>
          <p:cNvPr id="8" name="Text 6"/>
          <p:cNvSpPr txBox="1"/>
          <p:nvPr/>
        </p:nvSpPr>
        <p:spPr>
          <a:xfrm>
            <a:off x="4297680" y="1371600"/>
            <a:ext cx="7345375" cy="475488"/>
          </a:xfrm>
          <a:prstGeom prst="rect">
            <a:avLst/>
          </a:prstGeom>
          <a:noFill/>
          <a:ln/>
        </p:spPr>
        <p:txBody>
          <a:bodyPr wrap="square" lIns="0" tIns="0" rIns="0" bIns="0" rtlCol="0" anchor="ctr"/>
          <a:lstStyle/>
          <a:p>
            <a:pPr marL="0" indent="0">
              <a:buNone/>
            </a:pPr>
            <a:r>
              <a:rPr lang="en-US" sz="1200" dirty="0">
                <a:solidFill>
                  <a:srgbClr val="3A3A3A"/>
                </a:solidFill>
                <a:latin typeface="Calibri" pitchFamily="34" charset="0"/>
                <a:ea typeface="Calibri" pitchFamily="34" charset="-122"/>
                <a:cs typeface="Calibri" pitchFamily="34" charset="-120"/>
              </a:rPr>
              <a:t>Imagery, hero statement, engagement model, process stages, CTAs, contact details</a:t>
            </a:r>
            <a:endParaRPr lang="en-US" sz="1200" dirty="0"/>
          </a:p>
        </p:txBody>
      </p:sp>
      <p:sp>
        <p:nvSpPr>
          <p:cNvPr id="9" name="Shape 7"/>
          <p:cNvSpPr/>
          <p:nvPr/>
        </p:nvSpPr>
        <p:spPr>
          <a:xfrm>
            <a:off x="548640" y="1938528"/>
            <a:ext cx="566928" cy="475488"/>
          </a:xfrm>
          <a:prstGeom prst="rect">
            <a:avLst/>
          </a:prstGeom>
          <a:solidFill>
            <a:srgbClr val="1B2A4A"/>
          </a:solidFill>
          <a:ln/>
        </p:spPr>
      </p:sp>
      <p:sp>
        <p:nvSpPr>
          <p:cNvPr id="10" name="Text 8"/>
          <p:cNvSpPr txBox="1"/>
          <p:nvPr/>
        </p:nvSpPr>
        <p:spPr>
          <a:xfrm>
            <a:off x="548640" y="1938528"/>
            <a:ext cx="56692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02</a:t>
            </a:r>
            <a:endParaRPr lang="en-US" sz="1600" dirty="0"/>
          </a:p>
        </p:txBody>
      </p:sp>
      <p:sp>
        <p:nvSpPr>
          <p:cNvPr id="11" name="Text 9"/>
          <p:cNvSpPr txBox="1"/>
          <p:nvPr/>
        </p:nvSpPr>
        <p:spPr>
          <a:xfrm>
            <a:off x="1280160" y="1938528"/>
            <a:ext cx="2926080" cy="475488"/>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Who We Are</a:t>
            </a:r>
            <a:endParaRPr lang="en-US" sz="1500" dirty="0"/>
          </a:p>
        </p:txBody>
      </p:sp>
      <p:sp>
        <p:nvSpPr>
          <p:cNvPr id="12" name="Text 10"/>
          <p:cNvSpPr txBox="1"/>
          <p:nvPr/>
        </p:nvSpPr>
        <p:spPr>
          <a:xfrm>
            <a:off x="4297680" y="1938528"/>
            <a:ext cx="7345375" cy="475488"/>
          </a:xfrm>
          <a:prstGeom prst="rect">
            <a:avLst/>
          </a:prstGeom>
          <a:noFill/>
          <a:ln/>
        </p:spPr>
        <p:txBody>
          <a:bodyPr wrap="square" lIns="0" tIns="0" rIns="0" bIns="0" rtlCol="0" anchor="ctr"/>
          <a:lstStyle/>
          <a:p>
            <a:pPr marL="0" indent="0">
              <a:buNone/>
            </a:pPr>
            <a:r>
              <a:rPr lang="en-US" sz="1200" dirty="0">
                <a:solidFill>
                  <a:srgbClr val="3A3A3A"/>
                </a:solidFill>
                <a:latin typeface="Calibri" pitchFamily="34" charset="0"/>
                <a:ea typeface="Calibri" pitchFamily="34" charset="-122"/>
                <a:cs typeface="Calibri" pitchFamily="34" charset="-120"/>
              </a:rPr>
              <a:t>Origin story, positioning, who we work with</a:t>
            </a:r>
            <a:endParaRPr lang="en-US" sz="1200" dirty="0"/>
          </a:p>
        </p:txBody>
      </p:sp>
      <p:sp>
        <p:nvSpPr>
          <p:cNvPr id="13" name="Shape 11"/>
          <p:cNvSpPr/>
          <p:nvPr/>
        </p:nvSpPr>
        <p:spPr>
          <a:xfrm>
            <a:off x="548640" y="2505456"/>
            <a:ext cx="566928" cy="475488"/>
          </a:xfrm>
          <a:prstGeom prst="rect">
            <a:avLst/>
          </a:prstGeom>
          <a:solidFill>
            <a:srgbClr val="1B2A4A"/>
          </a:solidFill>
          <a:ln/>
        </p:spPr>
      </p:sp>
      <p:sp>
        <p:nvSpPr>
          <p:cNvPr id="14" name="Text 12"/>
          <p:cNvSpPr txBox="1"/>
          <p:nvPr/>
        </p:nvSpPr>
        <p:spPr>
          <a:xfrm>
            <a:off x="548640" y="2505456"/>
            <a:ext cx="56692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03</a:t>
            </a:r>
            <a:endParaRPr lang="en-US" sz="1600" dirty="0"/>
          </a:p>
        </p:txBody>
      </p:sp>
      <p:sp>
        <p:nvSpPr>
          <p:cNvPr id="15" name="Text 13"/>
          <p:cNvSpPr txBox="1"/>
          <p:nvPr/>
        </p:nvSpPr>
        <p:spPr>
          <a:xfrm>
            <a:off x="1280160" y="2505456"/>
            <a:ext cx="2926080" cy="475488"/>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Our Approach</a:t>
            </a:r>
            <a:endParaRPr lang="en-US" sz="1500" dirty="0"/>
          </a:p>
        </p:txBody>
      </p:sp>
      <p:sp>
        <p:nvSpPr>
          <p:cNvPr id="16" name="Text 14"/>
          <p:cNvSpPr txBox="1"/>
          <p:nvPr/>
        </p:nvSpPr>
        <p:spPr>
          <a:xfrm>
            <a:off x="4297680" y="2505456"/>
            <a:ext cx="7345375" cy="475488"/>
          </a:xfrm>
          <a:prstGeom prst="rect">
            <a:avLst/>
          </a:prstGeom>
          <a:noFill/>
          <a:ln/>
        </p:spPr>
        <p:txBody>
          <a:bodyPr wrap="square" lIns="0" tIns="0" rIns="0" bIns="0" rtlCol="0" anchor="ctr"/>
          <a:lstStyle/>
          <a:p>
            <a:pPr marL="0" indent="0">
              <a:buNone/>
            </a:pPr>
            <a:r>
              <a:rPr lang="en-US" sz="1200" dirty="0">
                <a:solidFill>
                  <a:srgbClr val="3A3A3A"/>
                </a:solidFill>
                <a:latin typeface="Calibri" pitchFamily="34" charset="0"/>
                <a:ea typeface="Calibri" pitchFamily="34" charset="-122"/>
                <a:cs typeface="Calibri" pitchFamily="34" charset="-120"/>
              </a:rPr>
              <a:t>The Seiran Transformation Journey and seven-stage process</a:t>
            </a:r>
            <a:endParaRPr lang="en-US" sz="1200" dirty="0"/>
          </a:p>
        </p:txBody>
      </p:sp>
      <p:sp>
        <p:nvSpPr>
          <p:cNvPr id="17" name="Shape 15"/>
          <p:cNvSpPr/>
          <p:nvPr/>
        </p:nvSpPr>
        <p:spPr>
          <a:xfrm>
            <a:off x="548640" y="3072384"/>
            <a:ext cx="566928" cy="475488"/>
          </a:xfrm>
          <a:prstGeom prst="rect">
            <a:avLst/>
          </a:prstGeom>
          <a:solidFill>
            <a:srgbClr val="1B2A4A"/>
          </a:solidFill>
          <a:ln/>
        </p:spPr>
      </p:sp>
      <p:sp>
        <p:nvSpPr>
          <p:cNvPr id="18" name="Text 16"/>
          <p:cNvSpPr txBox="1"/>
          <p:nvPr/>
        </p:nvSpPr>
        <p:spPr>
          <a:xfrm>
            <a:off x="548640" y="3072384"/>
            <a:ext cx="56692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04</a:t>
            </a:r>
            <a:endParaRPr lang="en-US" sz="1600" dirty="0"/>
          </a:p>
        </p:txBody>
      </p:sp>
      <p:sp>
        <p:nvSpPr>
          <p:cNvPr id="19" name="Text 17"/>
          <p:cNvSpPr txBox="1"/>
          <p:nvPr/>
        </p:nvSpPr>
        <p:spPr>
          <a:xfrm>
            <a:off x="1280160" y="3072384"/>
            <a:ext cx="2926080" cy="475488"/>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Services</a:t>
            </a:r>
            <a:endParaRPr lang="en-US" sz="1500" dirty="0"/>
          </a:p>
        </p:txBody>
      </p:sp>
      <p:sp>
        <p:nvSpPr>
          <p:cNvPr id="20" name="Text 18"/>
          <p:cNvSpPr txBox="1"/>
          <p:nvPr/>
        </p:nvSpPr>
        <p:spPr>
          <a:xfrm>
            <a:off x="4297680" y="3072384"/>
            <a:ext cx="7345375" cy="475488"/>
          </a:xfrm>
          <a:prstGeom prst="rect">
            <a:avLst/>
          </a:prstGeom>
          <a:noFill/>
          <a:ln/>
        </p:spPr>
        <p:txBody>
          <a:bodyPr wrap="square" lIns="0" tIns="0" rIns="0" bIns="0" rtlCol="0" anchor="ctr"/>
          <a:lstStyle/>
          <a:p>
            <a:pPr marL="0" indent="0">
              <a:buNone/>
            </a:pPr>
            <a:r>
              <a:rPr lang="en-US" sz="1200" dirty="0">
                <a:solidFill>
                  <a:srgbClr val="3A3A3A"/>
                </a:solidFill>
                <a:latin typeface="Calibri" pitchFamily="34" charset="0"/>
                <a:ea typeface="Calibri" pitchFamily="34" charset="-122"/>
                <a:cs typeface="Calibri" pitchFamily="34" charset="-120"/>
              </a:rPr>
              <a:t>Advisory pillars: Strategy &amp; Growth, Operations, People, Performance</a:t>
            </a:r>
            <a:endParaRPr lang="en-US" sz="1200" dirty="0"/>
          </a:p>
        </p:txBody>
      </p:sp>
      <p:sp>
        <p:nvSpPr>
          <p:cNvPr id="21" name="Shape 19"/>
          <p:cNvSpPr/>
          <p:nvPr/>
        </p:nvSpPr>
        <p:spPr>
          <a:xfrm>
            <a:off x="548640" y="3639312"/>
            <a:ext cx="566928" cy="475488"/>
          </a:xfrm>
          <a:prstGeom prst="rect">
            <a:avLst/>
          </a:prstGeom>
          <a:solidFill>
            <a:srgbClr val="1B2A4A"/>
          </a:solidFill>
          <a:ln/>
        </p:spPr>
      </p:sp>
      <p:sp>
        <p:nvSpPr>
          <p:cNvPr id="22" name="Text 20"/>
          <p:cNvSpPr txBox="1"/>
          <p:nvPr/>
        </p:nvSpPr>
        <p:spPr>
          <a:xfrm>
            <a:off x="548640" y="3639312"/>
            <a:ext cx="56692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05</a:t>
            </a:r>
            <a:endParaRPr lang="en-US" sz="1600" dirty="0"/>
          </a:p>
        </p:txBody>
      </p:sp>
      <p:sp>
        <p:nvSpPr>
          <p:cNvPr id="23" name="Text 21"/>
          <p:cNvSpPr txBox="1"/>
          <p:nvPr/>
        </p:nvSpPr>
        <p:spPr>
          <a:xfrm>
            <a:off x="1280160" y="3639312"/>
            <a:ext cx="2926080" cy="475488"/>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Team</a:t>
            </a:r>
            <a:endParaRPr lang="en-US" sz="1500" dirty="0"/>
          </a:p>
        </p:txBody>
      </p:sp>
      <p:sp>
        <p:nvSpPr>
          <p:cNvPr id="24" name="Text 22"/>
          <p:cNvSpPr txBox="1"/>
          <p:nvPr/>
        </p:nvSpPr>
        <p:spPr>
          <a:xfrm>
            <a:off x="4297680" y="3639312"/>
            <a:ext cx="7345375" cy="475488"/>
          </a:xfrm>
          <a:prstGeom prst="rect">
            <a:avLst/>
          </a:prstGeom>
          <a:noFill/>
          <a:ln/>
        </p:spPr>
        <p:txBody>
          <a:bodyPr wrap="square" lIns="0" tIns="0" rIns="0" bIns="0" rtlCol="0" anchor="ctr"/>
          <a:lstStyle/>
          <a:p>
            <a:pPr marL="0" indent="0">
              <a:buNone/>
            </a:pPr>
            <a:r>
              <a:rPr lang="en-US" sz="1200" dirty="0">
                <a:solidFill>
                  <a:srgbClr val="3A3A3A"/>
                </a:solidFill>
                <a:latin typeface="Calibri" pitchFamily="34" charset="0"/>
                <a:ea typeface="Calibri" pitchFamily="34" charset="-122"/>
                <a:cs typeface="Calibri" pitchFamily="34" charset="-120"/>
              </a:rPr>
              <a:t>Delivery model, consultant profile, associates &amp; specialists</a:t>
            </a:r>
            <a:endParaRPr lang="en-US" sz="1200" dirty="0"/>
          </a:p>
        </p:txBody>
      </p:sp>
      <p:sp>
        <p:nvSpPr>
          <p:cNvPr id="25" name="Shape 23"/>
          <p:cNvSpPr/>
          <p:nvPr/>
        </p:nvSpPr>
        <p:spPr>
          <a:xfrm>
            <a:off x="548640" y="4206240"/>
            <a:ext cx="566928" cy="475488"/>
          </a:xfrm>
          <a:prstGeom prst="rect">
            <a:avLst/>
          </a:prstGeom>
          <a:solidFill>
            <a:srgbClr val="1B2A4A"/>
          </a:solidFill>
          <a:ln/>
        </p:spPr>
      </p:sp>
      <p:sp>
        <p:nvSpPr>
          <p:cNvPr id="26" name="Text 24"/>
          <p:cNvSpPr txBox="1"/>
          <p:nvPr/>
        </p:nvSpPr>
        <p:spPr>
          <a:xfrm>
            <a:off x="548640" y="4206240"/>
            <a:ext cx="56692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06</a:t>
            </a:r>
            <a:endParaRPr lang="en-US" sz="1600" dirty="0"/>
          </a:p>
        </p:txBody>
      </p:sp>
      <p:sp>
        <p:nvSpPr>
          <p:cNvPr id="27" name="Text 25"/>
          <p:cNvSpPr txBox="1"/>
          <p:nvPr/>
        </p:nvSpPr>
        <p:spPr>
          <a:xfrm>
            <a:off x="1280160" y="4206240"/>
            <a:ext cx="2926080" cy="475488"/>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Insights</a:t>
            </a:r>
            <a:endParaRPr lang="en-US" sz="1500" dirty="0"/>
          </a:p>
        </p:txBody>
      </p:sp>
      <p:sp>
        <p:nvSpPr>
          <p:cNvPr id="28" name="Text 26"/>
          <p:cNvSpPr txBox="1"/>
          <p:nvPr/>
        </p:nvSpPr>
        <p:spPr>
          <a:xfrm>
            <a:off x="4297680" y="4206240"/>
            <a:ext cx="7345375" cy="475488"/>
          </a:xfrm>
          <a:prstGeom prst="rect">
            <a:avLst/>
          </a:prstGeom>
          <a:noFill/>
          <a:ln/>
        </p:spPr>
        <p:txBody>
          <a:bodyPr wrap="square" lIns="0" tIns="0" rIns="0" bIns="0" rtlCol="0" anchor="ctr"/>
          <a:lstStyle/>
          <a:p>
            <a:pPr marL="0" indent="0">
              <a:buNone/>
            </a:pPr>
            <a:r>
              <a:rPr lang="en-US" sz="1200" dirty="0">
                <a:solidFill>
                  <a:srgbClr val="3A3A3A"/>
                </a:solidFill>
                <a:latin typeface="Calibri" pitchFamily="34" charset="0"/>
                <a:ea typeface="Calibri" pitchFamily="34" charset="-122"/>
                <a:cs typeface="Calibri" pitchFamily="34" charset="-120"/>
              </a:rPr>
              <a:t>Content positioning and newsletter sign-up</a:t>
            </a:r>
            <a:endParaRPr lang="en-US" sz="1200" dirty="0"/>
          </a:p>
        </p:txBody>
      </p:sp>
      <p:sp>
        <p:nvSpPr>
          <p:cNvPr id="29" name="Shape 27"/>
          <p:cNvSpPr/>
          <p:nvPr/>
        </p:nvSpPr>
        <p:spPr>
          <a:xfrm>
            <a:off x="548640" y="4773168"/>
            <a:ext cx="566928" cy="475488"/>
          </a:xfrm>
          <a:prstGeom prst="rect">
            <a:avLst/>
          </a:prstGeom>
          <a:solidFill>
            <a:srgbClr val="1B2A4A"/>
          </a:solidFill>
          <a:ln/>
        </p:spPr>
      </p:sp>
      <p:sp>
        <p:nvSpPr>
          <p:cNvPr id="30" name="Text 28"/>
          <p:cNvSpPr txBox="1"/>
          <p:nvPr/>
        </p:nvSpPr>
        <p:spPr>
          <a:xfrm>
            <a:off x="548640" y="4773168"/>
            <a:ext cx="56692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07</a:t>
            </a:r>
            <a:endParaRPr lang="en-US" sz="1600" dirty="0"/>
          </a:p>
        </p:txBody>
      </p:sp>
      <p:sp>
        <p:nvSpPr>
          <p:cNvPr id="31" name="Text 29"/>
          <p:cNvSpPr txBox="1"/>
          <p:nvPr/>
        </p:nvSpPr>
        <p:spPr>
          <a:xfrm>
            <a:off x="1280160" y="4773168"/>
            <a:ext cx="2926080" cy="475488"/>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Case Studies</a:t>
            </a:r>
            <a:endParaRPr lang="en-US" sz="1500" dirty="0"/>
          </a:p>
        </p:txBody>
      </p:sp>
      <p:sp>
        <p:nvSpPr>
          <p:cNvPr id="32" name="Text 30"/>
          <p:cNvSpPr txBox="1"/>
          <p:nvPr/>
        </p:nvSpPr>
        <p:spPr>
          <a:xfrm>
            <a:off x="4297680" y="4773168"/>
            <a:ext cx="7345375" cy="475488"/>
          </a:xfrm>
          <a:prstGeom prst="rect">
            <a:avLst/>
          </a:prstGeom>
          <a:noFill/>
          <a:ln/>
        </p:spPr>
        <p:txBody>
          <a:bodyPr wrap="square" lIns="0" tIns="0" rIns="0" bIns="0" rtlCol="0" anchor="ctr"/>
          <a:lstStyle/>
          <a:p>
            <a:pPr marL="0" indent="0">
              <a:buNone/>
            </a:pPr>
            <a:r>
              <a:rPr lang="en-US" sz="1200" dirty="0">
                <a:solidFill>
                  <a:srgbClr val="3A3A3A"/>
                </a:solidFill>
                <a:latin typeface="Calibri" pitchFamily="34" charset="0"/>
                <a:ea typeface="Calibri" pitchFamily="34" charset="-122"/>
                <a:cs typeface="Calibri" pitchFamily="34" charset="-120"/>
              </a:rPr>
              <a:t>Case study template and structure</a:t>
            </a:r>
            <a:endParaRPr lang="en-US" sz="1200" dirty="0"/>
          </a:p>
        </p:txBody>
      </p:sp>
      <p:sp>
        <p:nvSpPr>
          <p:cNvPr id="33" name="Text 31"/>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REVIEW</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B8965A"/>
          </a:solidFill>
          <a:ln/>
        </p:spPr>
      </p:sp>
      <p:sp>
        <p:nvSpPr>
          <p:cNvPr id="3" name="Text 1"/>
          <p:cNvSpPr txBox="1"/>
          <p:nvPr/>
        </p:nvSpPr>
        <p:spPr>
          <a:xfrm>
            <a:off x="548640" y="2377440"/>
            <a:ext cx="7315200" cy="365760"/>
          </a:xfrm>
          <a:prstGeom prst="rect">
            <a:avLst/>
          </a:prstGeom>
          <a:noFill/>
          <a:ln/>
        </p:spPr>
        <p:txBody>
          <a:bodyPr wrap="square" lIns="0" tIns="0" rIns="0" bIns="0" rtlCol="0" anchor="ctr"/>
          <a:lstStyle/>
          <a:p>
            <a:pPr marL="0" indent="0">
              <a:buNone/>
            </a:pPr>
            <a:r>
              <a:rPr lang="en-US" sz="1400" b="1" kern="0" spc="200" dirty="0">
                <a:solidFill>
                  <a:srgbClr val="7D6230"/>
                </a:solidFill>
                <a:latin typeface="Calibri" pitchFamily="34" charset="0"/>
                <a:ea typeface="Calibri" pitchFamily="34" charset="-122"/>
                <a:cs typeface="Calibri" pitchFamily="34" charset="-120"/>
              </a:rPr>
              <a:t>SECTION 01</a:t>
            </a:r>
            <a:endParaRPr lang="en-US" sz="1400" dirty="0"/>
          </a:p>
        </p:txBody>
      </p:sp>
      <p:sp>
        <p:nvSpPr>
          <p:cNvPr id="4" name="Text 2"/>
          <p:cNvSpPr txBox="1"/>
          <p:nvPr/>
        </p:nvSpPr>
        <p:spPr>
          <a:xfrm>
            <a:off x="548640" y="2743200"/>
            <a:ext cx="9601200" cy="1097280"/>
          </a:xfrm>
          <a:prstGeom prst="rect">
            <a:avLst/>
          </a:prstGeom>
          <a:noFill/>
          <a:ln/>
        </p:spPr>
        <p:txBody>
          <a:bodyPr wrap="square" lIns="0" tIns="0" rIns="0" bIns="0"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Hero Page</a:t>
            </a:r>
            <a:endParaRPr lang="en-US" sz="4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1. Imagery — local &amp; audience relevance</a:t>
            </a:r>
            <a:endParaRPr lang="en-US" sz="2500" dirty="0"/>
          </a:p>
        </p:txBody>
      </p:sp>
      <p:sp>
        <p:nvSpPr>
          <p:cNvPr id="6" name="Text 4"/>
          <p:cNvSpPr txBox="1"/>
          <p:nvPr/>
        </p:nvSpPr>
        <p:spPr>
          <a:xfrm>
            <a:off x="548640" y="1481328"/>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FEEDBACK</a:t>
            </a:r>
            <a:endParaRPr lang="en-US" sz="1100" dirty="0"/>
          </a:p>
        </p:txBody>
      </p:sp>
      <p:sp>
        <p:nvSpPr>
          <p:cNvPr id="7" name="Shape 5"/>
          <p:cNvSpPr/>
          <p:nvPr/>
        </p:nvSpPr>
        <p:spPr>
          <a:xfrm>
            <a:off x="548640" y="1755648"/>
            <a:ext cx="11094415" cy="25603"/>
          </a:xfrm>
          <a:prstGeom prst="rect">
            <a:avLst/>
          </a:prstGeom>
          <a:solidFill>
            <a:srgbClr val="B8965A"/>
          </a:solidFill>
          <a:ln/>
        </p:spPr>
      </p:sp>
      <p:sp>
        <p:nvSpPr>
          <p:cNvPr id="8" name="Shape 6"/>
          <p:cNvSpPr/>
          <p:nvPr/>
        </p:nvSpPr>
        <p:spPr>
          <a:xfrm>
            <a:off x="548640" y="1781251"/>
            <a:ext cx="11094415" cy="2639568"/>
          </a:xfrm>
          <a:prstGeom prst="rect">
            <a:avLst/>
          </a:prstGeom>
          <a:solidFill>
            <a:srgbClr val="EDEBE5"/>
          </a:solidFill>
          <a:ln/>
        </p:spPr>
      </p:sp>
      <p:sp>
        <p:nvSpPr>
          <p:cNvPr id="9" name="Text 7"/>
          <p:cNvSpPr txBox="1"/>
          <p:nvPr/>
        </p:nvSpPr>
        <p:spPr>
          <a:xfrm>
            <a:off x="749808" y="1781251"/>
            <a:ext cx="10692079" cy="2639568"/>
          </a:xfrm>
          <a:prstGeom prst="rect">
            <a:avLst/>
          </a:prstGeom>
          <a:noFill/>
          <a:ln/>
        </p:spPr>
        <p:txBody>
          <a:bodyPr wrap="square" lIns="635" tIns="635" rIns="635" bIns="635" rtlCol="0" anchor="ctr"/>
          <a:lstStyle/>
          <a:p>
            <a:pPr marL="0" indent="0">
              <a:buNone/>
            </a:pPr>
            <a:r>
              <a:rPr lang="en-US" sz="1400" i="1" dirty="0">
                <a:solidFill>
                  <a:srgbClr val="3A3A3A"/>
                </a:solidFill>
                <a:latin typeface="Calibri" pitchFamily="34" charset="0"/>
                <a:ea typeface="Calibri" pitchFamily="34" charset="-122"/>
                <a:cs typeface="Calibri" pitchFamily="34" charset="-120"/>
              </a:rPr>
              <a:t>The images are strong and the direction works well, especially the hero image portraying a happy, satisfied client — it communicates the outcome we want Seiran to represent. The only consideration is local and audience relevance. Since Seiran is primarily positioned for owner-managed businesses in Kenya (and in future Africa), could we explore imagery that feels more representative of the Kenyan/African business environment and the clients we expect to serve — while maintaining the same premium, sophisticated and institutional feel? The priority is for a prospective Kenyan client to instinctively feel, "This is for businesses like mine," while still seeing the professionalism and aspiration Seiran should convey. If the existing images remain the strongest options visually, we can also consider how the overall image mix across the site creates the right balance.</a:t>
            </a:r>
            <a:endParaRPr lang="en-US" sz="1400" dirty="0"/>
          </a:p>
        </p:txBody>
      </p:sp>
      <p:sp>
        <p:nvSpPr>
          <p:cNvPr id="10" name="Text 8"/>
          <p:cNvSpPr txBox="1"/>
          <p:nvPr/>
        </p:nvSpPr>
        <p:spPr>
          <a:xfrm>
            <a:off x="548640" y="4585411"/>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ASK</a:t>
            </a:r>
            <a:endParaRPr lang="en-US" sz="1100" dirty="0"/>
          </a:p>
        </p:txBody>
      </p:sp>
      <p:sp>
        <p:nvSpPr>
          <p:cNvPr id="11" name="Shape 9"/>
          <p:cNvSpPr/>
          <p:nvPr/>
        </p:nvSpPr>
        <p:spPr>
          <a:xfrm>
            <a:off x="548640" y="4859731"/>
            <a:ext cx="11094415" cy="728472"/>
          </a:xfrm>
          <a:prstGeom prst="rect">
            <a:avLst/>
          </a:prstGeom>
          <a:solidFill>
            <a:srgbClr val="F2F0EA"/>
          </a:solidFill>
          <a:ln/>
        </p:spPr>
      </p:sp>
      <p:sp>
        <p:nvSpPr>
          <p:cNvPr id="12" name="Text 10"/>
          <p:cNvSpPr txBox="1"/>
          <p:nvPr/>
        </p:nvSpPr>
        <p:spPr>
          <a:xfrm>
            <a:off x="749808" y="4859731"/>
            <a:ext cx="10692079" cy="728472"/>
          </a:xfrm>
          <a:prstGeom prst="rect">
            <a:avLst/>
          </a:prstGeom>
          <a:noFill/>
          <a:ln/>
        </p:spPr>
        <p:txBody>
          <a:bodyPr wrap="square" lIns="635" tIns="635" rIns="635" bIns="635" rtlCol="0" anchor="ctr"/>
          <a:lstStyle/>
          <a:p>
            <a:pPr marL="0" indent="0">
              <a:buNone/>
            </a:pPr>
            <a:r>
              <a:rPr lang="en-US" sz="1300" dirty="0">
                <a:solidFill>
                  <a:srgbClr val="3A3A3A"/>
                </a:solidFill>
                <a:latin typeface="Calibri" pitchFamily="34" charset="0"/>
                <a:ea typeface="Calibri" pitchFamily="34" charset="-122"/>
                <a:cs typeface="Calibri" pitchFamily="34" charset="-120"/>
              </a:rPr>
              <a:t>Please review the hero image and the team/collaboration image with this lens, and confirm whether equally strong, more locally representative alternatives exist.</a:t>
            </a:r>
            <a:endParaRPr lang="en-US" sz="1300" dirty="0"/>
          </a:p>
        </p:txBody>
      </p:sp>
      <p:sp>
        <p:nvSpPr>
          <p:cNvPr id="13" name="Text 11"/>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REVIEW</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2. Hero statement — broaden the proposition</a:t>
            </a:r>
            <a:endParaRPr lang="en-US" sz="2500" dirty="0"/>
          </a:p>
        </p:txBody>
      </p:sp>
      <p:sp>
        <p:nvSpPr>
          <p:cNvPr id="6" name="Text 4"/>
          <p:cNvSpPr txBox="1"/>
          <p:nvPr/>
        </p:nvSpPr>
        <p:spPr>
          <a:xfrm>
            <a:off x="548640" y="1481328"/>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ORIGINAL</a:t>
            </a:r>
            <a:endParaRPr lang="en-US" sz="1100" dirty="0"/>
          </a:p>
        </p:txBody>
      </p:sp>
      <p:sp>
        <p:nvSpPr>
          <p:cNvPr id="7" name="Shape 5"/>
          <p:cNvSpPr/>
          <p:nvPr/>
        </p:nvSpPr>
        <p:spPr>
          <a:xfrm>
            <a:off x="548640" y="1755648"/>
            <a:ext cx="11094415" cy="25603"/>
          </a:xfrm>
          <a:prstGeom prst="rect">
            <a:avLst/>
          </a:prstGeom>
          <a:solidFill>
            <a:srgbClr val="B8965A"/>
          </a:solidFill>
          <a:ln/>
        </p:spPr>
      </p:sp>
      <p:sp>
        <p:nvSpPr>
          <p:cNvPr id="8" name="Shape 6"/>
          <p:cNvSpPr/>
          <p:nvPr/>
        </p:nvSpPr>
        <p:spPr>
          <a:xfrm>
            <a:off x="548640" y="1781251"/>
            <a:ext cx="11094415" cy="762000"/>
          </a:xfrm>
          <a:prstGeom prst="rect">
            <a:avLst/>
          </a:prstGeom>
          <a:solidFill>
            <a:srgbClr val="EDEBE5"/>
          </a:solidFill>
          <a:ln/>
        </p:spPr>
      </p:sp>
      <p:sp>
        <p:nvSpPr>
          <p:cNvPr id="9" name="Text 7"/>
          <p:cNvSpPr txBox="1"/>
          <p:nvPr/>
        </p:nvSpPr>
        <p:spPr>
          <a:xfrm>
            <a:off x="749808" y="1781251"/>
            <a:ext cx="10692079" cy="762000"/>
          </a:xfrm>
          <a:prstGeom prst="rect">
            <a:avLst/>
          </a:prstGeom>
          <a:noFill/>
          <a:ln/>
        </p:spPr>
        <p:txBody>
          <a:bodyPr wrap="square" lIns="635" tIns="635" rIns="635" bIns="635" rtlCol="0" anchor="ctr"/>
          <a:lstStyle/>
          <a:p>
            <a:pPr marL="0" indent="0">
              <a:buNone/>
            </a:pPr>
            <a:r>
              <a:rPr lang="en-US" sz="1400" i="1" dirty="0">
                <a:solidFill>
                  <a:srgbClr val="3A3A3A"/>
                </a:solidFill>
                <a:latin typeface="Calibri" pitchFamily="34" charset="0"/>
                <a:ea typeface="Calibri" pitchFamily="34" charset="-122"/>
                <a:cs typeface="Calibri" pitchFamily="34" charset="-120"/>
              </a:rPr>
              <a:t>Seiran partners with owner-managed businesses to build clarity, strengthen leadership, and design the systems that let a founder stop carrying everything.</a:t>
            </a:r>
            <a:endParaRPr lang="en-US" sz="1400" dirty="0"/>
          </a:p>
        </p:txBody>
      </p:sp>
      <p:sp>
        <p:nvSpPr>
          <p:cNvPr id="10" name="Text 8"/>
          <p:cNvSpPr txBox="1"/>
          <p:nvPr/>
        </p:nvSpPr>
        <p:spPr>
          <a:xfrm>
            <a:off x="548640" y="2707843"/>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REVISED </a:t>
            </a:r>
            <a:endParaRPr lang="en-US" sz="1100" dirty="0"/>
          </a:p>
        </p:txBody>
      </p:sp>
      <p:sp>
        <p:nvSpPr>
          <p:cNvPr id="11" name="Shape 9"/>
          <p:cNvSpPr/>
          <p:nvPr/>
        </p:nvSpPr>
        <p:spPr>
          <a:xfrm>
            <a:off x="548640" y="2982163"/>
            <a:ext cx="11094415" cy="25603"/>
          </a:xfrm>
          <a:prstGeom prst="rect">
            <a:avLst/>
          </a:prstGeom>
          <a:solidFill>
            <a:srgbClr val="B8965A"/>
          </a:solidFill>
          <a:ln/>
        </p:spPr>
      </p:sp>
      <p:sp>
        <p:nvSpPr>
          <p:cNvPr id="12" name="Shape 10"/>
          <p:cNvSpPr/>
          <p:nvPr/>
        </p:nvSpPr>
        <p:spPr>
          <a:xfrm>
            <a:off x="548640" y="3007766"/>
            <a:ext cx="11094415" cy="996696"/>
          </a:xfrm>
          <a:prstGeom prst="rect">
            <a:avLst/>
          </a:prstGeom>
          <a:solidFill>
            <a:srgbClr val="F2F0EA"/>
          </a:solidFill>
          <a:ln/>
        </p:spPr>
      </p:sp>
      <p:sp>
        <p:nvSpPr>
          <p:cNvPr id="13" name="Text 11"/>
          <p:cNvSpPr txBox="1"/>
          <p:nvPr/>
        </p:nvSpPr>
        <p:spPr>
          <a:xfrm>
            <a:off x="749808" y="3007766"/>
            <a:ext cx="10692079" cy="996696"/>
          </a:xfrm>
          <a:prstGeom prst="rect">
            <a:avLst/>
          </a:prstGeom>
          <a:noFill/>
          <a:ln/>
        </p:spPr>
        <p:txBody>
          <a:bodyPr wrap="square" lIns="635" tIns="635" rIns="635" bIns="635" rtlCol="0" anchor="ctr"/>
          <a:lstStyle/>
          <a:p>
            <a:pPr marL="0" indent="0">
              <a:buNone/>
            </a:pPr>
            <a:r>
              <a:rPr lang="en-US" sz="1400" b="1" i="1" dirty="0">
                <a:solidFill>
                  <a:srgbClr val="3A3A3A"/>
                </a:solidFill>
                <a:latin typeface="Calibri" pitchFamily="34" charset="0"/>
                <a:ea typeface="Calibri" pitchFamily="34" charset="-122"/>
                <a:cs typeface="Calibri" pitchFamily="34" charset="-120"/>
              </a:rPr>
              <a:t>Seiran Partners works with owner-managed businesses to bring clarity to strategic decisions, strengthen leadership and build the systems, structures and capabilities required for sustainable growth.</a:t>
            </a:r>
            <a:endParaRPr lang="en-US" sz="1400" b="1" dirty="0"/>
          </a:p>
        </p:txBody>
      </p:sp>
      <p:sp>
        <p:nvSpPr>
          <p:cNvPr id="14" name="Text 12"/>
          <p:cNvSpPr txBox="1"/>
          <p:nvPr/>
        </p:nvSpPr>
        <p:spPr>
          <a:xfrm>
            <a:off x="548640" y="4169054"/>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REASON</a:t>
            </a:r>
            <a:endParaRPr lang="en-US" sz="1100" dirty="0"/>
          </a:p>
        </p:txBody>
      </p:sp>
      <p:sp>
        <p:nvSpPr>
          <p:cNvPr id="15" name="Shape 13"/>
          <p:cNvSpPr/>
          <p:nvPr/>
        </p:nvSpPr>
        <p:spPr>
          <a:xfrm>
            <a:off x="548640" y="4443374"/>
            <a:ext cx="11094415" cy="728472"/>
          </a:xfrm>
          <a:prstGeom prst="rect">
            <a:avLst/>
          </a:prstGeom>
          <a:solidFill>
            <a:srgbClr val="FFFFFF"/>
          </a:solidFill>
          <a:ln/>
        </p:spPr>
      </p:sp>
      <p:sp>
        <p:nvSpPr>
          <p:cNvPr id="16" name="Text 14"/>
          <p:cNvSpPr txBox="1"/>
          <p:nvPr/>
        </p:nvSpPr>
        <p:spPr>
          <a:xfrm>
            <a:off x="749808" y="4443374"/>
            <a:ext cx="10692079" cy="728472"/>
          </a:xfrm>
          <a:prstGeom prst="rect">
            <a:avLst/>
          </a:prstGeom>
          <a:noFill/>
          <a:ln/>
        </p:spPr>
        <p:txBody>
          <a:bodyPr wrap="square" lIns="635" tIns="635" rIns="635" bIns="635" rtlCol="0" anchor="ctr"/>
          <a:lstStyle/>
          <a:p>
            <a:pPr marL="0" indent="0">
              <a:buNone/>
            </a:pPr>
            <a:r>
              <a:rPr lang="en-US" sz="1300" dirty="0">
                <a:solidFill>
                  <a:srgbClr val="3A3A3A"/>
                </a:solidFill>
                <a:latin typeface="Calibri" pitchFamily="34" charset="0"/>
                <a:ea typeface="Calibri" pitchFamily="34" charset="-122"/>
                <a:cs typeface="Calibri" pitchFamily="34" charset="-120"/>
              </a:rPr>
              <a:t>Gives a much broader and more institutional proposition. The "founder carrying everything" idea can then appear as one of the problems Seiran solves, rather than the defining problem.</a:t>
            </a:r>
            <a:endParaRPr lang="en-US" sz="1300" dirty="0"/>
          </a:p>
        </p:txBody>
      </p:sp>
      <p:sp>
        <p:nvSpPr>
          <p:cNvPr id="17" name="Text 15"/>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REVIEW</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3. The “10 people → 80 people” example</a:t>
            </a:r>
            <a:endParaRPr lang="en-US" sz="2500" dirty="0"/>
          </a:p>
        </p:txBody>
      </p:sp>
      <p:sp>
        <p:nvSpPr>
          <p:cNvPr id="6" name="Text 4"/>
          <p:cNvSpPr txBox="1"/>
          <p:nvPr/>
        </p:nvSpPr>
        <p:spPr>
          <a:xfrm>
            <a:off x="548640" y="1481328"/>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ORIGINAL</a:t>
            </a:r>
            <a:endParaRPr lang="en-US" sz="1100" dirty="0"/>
          </a:p>
        </p:txBody>
      </p:sp>
      <p:sp>
        <p:nvSpPr>
          <p:cNvPr id="7" name="Shape 5"/>
          <p:cNvSpPr/>
          <p:nvPr/>
        </p:nvSpPr>
        <p:spPr>
          <a:xfrm>
            <a:off x="548640" y="1755648"/>
            <a:ext cx="11094415" cy="25603"/>
          </a:xfrm>
          <a:prstGeom prst="rect">
            <a:avLst/>
          </a:prstGeom>
          <a:solidFill>
            <a:srgbClr val="B8965A"/>
          </a:solidFill>
          <a:ln/>
        </p:spPr>
      </p:sp>
      <p:sp>
        <p:nvSpPr>
          <p:cNvPr id="8" name="Shape 6"/>
          <p:cNvSpPr/>
          <p:nvPr/>
        </p:nvSpPr>
        <p:spPr>
          <a:xfrm>
            <a:off x="548640" y="1781251"/>
            <a:ext cx="11094415" cy="996696"/>
          </a:xfrm>
          <a:prstGeom prst="rect">
            <a:avLst/>
          </a:prstGeom>
          <a:solidFill>
            <a:srgbClr val="EDEBE5"/>
          </a:solidFill>
          <a:ln/>
        </p:spPr>
      </p:sp>
      <p:sp>
        <p:nvSpPr>
          <p:cNvPr id="9" name="Text 7"/>
          <p:cNvSpPr txBox="1"/>
          <p:nvPr/>
        </p:nvSpPr>
        <p:spPr>
          <a:xfrm>
            <a:off x="749808" y="1781251"/>
            <a:ext cx="10692079" cy="996696"/>
          </a:xfrm>
          <a:prstGeom prst="rect">
            <a:avLst/>
          </a:prstGeom>
          <a:noFill/>
          <a:ln/>
        </p:spPr>
        <p:txBody>
          <a:bodyPr wrap="square" lIns="635" tIns="635" rIns="635" bIns="635" rtlCol="0" anchor="ctr"/>
          <a:lstStyle/>
          <a:p>
            <a:pPr marL="0" indent="0">
              <a:buNone/>
            </a:pPr>
            <a:r>
              <a:rPr lang="en-US" sz="1400" i="1" dirty="0">
                <a:solidFill>
                  <a:srgbClr val="3A3A3A"/>
                </a:solidFill>
                <a:latin typeface="Calibri" pitchFamily="34" charset="0"/>
                <a:ea typeface="Calibri" pitchFamily="34" charset="-122"/>
                <a:cs typeface="Calibri" pitchFamily="34" charset="-120"/>
              </a:rPr>
              <a:t>What worked at ten people quietly stops working at eighty, and the founder cannot keep carrying all of it. Seiran works on the structural constraint rather than the symptom — because the presenting problem is rarely the one holding growth back.</a:t>
            </a:r>
            <a:endParaRPr lang="en-US" sz="1400" dirty="0"/>
          </a:p>
        </p:txBody>
      </p:sp>
      <p:sp>
        <p:nvSpPr>
          <p:cNvPr id="10" name="Text 8"/>
          <p:cNvSpPr txBox="1"/>
          <p:nvPr/>
        </p:nvSpPr>
        <p:spPr>
          <a:xfrm>
            <a:off x="548640" y="2942539"/>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REVISED </a:t>
            </a:r>
            <a:endParaRPr lang="en-US" sz="1100" dirty="0"/>
          </a:p>
        </p:txBody>
      </p:sp>
      <p:sp>
        <p:nvSpPr>
          <p:cNvPr id="11" name="Shape 9"/>
          <p:cNvSpPr/>
          <p:nvPr/>
        </p:nvSpPr>
        <p:spPr>
          <a:xfrm>
            <a:off x="548640" y="3216859"/>
            <a:ext cx="11094415" cy="25603"/>
          </a:xfrm>
          <a:prstGeom prst="rect">
            <a:avLst/>
          </a:prstGeom>
          <a:solidFill>
            <a:srgbClr val="B8965A"/>
          </a:solidFill>
          <a:ln/>
        </p:spPr>
      </p:sp>
      <p:sp>
        <p:nvSpPr>
          <p:cNvPr id="12" name="Shape 10"/>
          <p:cNvSpPr/>
          <p:nvPr/>
        </p:nvSpPr>
        <p:spPr>
          <a:xfrm>
            <a:off x="548640" y="3242462"/>
            <a:ext cx="11094415" cy="996696"/>
          </a:xfrm>
          <a:prstGeom prst="rect">
            <a:avLst/>
          </a:prstGeom>
          <a:solidFill>
            <a:srgbClr val="F2F0EA"/>
          </a:solidFill>
          <a:ln/>
        </p:spPr>
      </p:sp>
      <p:sp>
        <p:nvSpPr>
          <p:cNvPr id="13" name="Text 11"/>
          <p:cNvSpPr txBox="1"/>
          <p:nvPr/>
        </p:nvSpPr>
        <p:spPr>
          <a:xfrm>
            <a:off x="749808" y="3242462"/>
            <a:ext cx="10692079" cy="996696"/>
          </a:xfrm>
          <a:prstGeom prst="rect">
            <a:avLst/>
          </a:prstGeom>
          <a:noFill/>
          <a:ln/>
        </p:spPr>
        <p:txBody>
          <a:bodyPr wrap="square" lIns="635" tIns="635" rIns="635" bIns="635" rtlCol="0" anchor="ctr"/>
          <a:lstStyle/>
          <a:p>
            <a:pPr marL="0" indent="0">
              <a:buNone/>
            </a:pPr>
            <a:r>
              <a:rPr lang="en-US" sz="1400" i="1" dirty="0">
                <a:solidFill>
                  <a:srgbClr val="3A3A3A"/>
                </a:solidFill>
                <a:latin typeface="Calibri" pitchFamily="34" charset="0"/>
                <a:ea typeface="Calibri" pitchFamily="34" charset="-122"/>
                <a:cs typeface="Calibri" pitchFamily="34" charset="-120"/>
              </a:rPr>
              <a:t>What worked when the business was smaller can quietly stop working as the business grows. We look beyond the immediate problem to understand what is really holding the business back — and help you fix it.</a:t>
            </a:r>
            <a:endParaRPr lang="en-US" sz="1400" dirty="0"/>
          </a:p>
        </p:txBody>
      </p:sp>
      <p:sp>
        <p:nvSpPr>
          <p:cNvPr id="14" name="Text 12"/>
          <p:cNvSpPr txBox="1"/>
          <p:nvPr/>
        </p:nvSpPr>
        <p:spPr>
          <a:xfrm>
            <a:off x="548640" y="4403750"/>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REASON</a:t>
            </a:r>
            <a:endParaRPr lang="en-US" sz="1100" dirty="0"/>
          </a:p>
        </p:txBody>
      </p:sp>
      <p:sp>
        <p:nvSpPr>
          <p:cNvPr id="15" name="Shape 13"/>
          <p:cNvSpPr/>
          <p:nvPr/>
        </p:nvSpPr>
        <p:spPr>
          <a:xfrm>
            <a:off x="548640" y="4678070"/>
            <a:ext cx="11094415" cy="946404"/>
          </a:xfrm>
          <a:prstGeom prst="rect">
            <a:avLst/>
          </a:prstGeom>
          <a:solidFill>
            <a:srgbClr val="FFFFFF"/>
          </a:solidFill>
          <a:ln/>
        </p:spPr>
      </p:sp>
      <p:sp>
        <p:nvSpPr>
          <p:cNvPr id="16" name="Text 14"/>
          <p:cNvSpPr txBox="1"/>
          <p:nvPr/>
        </p:nvSpPr>
        <p:spPr>
          <a:xfrm>
            <a:off x="749808" y="4678070"/>
            <a:ext cx="10692079" cy="946404"/>
          </a:xfrm>
          <a:prstGeom prst="rect">
            <a:avLst/>
          </a:prstGeom>
          <a:noFill/>
          <a:ln/>
        </p:spPr>
        <p:txBody>
          <a:bodyPr wrap="square" lIns="635" tIns="635" rIns="635" bIns="635" rtlCol="0" anchor="ctr"/>
          <a:lstStyle/>
          <a:p>
            <a:pPr marL="0" indent="0">
              <a:buNone/>
            </a:pPr>
            <a:r>
              <a:rPr lang="en-US" sz="1300" dirty="0">
                <a:solidFill>
                  <a:srgbClr val="3A3A3A"/>
                </a:solidFill>
                <a:latin typeface="Calibri" pitchFamily="34" charset="0"/>
                <a:ea typeface="Calibri" pitchFamily="34" charset="-122"/>
                <a:cs typeface="Calibri" pitchFamily="34" charset="-120"/>
              </a:rPr>
              <a:t>The specific numbers can be misleading — a Kenyan SME could have 12 employees and already be operationally complex, while another could have 100 and be highly structured. This phrasing is more universal, and the later sentence has been simplified for an SME owner.</a:t>
            </a:r>
            <a:endParaRPr lang="en-US" sz="1300" dirty="0"/>
          </a:p>
        </p:txBody>
      </p:sp>
      <p:sp>
        <p:nvSpPr>
          <p:cNvPr id="17" name="Text 15"/>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REVIEW</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4. “1 Consultant on your engagement”</a:t>
            </a:r>
            <a:endParaRPr lang="en-US" sz="2500" dirty="0"/>
          </a:p>
        </p:txBody>
      </p:sp>
      <p:sp>
        <p:nvSpPr>
          <p:cNvPr id="6" name="Text 4"/>
          <p:cNvSpPr txBox="1"/>
          <p:nvPr/>
        </p:nvSpPr>
        <p:spPr>
          <a:xfrm>
            <a:off x="548640" y="1481328"/>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ORIGINAL</a:t>
            </a:r>
            <a:endParaRPr lang="en-US" sz="1100" dirty="0"/>
          </a:p>
        </p:txBody>
      </p:sp>
      <p:sp>
        <p:nvSpPr>
          <p:cNvPr id="7" name="Shape 5"/>
          <p:cNvSpPr/>
          <p:nvPr/>
        </p:nvSpPr>
        <p:spPr>
          <a:xfrm>
            <a:off x="548640" y="1755648"/>
            <a:ext cx="11094415" cy="25603"/>
          </a:xfrm>
          <a:prstGeom prst="rect">
            <a:avLst/>
          </a:prstGeom>
          <a:solidFill>
            <a:srgbClr val="B8965A"/>
          </a:solidFill>
          <a:ln/>
        </p:spPr>
      </p:sp>
      <p:sp>
        <p:nvSpPr>
          <p:cNvPr id="8" name="Shape 6"/>
          <p:cNvSpPr/>
          <p:nvPr/>
        </p:nvSpPr>
        <p:spPr>
          <a:xfrm>
            <a:off x="548640" y="1781251"/>
            <a:ext cx="11094415" cy="762000"/>
          </a:xfrm>
          <a:prstGeom prst="rect">
            <a:avLst/>
          </a:prstGeom>
          <a:solidFill>
            <a:srgbClr val="EDEBE5"/>
          </a:solidFill>
          <a:ln/>
        </p:spPr>
      </p:sp>
      <p:sp>
        <p:nvSpPr>
          <p:cNvPr id="9" name="Text 7"/>
          <p:cNvSpPr txBox="1"/>
          <p:nvPr/>
        </p:nvSpPr>
        <p:spPr>
          <a:xfrm>
            <a:off x="749808" y="1781251"/>
            <a:ext cx="10692079" cy="762000"/>
          </a:xfrm>
          <a:prstGeom prst="rect">
            <a:avLst/>
          </a:prstGeom>
          <a:noFill/>
          <a:ln/>
        </p:spPr>
        <p:txBody>
          <a:bodyPr wrap="square" lIns="635" tIns="635" rIns="635" bIns="635" rtlCol="0" anchor="ctr"/>
          <a:lstStyle/>
          <a:p>
            <a:pPr marL="0" indent="0">
              <a:buNone/>
            </a:pPr>
            <a:r>
              <a:rPr lang="en-US" sz="1400" i="1" dirty="0">
                <a:solidFill>
                  <a:srgbClr val="3A3A3A"/>
                </a:solidFill>
                <a:latin typeface="Calibri" pitchFamily="34" charset="0"/>
                <a:ea typeface="Calibri" pitchFamily="34" charset="-122"/>
                <a:cs typeface="Calibri" pitchFamily="34" charset="-120"/>
              </a:rPr>
              <a:t>Part A — 1 Consultant on your engagement</a:t>
            </a:r>
            <a:endParaRPr lang="en-US" sz="1400" dirty="0"/>
          </a:p>
          <a:p>
            <a:pPr marL="0" indent="0">
              <a:buNone/>
            </a:pPr>
            <a:r>
              <a:rPr lang="en-US" sz="1400" i="1" dirty="0">
                <a:solidFill>
                  <a:srgbClr val="3A3A3A"/>
                </a:solidFill>
                <a:latin typeface="Calibri" pitchFamily="34" charset="0"/>
                <a:ea typeface="Calibri" pitchFamily="34" charset="-122"/>
                <a:cs typeface="Calibri" pitchFamily="34" charset="-120"/>
              </a:rPr>
              <a:t>Part B — The consultant you meet runs the engagement &amp; specialists brought in only where needed</a:t>
            </a:r>
            <a:endParaRPr lang="en-US" sz="1400" dirty="0"/>
          </a:p>
        </p:txBody>
      </p:sp>
      <p:sp>
        <p:nvSpPr>
          <p:cNvPr id="10" name="Text 8"/>
          <p:cNvSpPr txBox="1"/>
          <p:nvPr/>
        </p:nvSpPr>
        <p:spPr>
          <a:xfrm>
            <a:off x="548640" y="2707843"/>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REVISED </a:t>
            </a:r>
            <a:endParaRPr lang="en-US" sz="1100" dirty="0"/>
          </a:p>
        </p:txBody>
      </p:sp>
      <p:sp>
        <p:nvSpPr>
          <p:cNvPr id="11" name="Shape 9"/>
          <p:cNvSpPr/>
          <p:nvPr/>
        </p:nvSpPr>
        <p:spPr>
          <a:xfrm>
            <a:off x="548640" y="2982163"/>
            <a:ext cx="11094415" cy="25603"/>
          </a:xfrm>
          <a:prstGeom prst="rect">
            <a:avLst/>
          </a:prstGeom>
          <a:solidFill>
            <a:srgbClr val="B8965A"/>
          </a:solidFill>
          <a:ln/>
        </p:spPr>
      </p:sp>
      <p:sp>
        <p:nvSpPr>
          <p:cNvPr id="12" name="Shape 10"/>
          <p:cNvSpPr/>
          <p:nvPr/>
        </p:nvSpPr>
        <p:spPr>
          <a:xfrm>
            <a:off x="548640" y="3007766"/>
            <a:ext cx="11094415" cy="996696"/>
          </a:xfrm>
          <a:prstGeom prst="rect">
            <a:avLst/>
          </a:prstGeom>
          <a:solidFill>
            <a:srgbClr val="F2F0EA"/>
          </a:solidFill>
          <a:ln/>
        </p:spPr>
      </p:sp>
      <p:sp>
        <p:nvSpPr>
          <p:cNvPr id="13" name="Text 11"/>
          <p:cNvSpPr txBox="1"/>
          <p:nvPr/>
        </p:nvSpPr>
        <p:spPr>
          <a:xfrm>
            <a:off x="749808" y="3007766"/>
            <a:ext cx="10692079" cy="996696"/>
          </a:xfrm>
          <a:prstGeom prst="rect">
            <a:avLst/>
          </a:prstGeom>
          <a:noFill/>
          <a:ln/>
        </p:spPr>
        <p:txBody>
          <a:bodyPr wrap="square" lIns="635" tIns="635" rIns="635" bIns="635" rtlCol="0" anchor="ctr"/>
          <a:lstStyle/>
          <a:p>
            <a:pPr marL="0" indent="0">
              <a:buNone/>
            </a:pPr>
            <a:r>
              <a:rPr lang="en-US" sz="1400" b="1" i="1" dirty="0">
                <a:solidFill>
                  <a:srgbClr val="3A3A3A"/>
                </a:solidFill>
                <a:latin typeface="Calibri" pitchFamily="34" charset="0"/>
                <a:ea typeface="Calibri" pitchFamily="34" charset="-122"/>
                <a:cs typeface="Calibri" pitchFamily="34" charset="-120"/>
              </a:rPr>
              <a:t>Part A — A dedicated lead consultant</a:t>
            </a:r>
            <a:endParaRPr lang="en-US" sz="1400" b="1" dirty="0"/>
          </a:p>
          <a:p>
            <a:pPr marL="0" indent="0">
              <a:buNone/>
            </a:pPr>
            <a:r>
              <a:rPr lang="en-US" sz="1400" b="1" i="1" dirty="0">
                <a:solidFill>
                  <a:srgbClr val="3A3A3A"/>
                </a:solidFill>
                <a:latin typeface="Calibri" pitchFamily="34" charset="0"/>
                <a:ea typeface="Calibri" pitchFamily="34" charset="-122"/>
                <a:cs typeface="Calibri" pitchFamily="34" charset="-120"/>
              </a:rPr>
              <a:t>Part B — Combined into one statement: “Your engagement is led by a dedicated Seiran consultant, with specialist expertise brought in where the work requires it.”</a:t>
            </a:r>
            <a:endParaRPr lang="en-US" sz="1400" b="1" dirty="0"/>
          </a:p>
        </p:txBody>
      </p:sp>
      <p:sp>
        <p:nvSpPr>
          <p:cNvPr id="14" name="Text 12"/>
          <p:cNvSpPr txBox="1"/>
          <p:nvPr/>
        </p:nvSpPr>
        <p:spPr>
          <a:xfrm>
            <a:off x="548640" y="4169054"/>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REASON</a:t>
            </a:r>
            <a:endParaRPr lang="en-US" sz="1100" dirty="0"/>
          </a:p>
        </p:txBody>
      </p:sp>
      <p:sp>
        <p:nvSpPr>
          <p:cNvPr id="15" name="Shape 13"/>
          <p:cNvSpPr/>
          <p:nvPr/>
        </p:nvSpPr>
        <p:spPr>
          <a:xfrm>
            <a:off x="548640" y="4443374"/>
            <a:ext cx="11094415" cy="728472"/>
          </a:xfrm>
          <a:prstGeom prst="rect">
            <a:avLst/>
          </a:prstGeom>
          <a:solidFill>
            <a:srgbClr val="FFFFFF"/>
          </a:solidFill>
          <a:ln/>
        </p:spPr>
      </p:sp>
      <p:sp>
        <p:nvSpPr>
          <p:cNvPr id="16" name="Text 14"/>
          <p:cNvSpPr txBox="1"/>
          <p:nvPr/>
        </p:nvSpPr>
        <p:spPr>
          <a:xfrm>
            <a:off x="749808" y="4443374"/>
            <a:ext cx="10692079" cy="728472"/>
          </a:xfrm>
          <a:prstGeom prst="rect">
            <a:avLst/>
          </a:prstGeom>
          <a:noFill/>
          <a:ln/>
        </p:spPr>
        <p:txBody>
          <a:bodyPr wrap="square" lIns="635" tIns="635" rIns="635" bIns="635" rtlCol="0" anchor="ctr"/>
          <a:lstStyle/>
          <a:p>
            <a:pPr marL="0" indent="0">
              <a:buNone/>
            </a:pPr>
            <a:r>
              <a:rPr lang="en-US" sz="1300" dirty="0">
                <a:solidFill>
                  <a:srgbClr val="3A3A3A"/>
                </a:solidFill>
                <a:latin typeface="Calibri" pitchFamily="34" charset="0"/>
                <a:ea typeface="Calibri" pitchFamily="34" charset="-122"/>
                <a:cs typeface="Calibri" pitchFamily="34" charset="-120"/>
              </a:rPr>
              <a:t>The actual Seiran model is a lead consultant supported by strategic associates and specialist expertise where required.</a:t>
            </a:r>
            <a:endParaRPr lang="en-US" sz="1300" dirty="0"/>
          </a:p>
        </p:txBody>
      </p:sp>
      <p:sp>
        <p:nvSpPr>
          <p:cNvPr id="17" name="Text 15"/>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REVIEW</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5. “Four Pillars, One System”</a:t>
            </a:r>
            <a:endParaRPr lang="en-US" sz="2500" dirty="0"/>
          </a:p>
        </p:txBody>
      </p:sp>
      <p:sp>
        <p:nvSpPr>
          <p:cNvPr id="6" name="Text 4"/>
          <p:cNvSpPr txBox="1"/>
          <p:nvPr/>
        </p:nvSpPr>
        <p:spPr>
          <a:xfrm>
            <a:off x="548640" y="1481328"/>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ORIGINAL</a:t>
            </a:r>
            <a:endParaRPr lang="en-US" sz="1100" dirty="0"/>
          </a:p>
        </p:txBody>
      </p:sp>
      <p:sp>
        <p:nvSpPr>
          <p:cNvPr id="7" name="Shape 5"/>
          <p:cNvSpPr/>
          <p:nvPr/>
        </p:nvSpPr>
        <p:spPr>
          <a:xfrm>
            <a:off x="548640" y="1755648"/>
            <a:ext cx="11094415" cy="25603"/>
          </a:xfrm>
          <a:prstGeom prst="rect">
            <a:avLst/>
          </a:prstGeom>
          <a:solidFill>
            <a:srgbClr val="B8965A"/>
          </a:solidFill>
          <a:ln/>
        </p:spPr>
      </p:sp>
      <p:sp>
        <p:nvSpPr>
          <p:cNvPr id="8" name="Shape 6"/>
          <p:cNvSpPr/>
          <p:nvPr/>
        </p:nvSpPr>
        <p:spPr>
          <a:xfrm>
            <a:off x="548640" y="1781251"/>
            <a:ext cx="11094415" cy="762000"/>
          </a:xfrm>
          <a:prstGeom prst="rect">
            <a:avLst/>
          </a:prstGeom>
          <a:solidFill>
            <a:srgbClr val="EDEBE5"/>
          </a:solidFill>
          <a:ln/>
        </p:spPr>
      </p:sp>
      <p:sp>
        <p:nvSpPr>
          <p:cNvPr id="9" name="Text 7"/>
          <p:cNvSpPr txBox="1"/>
          <p:nvPr/>
        </p:nvSpPr>
        <p:spPr>
          <a:xfrm>
            <a:off x="749808" y="1781251"/>
            <a:ext cx="10692079" cy="762000"/>
          </a:xfrm>
          <a:prstGeom prst="rect">
            <a:avLst/>
          </a:prstGeom>
          <a:noFill/>
          <a:ln/>
        </p:spPr>
        <p:txBody>
          <a:bodyPr wrap="square" lIns="635" tIns="635" rIns="635" bIns="635" rtlCol="0" anchor="ctr"/>
          <a:lstStyle/>
          <a:p>
            <a:pPr marL="0" indent="0">
              <a:buNone/>
            </a:pPr>
            <a:r>
              <a:rPr lang="en-US" sz="1400" i="1" dirty="0">
                <a:solidFill>
                  <a:srgbClr val="3A3A3A"/>
                </a:solidFill>
                <a:latin typeface="Calibri" pitchFamily="34" charset="0"/>
                <a:ea typeface="Calibri" pitchFamily="34" charset="-122"/>
                <a:cs typeface="Calibri" pitchFamily="34" charset="-120"/>
              </a:rPr>
              <a:t>Strategy that ignores operations does not survive contact with the business. These are separated for navigation, not because they are addressed separately.</a:t>
            </a:r>
            <a:endParaRPr lang="en-US" sz="1400" dirty="0"/>
          </a:p>
        </p:txBody>
      </p:sp>
      <p:sp>
        <p:nvSpPr>
          <p:cNvPr id="10" name="Text 8"/>
          <p:cNvSpPr txBox="1"/>
          <p:nvPr/>
        </p:nvSpPr>
        <p:spPr>
          <a:xfrm>
            <a:off x="548640" y="2707843"/>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REVISED </a:t>
            </a:r>
            <a:endParaRPr lang="en-US" sz="1100" dirty="0"/>
          </a:p>
        </p:txBody>
      </p:sp>
      <p:sp>
        <p:nvSpPr>
          <p:cNvPr id="11" name="Shape 9"/>
          <p:cNvSpPr/>
          <p:nvPr/>
        </p:nvSpPr>
        <p:spPr>
          <a:xfrm>
            <a:off x="548640" y="2982163"/>
            <a:ext cx="11094415" cy="25603"/>
          </a:xfrm>
          <a:prstGeom prst="rect">
            <a:avLst/>
          </a:prstGeom>
          <a:solidFill>
            <a:srgbClr val="B8965A"/>
          </a:solidFill>
          <a:ln/>
        </p:spPr>
      </p:sp>
      <p:sp>
        <p:nvSpPr>
          <p:cNvPr id="12" name="Shape 10"/>
          <p:cNvSpPr/>
          <p:nvPr/>
        </p:nvSpPr>
        <p:spPr>
          <a:xfrm>
            <a:off x="548640" y="3007766"/>
            <a:ext cx="11094415" cy="762000"/>
          </a:xfrm>
          <a:prstGeom prst="rect">
            <a:avLst/>
          </a:prstGeom>
          <a:solidFill>
            <a:srgbClr val="F2F0EA"/>
          </a:solidFill>
          <a:ln/>
        </p:spPr>
      </p:sp>
      <p:sp>
        <p:nvSpPr>
          <p:cNvPr id="13" name="Text 11"/>
          <p:cNvSpPr txBox="1"/>
          <p:nvPr/>
        </p:nvSpPr>
        <p:spPr>
          <a:xfrm>
            <a:off x="749808" y="3007766"/>
            <a:ext cx="10692079" cy="762000"/>
          </a:xfrm>
          <a:prstGeom prst="rect">
            <a:avLst/>
          </a:prstGeom>
          <a:noFill/>
          <a:ln/>
        </p:spPr>
        <p:txBody>
          <a:bodyPr wrap="square" lIns="635" tIns="635" rIns="635" bIns="635" rtlCol="0" anchor="ctr"/>
          <a:lstStyle/>
          <a:p>
            <a:pPr marL="0" indent="0">
              <a:buNone/>
            </a:pPr>
            <a:r>
              <a:rPr lang="en-US" sz="1400" b="1" i="1" dirty="0">
                <a:solidFill>
                  <a:srgbClr val="3A3A3A"/>
                </a:solidFill>
                <a:latin typeface="Calibri" pitchFamily="34" charset="0"/>
                <a:ea typeface="Calibri" pitchFamily="34" charset="-122"/>
                <a:cs typeface="Calibri" pitchFamily="34" charset="-120"/>
              </a:rPr>
              <a:t>Good strategy has to work in the real business. These areas are separated for navigation, but we look at them together.</a:t>
            </a:r>
            <a:endParaRPr lang="en-US" sz="1400" b="1" dirty="0"/>
          </a:p>
        </p:txBody>
      </p:sp>
      <p:sp>
        <p:nvSpPr>
          <p:cNvPr id="14" name="Text 12"/>
          <p:cNvSpPr txBox="1"/>
          <p:nvPr/>
        </p:nvSpPr>
        <p:spPr>
          <a:xfrm>
            <a:off x="548640" y="3934358"/>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REASON</a:t>
            </a:r>
            <a:endParaRPr lang="en-US" sz="1100" dirty="0"/>
          </a:p>
        </p:txBody>
      </p:sp>
      <p:sp>
        <p:nvSpPr>
          <p:cNvPr id="15" name="Shape 13"/>
          <p:cNvSpPr/>
          <p:nvPr/>
        </p:nvSpPr>
        <p:spPr>
          <a:xfrm>
            <a:off x="548640" y="4208678"/>
            <a:ext cx="11094415" cy="728472"/>
          </a:xfrm>
          <a:prstGeom prst="rect">
            <a:avLst/>
          </a:prstGeom>
          <a:solidFill>
            <a:srgbClr val="FFFFFF"/>
          </a:solidFill>
          <a:ln/>
        </p:spPr>
      </p:sp>
      <p:sp>
        <p:nvSpPr>
          <p:cNvPr id="16" name="Text 14"/>
          <p:cNvSpPr txBox="1"/>
          <p:nvPr/>
        </p:nvSpPr>
        <p:spPr>
          <a:xfrm>
            <a:off x="749808" y="4208678"/>
            <a:ext cx="10692079" cy="728472"/>
          </a:xfrm>
          <a:prstGeom prst="rect">
            <a:avLst/>
          </a:prstGeom>
          <a:noFill/>
          <a:ln/>
        </p:spPr>
        <p:txBody>
          <a:bodyPr wrap="square" lIns="635" tIns="635" rIns="635" bIns="635" rtlCol="0" anchor="ctr"/>
          <a:lstStyle/>
          <a:p>
            <a:pPr marL="0" indent="0">
              <a:buNone/>
            </a:pPr>
            <a:r>
              <a:rPr lang="en-US" sz="1300" dirty="0">
                <a:solidFill>
                  <a:srgbClr val="3A3A3A"/>
                </a:solidFill>
                <a:latin typeface="Calibri" pitchFamily="34" charset="0"/>
                <a:ea typeface="Calibri" pitchFamily="34" charset="-122"/>
                <a:cs typeface="Calibri" pitchFamily="34" charset="-120"/>
              </a:rPr>
              <a:t>The thinking behind it is right, but simpler language is preferred so an SME owner can understand it immediately.</a:t>
            </a:r>
            <a:endParaRPr lang="en-US" sz="1300" dirty="0"/>
          </a:p>
        </p:txBody>
      </p:sp>
      <p:sp>
        <p:nvSpPr>
          <p:cNvPr id="17" name="Text 15"/>
          <p:cNvSpPr txBox="1"/>
          <p:nvPr/>
        </p:nvSpPr>
        <p:spPr>
          <a:xfrm>
            <a:off x="548640" y="5101742"/>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ALSO FLAG</a:t>
            </a:r>
            <a:endParaRPr lang="en-US" sz="1100" dirty="0"/>
          </a:p>
        </p:txBody>
      </p:sp>
      <p:sp>
        <p:nvSpPr>
          <p:cNvPr id="18" name="Shape 16"/>
          <p:cNvSpPr/>
          <p:nvPr/>
        </p:nvSpPr>
        <p:spPr>
          <a:xfrm>
            <a:off x="548640" y="5376062"/>
            <a:ext cx="11094415" cy="25603"/>
          </a:xfrm>
          <a:prstGeom prst="rect">
            <a:avLst/>
          </a:prstGeom>
          <a:solidFill>
            <a:srgbClr val="B8965A"/>
          </a:solidFill>
          <a:ln/>
        </p:spPr>
      </p:sp>
      <p:sp>
        <p:nvSpPr>
          <p:cNvPr id="19" name="Shape 17"/>
          <p:cNvSpPr/>
          <p:nvPr/>
        </p:nvSpPr>
        <p:spPr>
          <a:xfrm>
            <a:off x="548640" y="5401666"/>
            <a:ext cx="11094415" cy="946404"/>
          </a:xfrm>
          <a:prstGeom prst="rect">
            <a:avLst/>
          </a:prstGeom>
          <a:solidFill>
            <a:srgbClr val="FBF8F1"/>
          </a:solidFill>
          <a:ln/>
        </p:spPr>
      </p:sp>
      <p:sp>
        <p:nvSpPr>
          <p:cNvPr id="20" name="Text 18"/>
          <p:cNvSpPr txBox="1"/>
          <p:nvPr/>
        </p:nvSpPr>
        <p:spPr>
          <a:xfrm>
            <a:off x="749808" y="5401666"/>
            <a:ext cx="10692079" cy="946404"/>
          </a:xfrm>
          <a:prstGeom prst="rect">
            <a:avLst/>
          </a:prstGeom>
          <a:noFill/>
          <a:ln/>
        </p:spPr>
        <p:txBody>
          <a:bodyPr wrap="square" lIns="635" tIns="635" rIns="635" bIns="635" rtlCol="0" anchor="ctr"/>
          <a:lstStyle/>
          <a:p>
            <a:pPr marL="0" indent="0">
              <a:buNone/>
            </a:pPr>
            <a:r>
              <a:rPr lang="en-US" sz="1300" dirty="0">
                <a:solidFill>
                  <a:srgbClr val="3A3A3A"/>
                </a:solidFill>
                <a:latin typeface="Calibri" pitchFamily="34" charset="0"/>
                <a:ea typeface="Calibri" pitchFamily="34" charset="-122"/>
                <a:cs typeface="Calibri" pitchFamily="34" charset="-120"/>
              </a:rPr>
              <a:t>The heading “Advisory that holds together” is only visible when the section is highlighted— it does not appear to be visible otherwise.</a:t>
            </a:r>
            <a:endParaRPr lang="en-US" sz="1300" dirty="0"/>
          </a:p>
        </p:txBody>
      </p:sp>
      <p:sp>
        <p:nvSpPr>
          <p:cNvPr id="21" name="Text 19"/>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REVIEW</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6. “Seven stages, in order” — reframe as a journey</a:t>
            </a:r>
            <a:endParaRPr lang="en-US" sz="2500" dirty="0"/>
          </a:p>
        </p:txBody>
      </p:sp>
      <p:sp>
        <p:nvSpPr>
          <p:cNvPr id="6" name="Text 4"/>
          <p:cNvSpPr txBox="1"/>
          <p:nvPr/>
        </p:nvSpPr>
        <p:spPr>
          <a:xfrm>
            <a:off x="548640" y="1481328"/>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ORIGINAL</a:t>
            </a:r>
            <a:endParaRPr lang="en-US" sz="1100" dirty="0"/>
          </a:p>
        </p:txBody>
      </p:sp>
      <p:sp>
        <p:nvSpPr>
          <p:cNvPr id="7" name="Shape 5"/>
          <p:cNvSpPr/>
          <p:nvPr/>
        </p:nvSpPr>
        <p:spPr>
          <a:xfrm>
            <a:off x="548640" y="1755648"/>
            <a:ext cx="11094415" cy="25603"/>
          </a:xfrm>
          <a:prstGeom prst="rect">
            <a:avLst/>
          </a:prstGeom>
          <a:solidFill>
            <a:srgbClr val="B8965A"/>
          </a:solidFill>
          <a:ln/>
        </p:spPr>
      </p:sp>
      <p:sp>
        <p:nvSpPr>
          <p:cNvPr id="8" name="Shape 6"/>
          <p:cNvSpPr/>
          <p:nvPr/>
        </p:nvSpPr>
        <p:spPr>
          <a:xfrm>
            <a:off x="548640" y="1781251"/>
            <a:ext cx="11094415" cy="527304"/>
          </a:xfrm>
          <a:prstGeom prst="rect">
            <a:avLst/>
          </a:prstGeom>
          <a:solidFill>
            <a:srgbClr val="EDEBE5"/>
          </a:solidFill>
          <a:ln/>
        </p:spPr>
      </p:sp>
      <p:sp>
        <p:nvSpPr>
          <p:cNvPr id="9" name="Text 7"/>
          <p:cNvSpPr txBox="1"/>
          <p:nvPr/>
        </p:nvSpPr>
        <p:spPr>
          <a:xfrm>
            <a:off x="749808" y="1781251"/>
            <a:ext cx="10692079" cy="527304"/>
          </a:xfrm>
          <a:prstGeom prst="rect">
            <a:avLst/>
          </a:prstGeom>
          <a:noFill/>
          <a:ln/>
        </p:spPr>
        <p:txBody>
          <a:bodyPr wrap="square" lIns="635" tIns="635" rIns="635" bIns="635" rtlCol="0" anchor="ctr"/>
          <a:lstStyle/>
          <a:p>
            <a:pPr marL="0" indent="0">
              <a:buNone/>
            </a:pPr>
            <a:r>
              <a:rPr lang="en-US" sz="1400" i="1" dirty="0">
                <a:solidFill>
                  <a:srgbClr val="3A3A3A"/>
                </a:solidFill>
                <a:latin typeface="Calibri" pitchFamily="34" charset="0"/>
                <a:ea typeface="Calibri" pitchFamily="34" charset="-122"/>
                <a:cs typeface="Calibri" pitchFamily="34" charset="-120"/>
              </a:rPr>
              <a:t>Seven stages, in order, because each depends on the last. These are the first four.</a:t>
            </a:r>
            <a:endParaRPr lang="en-US" sz="1400" dirty="0"/>
          </a:p>
        </p:txBody>
      </p:sp>
      <p:sp>
        <p:nvSpPr>
          <p:cNvPr id="10" name="Text 8"/>
          <p:cNvSpPr txBox="1"/>
          <p:nvPr/>
        </p:nvSpPr>
        <p:spPr>
          <a:xfrm>
            <a:off x="548640" y="2473147"/>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REVISED </a:t>
            </a:r>
            <a:endParaRPr lang="en-US" sz="1100" dirty="0"/>
          </a:p>
        </p:txBody>
      </p:sp>
      <p:sp>
        <p:nvSpPr>
          <p:cNvPr id="11" name="Shape 9"/>
          <p:cNvSpPr/>
          <p:nvPr/>
        </p:nvSpPr>
        <p:spPr>
          <a:xfrm>
            <a:off x="548640" y="2747467"/>
            <a:ext cx="11094415" cy="25603"/>
          </a:xfrm>
          <a:prstGeom prst="rect">
            <a:avLst/>
          </a:prstGeom>
          <a:solidFill>
            <a:srgbClr val="B8965A"/>
          </a:solidFill>
          <a:ln/>
        </p:spPr>
      </p:sp>
      <p:sp>
        <p:nvSpPr>
          <p:cNvPr id="12" name="Shape 10"/>
          <p:cNvSpPr/>
          <p:nvPr/>
        </p:nvSpPr>
        <p:spPr>
          <a:xfrm>
            <a:off x="548640" y="2773070"/>
            <a:ext cx="11094415" cy="762000"/>
          </a:xfrm>
          <a:prstGeom prst="rect">
            <a:avLst/>
          </a:prstGeom>
          <a:solidFill>
            <a:srgbClr val="F2F0EA"/>
          </a:solidFill>
          <a:ln/>
        </p:spPr>
      </p:sp>
      <p:sp>
        <p:nvSpPr>
          <p:cNvPr id="13" name="Text 11"/>
          <p:cNvSpPr txBox="1"/>
          <p:nvPr/>
        </p:nvSpPr>
        <p:spPr>
          <a:xfrm>
            <a:off x="749808" y="2773070"/>
            <a:ext cx="10692079" cy="762000"/>
          </a:xfrm>
          <a:prstGeom prst="rect">
            <a:avLst/>
          </a:prstGeom>
          <a:noFill/>
          <a:ln/>
        </p:spPr>
        <p:txBody>
          <a:bodyPr wrap="square" lIns="635" tIns="635" rIns="635" bIns="635" rtlCol="0" anchor="ctr"/>
          <a:lstStyle/>
          <a:p>
            <a:pPr marL="0" indent="0">
              <a:buNone/>
            </a:pPr>
            <a:r>
              <a:rPr lang="en-US" sz="1400" b="1" i="1" dirty="0">
                <a:solidFill>
                  <a:srgbClr val="3A3A3A"/>
                </a:solidFill>
                <a:latin typeface="Calibri" pitchFamily="34" charset="0"/>
                <a:ea typeface="Calibri" pitchFamily="34" charset="-122"/>
                <a:cs typeface="Calibri" pitchFamily="34" charset="-120"/>
              </a:rPr>
              <a:t>Seven stages. One integrated journey.</a:t>
            </a:r>
            <a:endParaRPr lang="en-US" sz="1400" b="1" dirty="0"/>
          </a:p>
          <a:p>
            <a:pPr marL="0" indent="0">
              <a:buNone/>
            </a:pPr>
            <a:r>
              <a:rPr lang="en-US" sz="1400" b="1" i="1" dirty="0">
                <a:solidFill>
                  <a:srgbClr val="3A3A3A"/>
                </a:solidFill>
                <a:latin typeface="Calibri" pitchFamily="34" charset="0"/>
                <a:ea typeface="Calibri" pitchFamily="34" charset="-122"/>
                <a:cs typeface="Calibri" pitchFamily="34" charset="-120"/>
              </a:rPr>
              <a:t>From understanding how your business really works to building the capability for lasting change</a:t>
            </a:r>
            <a:r>
              <a:rPr lang="en-US" sz="1400" i="1" dirty="0">
                <a:solidFill>
                  <a:srgbClr val="3A3A3A"/>
                </a:solidFill>
                <a:latin typeface="Calibri" pitchFamily="34" charset="0"/>
                <a:ea typeface="Calibri" pitchFamily="34" charset="-122"/>
                <a:cs typeface="Calibri" pitchFamily="34" charset="-120"/>
              </a:rPr>
              <a:t>.</a:t>
            </a:r>
            <a:endParaRPr lang="en-US" sz="1400" dirty="0"/>
          </a:p>
        </p:txBody>
      </p:sp>
      <p:sp>
        <p:nvSpPr>
          <p:cNvPr id="14" name="Text 12"/>
          <p:cNvSpPr txBox="1"/>
          <p:nvPr/>
        </p:nvSpPr>
        <p:spPr>
          <a:xfrm>
            <a:off x="548640" y="3699662"/>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REASON</a:t>
            </a:r>
            <a:endParaRPr lang="en-US" sz="1100" dirty="0"/>
          </a:p>
        </p:txBody>
      </p:sp>
      <p:sp>
        <p:nvSpPr>
          <p:cNvPr id="15" name="Shape 13"/>
          <p:cNvSpPr/>
          <p:nvPr/>
        </p:nvSpPr>
        <p:spPr>
          <a:xfrm>
            <a:off x="548640" y="3973982"/>
            <a:ext cx="11094415" cy="510540"/>
          </a:xfrm>
          <a:prstGeom prst="rect">
            <a:avLst/>
          </a:prstGeom>
          <a:solidFill>
            <a:srgbClr val="FFFFFF"/>
          </a:solidFill>
          <a:ln/>
        </p:spPr>
      </p:sp>
      <p:sp>
        <p:nvSpPr>
          <p:cNvPr id="16" name="Text 14"/>
          <p:cNvSpPr txBox="1"/>
          <p:nvPr/>
        </p:nvSpPr>
        <p:spPr>
          <a:xfrm>
            <a:off x="749808" y="3973982"/>
            <a:ext cx="10692079" cy="510540"/>
          </a:xfrm>
          <a:prstGeom prst="rect">
            <a:avLst/>
          </a:prstGeom>
          <a:noFill/>
          <a:ln/>
        </p:spPr>
        <p:txBody>
          <a:bodyPr wrap="square" lIns="635" tIns="635" rIns="635" bIns="635" rtlCol="0" anchor="ctr"/>
          <a:lstStyle/>
          <a:p>
            <a:pPr marL="0" indent="0">
              <a:buNone/>
            </a:pPr>
            <a:r>
              <a:rPr lang="en-US" sz="1300" dirty="0">
                <a:solidFill>
                  <a:srgbClr val="3A3A3A"/>
                </a:solidFill>
                <a:latin typeface="Calibri" pitchFamily="34" charset="0"/>
                <a:ea typeface="Calibri" pitchFamily="34" charset="-122"/>
                <a:cs typeface="Calibri" pitchFamily="34" charset="-120"/>
              </a:rPr>
              <a:t>Makes the seven stages feel like a cohesive journey, rather than simply seven boxes on a webpage.</a:t>
            </a:r>
            <a:endParaRPr lang="en-US" sz="1300" dirty="0"/>
          </a:p>
        </p:txBody>
      </p:sp>
      <p:sp>
        <p:nvSpPr>
          <p:cNvPr id="17" name="Text 15"/>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REVIEW</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7. The first conversation</a:t>
            </a:r>
            <a:endParaRPr lang="en-US" sz="2500" dirty="0"/>
          </a:p>
        </p:txBody>
      </p:sp>
      <p:sp>
        <p:nvSpPr>
          <p:cNvPr id="6" name="Text 4"/>
          <p:cNvSpPr txBox="1"/>
          <p:nvPr/>
        </p:nvSpPr>
        <p:spPr>
          <a:xfrm>
            <a:off x="548640" y="1481328"/>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ORIGINAL</a:t>
            </a:r>
            <a:endParaRPr lang="en-US" sz="1100" dirty="0"/>
          </a:p>
        </p:txBody>
      </p:sp>
      <p:sp>
        <p:nvSpPr>
          <p:cNvPr id="7" name="Shape 5"/>
          <p:cNvSpPr/>
          <p:nvPr/>
        </p:nvSpPr>
        <p:spPr>
          <a:xfrm>
            <a:off x="548640" y="1755648"/>
            <a:ext cx="11094415" cy="25603"/>
          </a:xfrm>
          <a:prstGeom prst="rect">
            <a:avLst/>
          </a:prstGeom>
          <a:solidFill>
            <a:srgbClr val="B8965A"/>
          </a:solidFill>
          <a:ln/>
        </p:spPr>
      </p:sp>
      <p:sp>
        <p:nvSpPr>
          <p:cNvPr id="8" name="Shape 6"/>
          <p:cNvSpPr/>
          <p:nvPr/>
        </p:nvSpPr>
        <p:spPr>
          <a:xfrm>
            <a:off x="548640" y="1781251"/>
            <a:ext cx="11094415" cy="527304"/>
          </a:xfrm>
          <a:prstGeom prst="rect">
            <a:avLst/>
          </a:prstGeom>
          <a:solidFill>
            <a:srgbClr val="EDEBE5"/>
          </a:solidFill>
          <a:ln/>
        </p:spPr>
      </p:sp>
      <p:sp>
        <p:nvSpPr>
          <p:cNvPr id="9" name="Text 7"/>
          <p:cNvSpPr txBox="1"/>
          <p:nvPr/>
        </p:nvSpPr>
        <p:spPr>
          <a:xfrm>
            <a:off x="749808" y="1781251"/>
            <a:ext cx="10692079" cy="527304"/>
          </a:xfrm>
          <a:prstGeom prst="rect">
            <a:avLst/>
          </a:prstGeom>
          <a:noFill/>
          <a:ln/>
        </p:spPr>
        <p:txBody>
          <a:bodyPr wrap="square" lIns="635" tIns="635" rIns="635" bIns="635" rtlCol="0" anchor="ctr"/>
          <a:lstStyle/>
          <a:p>
            <a:pPr marL="0" indent="0">
              <a:buNone/>
            </a:pPr>
            <a:r>
              <a:rPr lang="en-US" sz="1400" i="1" dirty="0">
                <a:solidFill>
                  <a:srgbClr val="3A3A3A"/>
                </a:solidFill>
                <a:latin typeface="Calibri" pitchFamily="34" charset="0"/>
                <a:ea typeface="Calibri" pitchFamily="34" charset="-122"/>
                <a:cs typeface="Calibri" pitchFamily="34" charset="-120"/>
              </a:rPr>
              <a:t>“Talk to an adviser who has run the problem before.”</a:t>
            </a:r>
            <a:endParaRPr lang="en-US" sz="1400" dirty="0"/>
          </a:p>
        </p:txBody>
      </p:sp>
      <p:sp>
        <p:nvSpPr>
          <p:cNvPr id="10" name="Text 8"/>
          <p:cNvSpPr txBox="1"/>
          <p:nvPr/>
        </p:nvSpPr>
        <p:spPr>
          <a:xfrm>
            <a:off x="548640" y="2473147"/>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REVISED </a:t>
            </a:r>
            <a:endParaRPr lang="en-US" sz="1100" dirty="0"/>
          </a:p>
        </p:txBody>
      </p:sp>
      <p:sp>
        <p:nvSpPr>
          <p:cNvPr id="11" name="Shape 9"/>
          <p:cNvSpPr/>
          <p:nvPr/>
        </p:nvSpPr>
        <p:spPr>
          <a:xfrm>
            <a:off x="548640" y="2747467"/>
            <a:ext cx="11094415" cy="25603"/>
          </a:xfrm>
          <a:prstGeom prst="rect">
            <a:avLst/>
          </a:prstGeom>
          <a:solidFill>
            <a:srgbClr val="B8965A"/>
          </a:solidFill>
          <a:ln/>
        </p:spPr>
      </p:sp>
      <p:sp>
        <p:nvSpPr>
          <p:cNvPr id="12" name="Shape 10"/>
          <p:cNvSpPr/>
          <p:nvPr/>
        </p:nvSpPr>
        <p:spPr>
          <a:xfrm>
            <a:off x="548640" y="2773070"/>
            <a:ext cx="11094415" cy="527304"/>
          </a:xfrm>
          <a:prstGeom prst="rect">
            <a:avLst/>
          </a:prstGeom>
          <a:solidFill>
            <a:srgbClr val="F2F0EA"/>
          </a:solidFill>
          <a:ln/>
        </p:spPr>
      </p:sp>
      <p:sp>
        <p:nvSpPr>
          <p:cNvPr id="13" name="Text 11"/>
          <p:cNvSpPr txBox="1"/>
          <p:nvPr/>
        </p:nvSpPr>
        <p:spPr>
          <a:xfrm>
            <a:off x="749808" y="2773070"/>
            <a:ext cx="10692079" cy="527304"/>
          </a:xfrm>
          <a:prstGeom prst="rect">
            <a:avLst/>
          </a:prstGeom>
          <a:noFill/>
          <a:ln/>
        </p:spPr>
        <p:txBody>
          <a:bodyPr wrap="square" lIns="635" tIns="635" rIns="635" bIns="635" rtlCol="0" anchor="ctr"/>
          <a:lstStyle/>
          <a:p>
            <a:pPr marL="0" indent="0">
              <a:buNone/>
            </a:pPr>
            <a:r>
              <a:rPr lang="en-US" sz="1400" b="1" i="1" dirty="0">
                <a:solidFill>
                  <a:srgbClr val="3A3A3A"/>
                </a:solidFill>
                <a:latin typeface="Calibri" pitchFamily="34" charset="0"/>
                <a:ea typeface="Calibri" pitchFamily="34" charset="-122"/>
                <a:cs typeface="Calibri" pitchFamily="34" charset="-120"/>
              </a:rPr>
              <a:t>“Talk to an adviser who has handled problems like yours before.”</a:t>
            </a:r>
            <a:endParaRPr lang="en-US" sz="1400" b="1" dirty="0"/>
          </a:p>
        </p:txBody>
      </p:sp>
      <p:sp>
        <p:nvSpPr>
          <p:cNvPr id="14" name="Text 12"/>
          <p:cNvSpPr txBox="1"/>
          <p:nvPr/>
        </p:nvSpPr>
        <p:spPr>
          <a:xfrm>
            <a:off x="548640" y="3464966"/>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REASON</a:t>
            </a:r>
            <a:endParaRPr lang="en-US" sz="1100" dirty="0"/>
          </a:p>
        </p:txBody>
      </p:sp>
      <p:sp>
        <p:nvSpPr>
          <p:cNvPr id="15" name="Shape 13"/>
          <p:cNvSpPr/>
          <p:nvPr/>
        </p:nvSpPr>
        <p:spPr>
          <a:xfrm>
            <a:off x="548640" y="3739286"/>
            <a:ext cx="11094415" cy="510540"/>
          </a:xfrm>
          <a:prstGeom prst="rect">
            <a:avLst/>
          </a:prstGeom>
          <a:solidFill>
            <a:srgbClr val="FFFFFF"/>
          </a:solidFill>
          <a:ln/>
        </p:spPr>
      </p:sp>
      <p:sp>
        <p:nvSpPr>
          <p:cNvPr id="16" name="Text 14"/>
          <p:cNvSpPr txBox="1"/>
          <p:nvPr/>
        </p:nvSpPr>
        <p:spPr>
          <a:xfrm>
            <a:off x="749808" y="3739286"/>
            <a:ext cx="10692079" cy="510540"/>
          </a:xfrm>
          <a:prstGeom prst="rect">
            <a:avLst/>
          </a:prstGeom>
          <a:noFill/>
          <a:ln/>
        </p:spPr>
        <p:txBody>
          <a:bodyPr wrap="square" lIns="635" tIns="635" rIns="635" bIns="635" rtlCol="0" anchor="ctr"/>
          <a:lstStyle/>
          <a:p>
            <a:pPr marL="0" indent="0">
              <a:buNone/>
            </a:pPr>
            <a:r>
              <a:rPr lang="en-US" sz="1300" dirty="0">
                <a:solidFill>
                  <a:srgbClr val="3A3A3A"/>
                </a:solidFill>
                <a:latin typeface="Calibri" pitchFamily="34" charset="0"/>
                <a:ea typeface="Calibri" pitchFamily="34" charset="-122"/>
                <a:cs typeface="Calibri" pitchFamily="34" charset="-120"/>
              </a:rPr>
              <a:t>“Run the problem” is consulting/industry language, and an owner-manager may pause over what it means.</a:t>
            </a:r>
            <a:endParaRPr lang="en-US" sz="1300" dirty="0"/>
          </a:p>
        </p:txBody>
      </p:sp>
      <p:sp>
        <p:nvSpPr>
          <p:cNvPr id="17" name="Text 15"/>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REVIEW</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8. Book an initial conversation</a:t>
            </a:r>
            <a:endParaRPr lang="en-US" sz="2500" dirty="0"/>
          </a:p>
        </p:txBody>
      </p:sp>
      <p:sp>
        <p:nvSpPr>
          <p:cNvPr id="6" name="Text 4"/>
          <p:cNvSpPr txBox="1"/>
          <p:nvPr/>
        </p:nvSpPr>
        <p:spPr>
          <a:xfrm>
            <a:off x="548640" y="1481328"/>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ORIGINAL</a:t>
            </a:r>
            <a:endParaRPr lang="en-US" sz="1100" dirty="0"/>
          </a:p>
        </p:txBody>
      </p:sp>
      <p:sp>
        <p:nvSpPr>
          <p:cNvPr id="7" name="Shape 5"/>
          <p:cNvSpPr/>
          <p:nvPr/>
        </p:nvSpPr>
        <p:spPr>
          <a:xfrm>
            <a:off x="548640" y="1755648"/>
            <a:ext cx="11094415" cy="25603"/>
          </a:xfrm>
          <a:prstGeom prst="rect">
            <a:avLst/>
          </a:prstGeom>
          <a:solidFill>
            <a:srgbClr val="B8965A"/>
          </a:solidFill>
          <a:ln/>
        </p:spPr>
      </p:sp>
      <p:sp>
        <p:nvSpPr>
          <p:cNvPr id="8" name="Shape 6"/>
          <p:cNvSpPr/>
          <p:nvPr/>
        </p:nvSpPr>
        <p:spPr>
          <a:xfrm>
            <a:off x="548640" y="1781251"/>
            <a:ext cx="11094415" cy="527304"/>
          </a:xfrm>
          <a:prstGeom prst="rect">
            <a:avLst/>
          </a:prstGeom>
          <a:solidFill>
            <a:srgbClr val="EDEBE5"/>
          </a:solidFill>
          <a:ln/>
        </p:spPr>
      </p:sp>
      <p:sp>
        <p:nvSpPr>
          <p:cNvPr id="9" name="Text 7"/>
          <p:cNvSpPr txBox="1"/>
          <p:nvPr/>
        </p:nvSpPr>
        <p:spPr>
          <a:xfrm>
            <a:off x="749808" y="1781251"/>
            <a:ext cx="10692079" cy="527304"/>
          </a:xfrm>
          <a:prstGeom prst="rect">
            <a:avLst/>
          </a:prstGeom>
          <a:noFill/>
          <a:ln/>
        </p:spPr>
        <p:txBody>
          <a:bodyPr wrap="square" lIns="635" tIns="635" rIns="635" bIns="635" rtlCol="0" anchor="ctr"/>
          <a:lstStyle/>
          <a:p>
            <a:pPr marL="0" indent="0">
              <a:buNone/>
            </a:pPr>
            <a:r>
              <a:rPr lang="en-US" sz="1400" i="1" dirty="0">
                <a:solidFill>
                  <a:srgbClr val="3A3A3A"/>
                </a:solidFill>
                <a:latin typeface="Calibri" pitchFamily="34" charset="0"/>
                <a:ea typeface="Calibri" pitchFamily="34" charset="-122"/>
                <a:cs typeface="Calibri" pitchFamily="34" charset="-120"/>
              </a:rPr>
              <a:t>“Four fields. Eldaah reads every enquiry personally.”</a:t>
            </a:r>
            <a:endParaRPr lang="en-US" sz="1400" dirty="0"/>
          </a:p>
        </p:txBody>
      </p:sp>
      <p:sp>
        <p:nvSpPr>
          <p:cNvPr id="10" name="Text 8"/>
          <p:cNvSpPr txBox="1"/>
          <p:nvPr/>
        </p:nvSpPr>
        <p:spPr>
          <a:xfrm>
            <a:off x="548640" y="2473147"/>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REVISED </a:t>
            </a:r>
            <a:endParaRPr lang="en-US" sz="1100" dirty="0"/>
          </a:p>
        </p:txBody>
      </p:sp>
      <p:sp>
        <p:nvSpPr>
          <p:cNvPr id="11" name="Shape 9"/>
          <p:cNvSpPr/>
          <p:nvPr/>
        </p:nvSpPr>
        <p:spPr>
          <a:xfrm>
            <a:off x="548640" y="2747467"/>
            <a:ext cx="11094415" cy="25603"/>
          </a:xfrm>
          <a:prstGeom prst="rect">
            <a:avLst/>
          </a:prstGeom>
          <a:solidFill>
            <a:srgbClr val="B8965A"/>
          </a:solidFill>
          <a:ln/>
        </p:spPr>
      </p:sp>
      <p:sp>
        <p:nvSpPr>
          <p:cNvPr id="12" name="Shape 10"/>
          <p:cNvSpPr/>
          <p:nvPr/>
        </p:nvSpPr>
        <p:spPr>
          <a:xfrm>
            <a:off x="548640" y="2773070"/>
            <a:ext cx="11094415" cy="527304"/>
          </a:xfrm>
          <a:prstGeom prst="rect">
            <a:avLst/>
          </a:prstGeom>
          <a:solidFill>
            <a:srgbClr val="F2F0EA"/>
          </a:solidFill>
          <a:ln/>
        </p:spPr>
      </p:sp>
      <p:sp>
        <p:nvSpPr>
          <p:cNvPr id="13" name="Text 11"/>
          <p:cNvSpPr txBox="1"/>
          <p:nvPr/>
        </p:nvSpPr>
        <p:spPr>
          <a:xfrm>
            <a:off x="749808" y="2773070"/>
            <a:ext cx="10692079" cy="527304"/>
          </a:xfrm>
          <a:prstGeom prst="rect">
            <a:avLst/>
          </a:prstGeom>
          <a:noFill/>
          <a:ln/>
        </p:spPr>
        <p:txBody>
          <a:bodyPr wrap="square" lIns="635" tIns="635" rIns="635" bIns="635" rtlCol="0" anchor="ctr"/>
          <a:lstStyle/>
          <a:p>
            <a:pPr marL="0" indent="0">
              <a:buNone/>
            </a:pPr>
            <a:r>
              <a:rPr lang="en-US" sz="1400" i="1" dirty="0">
                <a:solidFill>
                  <a:srgbClr val="3A3A3A"/>
                </a:solidFill>
                <a:latin typeface="Calibri" pitchFamily="34" charset="0"/>
                <a:ea typeface="Calibri" pitchFamily="34" charset="-122"/>
                <a:cs typeface="Calibri" pitchFamily="34" charset="-120"/>
              </a:rPr>
              <a:t>“</a:t>
            </a:r>
            <a:r>
              <a:rPr lang="en-US" sz="1400" b="1" i="1" dirty="0">
                <a:solidFill>
                  <a:srgbClr val="3A3A3A"/>
                </a:solidFill>
                <a:latin typeface="Calibri" pitchFamily="34" charset="0"/>
                <a:ea typeface="Calibri" pitchFamily="34" charset="-122"/>
                <a:cs typeface="Calibri" pitchFamily="34" charset="-120"/>
              </a:rPr>
              <a:t>Four fields. Every enquiry is reviewed personally.”</a:t>
            </a:r>
            <a:endParaRPr lang="en-US" sz="1400" b="1" dirty="0"/>
          </a:p>
        </p:txBody>
      </p:sp>
      <p:sp>
        <p:nvSpPr>
          <p:cNvPr id="14" name="Text 12"/>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REVIEW</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9. Email sign-up</a:t>
            </a:r>
            <a:endParaRPr lang="en-US" sz="2500" dirty="0"/>
          </a:p>
        </p:txBody>
      </p:sp>
      <p:sp>
        <p:nvSpPr>
          <p:cNvPr id="6" name="Text 4"/>
          <p:cNvSpPr txBox="1"/>
          <p:nvPr/>
        </p:nvSpPr>
        <p:spPr>
          <a:xfrm>
            <a:off x="548640" y="1481328"/>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ORIGINAL</a:t>
            </a:r>
            <a:endParaRPr lang="en-US" sz="1100" dirty="0"/>
          </a:p>
        </p:txBody>
      </p:sp>
      <p:sp>
        <p:nvSpPr>
          <p:cNvPr id="7" name="Shape 5"/>
          <p:cNvSpPr/>
          <p:nvPr/>
        </p:nvSpPr>
        <p:spPr>
          <a:xfrm>
            <a:off x="548640" y="1755648"/>
            <a:ext cx="11094415" cy="25603"/>
          </a:xfrm>
          <a:prstGeom prst="rect">
            <a:avLst/>
          </a:prstGeom>
          <a:solidFill>
            <a:srgbClr val="B8965A"/>
          </a:solidFill>
          <a:ln/>
        </p:spPr>
      </p:sp>
      <p:sp>
        <p:nvSpPr>
          <p:cNvPr id="8" name="Shape 6"/>
          <p:cNvSpPr/>
          <p:nvPr/>
        </p:nvSpPr>
        <p:spPr>
          <a:xfrm>
            <a:off x="548640" y="1781251"/>
            <a:ext cx="11094415" cy="527304"/>
          </a:xfrm>
          <a:prstGeom prst="rect">
            <a:avLst/>
          </a:prstGeom>
          <a:solidFill>
            <a:srgbClr val="EDEBE5"/>
          </a:solidFill>
          <a:ln/>
        </p:spPr>
      </p:sp>
      <p:sp>
        <p:nvSpPr>
          <p:cNvPr id="9" name="Text 7"/>
          <p:cNvSpPr txBox="1"/>
          <p:nvPr/>
        </p:nvSpPr>
        <p:spPr>
          <a:xfrm>
            <a:off x="749808" y="1781251"/>
            <a:ext cx="10692079" cy="527304"/>
          </a:xfrm>
          <a:prstGeom prst="rect">
            <a:avLst/>
          </a:prstGeom>
          <a:noFill/>
          <a:ln/>
        </p:spPr>
        <p:txBody>
          <a:bodyPr wrap="square" lIns="635" tIns="635" rIns="635" bIns="635" rtlCol="0" anchor="ctr"/>
          <a:lstStyle/>
          <a:p>
            <a:pPr marL="0" indent="0">
              <a:buNone/>
            </a:pPr>
            <a:r>
              <a:rPr lang="en-US" sz="1400" i="1" dirty="0">
                <a:solidFill>
                  <a:srgbClr val="3A3A3A"/>
                </a:solidFill>
                <a:latin typeface="Calibri" pitchFamily="34" charset="0"/>
                <a:ea typeface="Calibri" pitchFamily="34" charset="-122"/>
                <a:cs typeface="Calibri" pitchFamily="34" charset="-120"/>
              </a:rPr>
              <a:t>“No more than once a month, and nothing you did not ask for.”</a:t>
            </a:r>
            <a:endParaRPr lang="en-US" sz="1400" dirty="0"/>
          </a:p>
        </p:txBody>
      </p:sp>
      <p:sp>
        <p:nvSpPr>
          <p:cNvPr id="10" name="Text 8"/>
          <p:cNvSpPr txBox="1"/>
          <p:nvPr/>
        </p:nvSpPr>
        <p:spPr>
          <a:xfrm>
            <a:off x="548640" y="2473147"/>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REVISED </a:t>
            </a:r>
            <a:endParaRPr lang="en-US" sz="1100" dirty="0"/>
          </a:p>
        </p:txBody>
      </p:sp>
      <p:sp>
        <p:nvSpPr>
          <p:cNvPr id="11" name="Shape 9"/>
          <p:cNvSpPr/>
          <p:nvPr/>
        </p:nvSpPr>
        <p:spPr>
          <a:xfrm>
            <a:off x="548640" y="2747467"/>
            <a:ext cx="11094415" cy="25603"/>
          </a:xfrm>
          <a:prstGeom prst="rect">
            <a:avLst/>
          </a:prstGeom>
          <a:solidFill>
            <a:srgbClr val="B8965A"/>
          </a:solidFill>
          <a:ln/>
        </p:spPr>
      </p:sp>
      <p:sp>
        <p:nvSpPr>
          <p:cNvPr id="12" name="Shape 10"/>
          <p:cNvSpPr/>
          <p:nvPr/>
        </p:nvSpPr>
        <p:spPr>
          <a:xfrm>
            <a:off x="548640" y="2773070"/>
            <a:ext cx="11094415" cy="762000"/>
          </a:xfrm>
          <a:prstGeom prst="rect">
            <a:avLst/>
          </a:prstGeom>
          <a:solidFill>
            <a:srgbClr val="F2F0EA"/>
          </a:solidFill>
          <a:ln/>
        </p:spPr>
      </p:sp>
      <p:sp>
        <p:nvSpPr>
          <p:cNvPr id="13" name="Text 11"/>
          <p:cNvSpPr txBox="1"/>
          <p:nvPr/>
        </p:nvSpPr>
        <p:spPr>
          <a:xfrm>
            <a:off x="749808" y="2773070"/>
            <a:ext cx="10692079" cy="762000"/>
          </a:xfrm>
          <a:prstGeom prst="rect">
            <a:avLst/>
          </a:prstGeom>
          <a:noFill/>
          <a:ln/>
        </p:spPr>
        <p:txBody>
          <a:bodyPr wrap="square" lIns="635" tIns="635" rIns="635" bIns="635" rtlCol="0" anchor="ctr"/>
          <a:lstStyle/>
          <a:p>
            <a:pPr marL="0" indent="0">
              <a:buNone/>
            </a:pPr>
            <a:r>
              <a:rPr lang="en-US" sz="1400" i="1" dirty="0">
                <a:solidFill>
                  <a:srgbClr val="3A3A3A"/>
                </a:solidFill>
                <a:latin typeface="Calibri" pitchFamily="34" charset="0"/>
                <a:ea typeface="Calibri" pitchFamily="34" charset="-122"/>
                <a:cs typeface="Calibri" pitchFamily="34" charset="-120"/>
              </a:rPr>
              <a:t>“</a:t>
            </a:r>
            <a:r>
              <a:rPr lang="en-US" sz="1400" b="1" i="1" dirty="0">
                <a:solidFill>
                  <a:srgbClr val="3A3A3A"/>
                </a:solidFill>
                <a:latin typeface="Calibri" pitchFamily="34" charset="0"/>
                <a:ea typeface="Calibri" pitchFamily="34" charset="-122"/>
                <a:cs typeface="Calibri" pitchFamily="34" charset="-120"/>
              </a:rPr>
              <a:t>Stay ahead of the challenges that come with growth. Get practical insights on building a stronger, more enduring business.”</a:t>
            </a:r>
            <a:endParaRPr lang="en-US" sz="1400" b="1" dirty="0"/>
          </a:p>
        </p:txBody>
      </p:sp>
      <p:sp>
        <p:nvSpPr>
          <p:cNvPr id="14" name="Text 12"/>
          <p:cNvSpPr txBox="1"/>
          <p:nvPr/>
        </p:nvSpPr>
        <p:spPr>
          <a:xfrm>
            <a:off x="548640" y="3699662"/>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REASON</a:t>
            </a:r>
            <a:endParaRPr lang="en-US" sz="1100" dirty="0"/>
          </a:p>
        </p:txBody>
      </p:sp>
      <p:sp>
        <p:nvSpPr>
          <p:cNvPr id="15" name="Shape 13"/>
          <p:cNvSpPr/>
          <p:nvPr/>
        </p:nvSpPr>
        <p:spPr>
          <a:xfrm>
            <a:off x="548640" y="3973982"/>
            <a:ext cx="11094415" cy="510540"/>
          </a:xfrm>
          <a:prstGeom prst="rect">
            <a:avLst/>
          </a:prstGeom>
          <a:solidFill>
            <a:srgbClr val="FFFFFF"/>
          </a:solidFill>
          <a:ln/>
        </p:spPr>
      </p:sp>
      <p:sp>
        <p:nvSpPr>
          <p:cNvPr id="16" name="Text 14"/>
          <p:cNvSpPr txBox="1"/>
          <p:nvPr/>
        </p:nvSpPr>
        <p:spPr>
          <a:xfrm>
            <a:off x="749808" y="3973982"/>
            <a:ext cx="10692079" cy="510540"/>
          </a:xfrm>
          <a:prstGeom prst="rect">
            <a:avLst/>
          </a:prstGeom>
          <a:noFill/>
          <a:ln/>
        </p:spPr>
        <p:txBody>
          <a:bodyPr wrap="square" lIns="635" tIns="635" rIns="635" bIns="635" rtlCol="0" anchor="ctr"/>
          <a:lstStyle/>
          <a:p>
            <a:pPr marL="0" indent="0">
              <a:buNone/>
            </a:pPr>
            <a:r>
              <a:rPr lang="en-US" sz="1300" dirty="0">
                <a:solidFill>
                  <a:srgbClr val="3A3A3A"/>
                </a:solidFill>
                <a:latin typeface="Calibri" pitchFamily="34" charset="0"/>
                <a:ea typeface="Calibri" pitchFamily="34" charset="-122"/>
                <a:cs typeface="Calibri" pitchFamily="34" charset="-120"/>
              </a:rPr>
              <a:t>This feels closer to Seiran's positioning and gives the visitor a clear reason to subscribe.</a:t>
            </a:r>
            <a:endParaRPr lang="en-US" sz="1300" dirty="0"/>
          </a:p>
        </p:txBody>
      </p:sp>
      <p:sp>
        <p:nvSpPr>
          <p:cNvPr id="17" name="Text 15"/>
          <p:cNvSpPr txBox="1"/>
          <p:nvPr/>
        </p:nvSpPr>
        <p:spPr>
          <a:xfrm>
            <a:off x="548640" y="4649114"/>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PLEASE CONFIRM</a:t>
            </a:r>
            <a:endParaRPr lang="en-US" sz="1100" dirty="0"/>
          </a:p>
        </p:txBody>
      </p:sp>
      <p:sp>
        <p:nvSpPr>
          <p:cNvPr id="18" name="Shape 16"/>
          <p:cNvSpPr/>
          <p:nvPr/>
        </p:nvSpPr>
        <p:spPr>
          <a:xfrm>
            <a:off x="548640" y="4923434"/>
            <a:ext cx="11094415" cy="25603"/>
          </a:xfrm>
          <a:prstGeom prst="rect">
            <a:avLst/>
          </a:prstGeom>
          <a:solidFill>
            <a:srgbClr val="B8965A"/>
          </a:solidFill>
          <a:ln/>
        </p:spPr>
      </p:sp>
      <p:sp>
        <p:nvSpPr>
          <p:cNvPr id="19" name="Shape 17"/>
          <p:cNvSpPr/>
          <p:nvPr/>
        </p:nvSpPr>
        <p:spPr>
          <a:xfrm>
            <a:off x="548640" y="4949038"/>
            <a:ext cx="11094415" cy="728472"/>
          </a:xfrm>
          <a:prstGeom prst="rect">
            <a:avLst/>
          </a:prstGeom>
          <a:solidFill>
            <a:srgbClr val="FBF8F1"/>
          </a:solidFill>
          <a:ln/>
        </p:spPr>
      </p:sp>
      <p:sp>
        <p:nvSpPr>
          <p:cNvPr id="20" name="Text 18"/>
          <p:cNvSpPr txBox="1"/>
          <p:nvPr/>
        </p:nvSpPr>
        <p:spPr>
          <a:xfrm>
            <a:off x="749808" y="4949038"/>
            <a:ext cx="10692079" cy="728472"/>
          </a:xfrm>
          <a:prstGeom prst="rect">
            <a:avLst/>
          </a:prstGeom>
          <a:noFill/>
          <a:ln/>
        </p:spPr>
        <p:txBody>
          <a:bodyPr wrap="square" lIns="635" tIns="635" rIns="635" bIns="635" rtlCol="0" anchor="ctr"/>
          <a:lstStyle/>
          <a:p>
            <a:pPr marL="0" indent="0">
              <a:buNone/>
            </a:pPr>
            <a:r>
              <a:rPr lang="en-US" sz="1300" dirty="0">
                <a:solidFill>
                  <a:srgbClr val="3A3A3A"/>
                </a:solidFill>
                <a:latin typeface="Calibri" pitchFamily="34" charset="0"/>
                <a:ea typeface="Calibri" pitchFamily="34" charset="-122"/>
                <a:cs typeface="Calibri" pitchFamily="34" charset="-120"/>
              </a:rPr>
              <a:t>The line “Sign-up opens once the mailing list is connected” is only an internal/development note and will not be visible to visitors on the live site.</a:t>
            </a:r>
            <a:endParaRPr lang="en-US" sz="1300" dirty="0"/>
          </a:p>
        </p:txBody>
      </p:sp>
      <p:sp>
        <p:nvSpPr>
          <p:cNvPr id="21" name="Text 19"/>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REVIEW</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10. Running bar list</a:t>
            </a:r>
            <a:endParaRPr lang="en-US" sz="2500" dirty="0"/>
          </a:p>
        </p:txBody>
      </p:sp>
      <p:sp>
        <p:nvSpPr>
          <p:cNvPr id="6" name="Text 4"/>
          <p:cNvSpPr txBox="1"/>
          <p:nvPr/>
        </p:nvSpPr>
        <p:spPr>
          <a:xfrm>
            <a:off x="548640" y="1481328"/>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ORIGINAL</a:t>
            </a:r>
            <a:endParaRPr lang="en-US" sz="1100" dirty="0"/>
          </a:p>
        </p:txBody>
      </p:sp>
      <p:sp>
        <p:nvSpPr>
          <p:cNvPr id="7" name="Shape 5"/>
          <p:cNvSpPr/>
          <p:nvPr/>
        </p:nvSpPr>
        <p:spPr>
          <a:xfrm>
            <a:off x="548640" y="1755648"/>
            <a:ext cx="11094415" cy="25603"/>
          </a:xfrm>
          <a:prstGeom prst="rect">
            <a:avLst/>
          </a:prstGeom>
          <a:solidFill>
            <a:srgbClr val="B8965A"/>
          </a:solidFill>
          <a:ln/>
        </p:spPr>
      </p:sp>
      <p:sp>
        <p:nvSpPr>
          <p:cNvPr id="8" name="Shape 6"/>
          <p:cNvSpPr/>
          <p:nvPr/>
        </p:nvSpPr>
        <p:spPr>
          <a:xfrm>
            <a:off x="548640" y="1781251"/>
            <a:ext cx="11094415" cy="762000"/>
          </a:xfrm>
          <a:prstGeom prst="rect">
            <a:avLst/>
          </a:prstGeom>
          <a:solidFill>
            <a:srgbClr val="EDEBE5"/>
          </a:solidFill>
          <a:ln/>
        </p:spPr>
      </p:sp>
      <p:sp>
        <p:nvSpPr>
          <p:cNvPr id="9" name="Text 7"/>
          <p:cNvSpPr txBox="1"/>
          <p:nvPr/>
        </p:nvSpPr>
        <p:spPr>
          <a:xfrm>
            <a:off x="749808" y="1781251"/>
            <a:ext cx="10692079" cy="762000"/>
          </a:xfrm>
          <a:prstGeom prst="rect">
            <a:avLst/>
          </a:prstGeom>
          <a:noFill/>
          <a:ln/>
        </p:spPr>
        <p:txBody>
          <a:bodyPr wrap="square" lIns="635" tIns="635" rIns="635" bIns="635" rtlCol="0" anchor="ctr"/>
          <a:lstStyle/>
          <a:p>
            <a:pPr marL="0" indent="0">
              <a:buNone/>
            </a:pPr>
            <a:r>
              <a:rPr lang="en-US" sz="1400" i="1" dirty="0">
                <a:solidFill>
                  <a:srgbClr val="3A3A3A"/>
                </a:solidFill>
                <a:latin typeface="Calibri" pitchFamily="34" charset="0"/>
                <a:ea typeface="Calibri" pitchFamily="34" charset="-122"/>
                <a:cs typeface="Calibri" pitchFamily="34" charset="-120"/>
              </a:rPr>
              <a:t>Retail · Wholesale · Food &amp; Hospitality · Professional Services · Agribusiness · Private Education · Faith-based Organisations · Owner-managed SMEs</a:t>
            </a:r>
            <a:endParaRPr lang="en-US" sz="1400" dirty="0"/>
          </a:p>
        </p:txBody>
      </p:sp>
      <p:sp>
        <p:nvSpPr>
          <p:cNvPr id="10" name="Text 8"/>
          <p:cNvSpPr txBox="1"/>
          <p:nvPr/>
        </p:nvSpPr>
        <p:spPr>
          <a:xfrm>
            <a:off x="548640" y="2707843"/>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REVISED </a:t>
            </a:r>
            <a:endParaRPr lang="en-US" sz="1100" dirty="0"/>
          </a:p>
        </p:txBody>
      </p:sp>
      <p:sp>
        <p:nvSpPr>
          <p:cNvPr id="11" name="Shape 9"/>
          <p:cNvSpPr/>
          <p:nvPr/>
        </p:nvSpPr>
        <p:spPr>
          <a:xfrm>
            <a:off x="548640" y="2982163"/>
            <a:ext cx="11094415" cy="25603"/>
          </a:xfrm>
          <a:prstGeom prst="rect">
            <a:avLst/>
          </a:prstGeom>
          <a:solidFill>
            <a:srgbClr val="B8965A"/>
          </a:solidFill>
          <a:ln/>
        </p:spPr>
      </p:sp>
      <p:sp>
        <p:nvSpPr>
          <p:cNvPr id="12" name="Shape 10"/>
          <p:cNvSpPr/>
          <p:nvPr/>
        </p:nvSpPr>
        <p:spPr>
          <a:xfrm>
            <a:off x="548640" y="3007766"/>
            <a:ext cx="11094415" cy="527304"/>
          </a:xfrm>
          <a:prstGeom prst="rect">
            <a:avLst/>
          </a:prstGeom>
          <a:solidFill>
            <a:srgbClr val="F2F0EA"/>
          </a:solidFill>
          <a:ln/>
        </p:spPr>
      </p:sp>
      <p:sp>
        <p:nvSpPr>
          <p:cNvPr id="13" name="Text 11"/>
          <p:cNvSpPr txBox="1"/>
          <p:nvPr/>
        </p:nvSpPr>
        <p:spPr>
          <a:xfrm>
            <a:off x="749808" y="3007766"/>
            <a:ext cx="10692079" cy="527304"/>
          </a:xfrm>
          <a:prstGeom prst="rect">
            <a:avLst/>
          </a:prstGeom>
          <a:noFill/>
          <a:ln/>
        </p:spPr>
        <p:txBody>
          <a:bodyPr wrap="square" lIns="635" tIns="635" rIns="635" bIns="635" rtlCol="0" anchor="ctr"/>
          <a:lstStyle/>
          <a:p>
            <a:pPr marL="0" indent="0">
              <a:buNone/>
            </a:pPr>
            <a:r>
              <a:rPr lang="en-US" sz="1400" b="1" i="1" dirty="0">
                <a:solidFill>
                  <a:srgbClr val="3A3A3A"/>
                </a:solidFill>
                <a:latin typeface="Calibri" pitchFamily="34" charset="0"/>
                <a:ea typeface="Calibri" pitchFamily="34" charset="-122"/>
                <a:cs typeface="Calibri" pitchFamily="34" charset="-120"/>
              </a:rPr>
              <a:t>CLARITY · LEADERSHIP · SYSTEMS · PEOPLE · EXECUTION · PERFORMANCE · GROWTH</a:t>
            </a:r>
            <a:endParaRPr lang="en-US" sz="1400" b="1" dirty="0"/>
          </a:p>
        </p:txBody>
      </p:sp>
      <p:sp>
        <p:nvSpPr>
          <p:cNvPr id="14" name="Text 12"/>
          <p:cNvSpPr txBox="1"/>
          <p:nvPr/>
        </p:nvSpPr>
        <p:spPr>
          <a:xfrm>
            <a:off x="548640" y="3699662"/>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REASON</a:t>
            </a:r>
            <a:endParaRPr lang="en-US" sz="1100" dirty="0"/>
          </a:p>
        </p:txBody>
      </p:sp>
      <p:sp>
        <p:nvSpPr>
          <p:cNvPr id="15" name="Shape 13"/>
          <p:cNvSpPr/>
          <p:nvPr/>
        </p:nvSpPr>
        <p:spPr>
          <a:xfrm>
            <a:off x="548640" y="3973982"/>
            <a:ext cx="11094415" cy="946404"/>
          </a:xfrm>
          <a:prstGeom prst="rect">
            <a:avLst/>
          </a:prstGeom>
          <a:solidFill>
            <a:srgbClr val="FFFFFF"/>
          </a:solidFill>
          <a:ln/>
        </p:spPr>
      </p:sp>
      <p:sp>
        <p:nvSpPr>
          <p:cNvPr id="16" name="Text 14"/>
          <p:cNvSpPr txBox="1"/>
          <p:nvPr/>
        </p:nvSpPr>
        <p:spPr>
          <a:xfrm>
            <a:off x="749808" y="3973982"/>
            <a:ext cx="10692079" cy="946404"/>
          </a:xfrm>
          <a:prstGeom prst="rect">
            <a:avLst/>
          </a:prstGeom>
          <a:noFill/>
          <a:ln/>
        </p:spPr>
        <p:txBody>
          <a:bodyPr wrap="square" lIns="635" tIns="635" rIns="635" bIns="635" rtlCol="0" anchor="ctr"/>
          <a:lstStyle/>
          <a:p>
            <a:pPr marL="0" indent="0">
              <a:buNone/>
            </a:pPr>
            <a:r>
              <a:rPr lang="en-US" sz="1300" dirty="0">
                <a:solidFill>
                  <a:srgbClr val="3A3A3A"/>
                </a:solidFill>
                <a:latin typeface="Calibri" pitchFamily="34" charset="0"/>
                <a:ea typeface="Calibri" pitchFamily="34" charset="-122"/>
                <a:cs typeface="Calibri" pitchFamily="34" charset="-120"/>
              </a:rPr>
              <a:t>Given the position of this bar immediately after “From complexity to clarity” and the 7-stage Seiran Transformation Journey, this high-visibility space can be used more strategically — to reinforce what Seiran helps businesses build and improve.</a:t>
            </a:r>
            <a:endParaRPr lang="en-US" sz="1300" dirty="0"/>
          </a:p>
        </p:txBody>
      </p:sp>
      <p:sp>
        <p:nvSpPr>
          <p:cNvPr id="17" name="Text 15"/>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REVIEW</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11. Social links — recommendation requested</a:t>
            </a:r>
            <a:endParaRPr lang="en-US" sz="2500" dirty="0"/>
          </a:p>
        </p:txBody>
      </p:sp>
      <p:sp>
        <p:nvSpPr>
          <p:cNvPr id="6" name="Text 4"/>
          <p:cNvSpPr txBox="1"/>
          <p:nvPr/>
        </p:nvSpPr>
        <p:spPr>
          <a:xfrm>
            <a:off x="548640" y="1481328"/>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QUESTION</a:t>
            </a:r>
            <a:endParaRPr lang="en-US" sz="1100" dirty="0"/>
          </a:p>
        </p:txBody>
      </p:sp>
      <p:sp>
        <p:nvSpPr>
          <p:cNvPr id="7" name="Shape 5"/>
          <p:cNvSpPr/>
          <p:nvPr/>
        </p:nvSpPr>
        <p:spPr>
          <a:xfrm>
            <a:off x="548640" y="1755648"/>
            <a:ext cx="11094415" cy="25603"/>
          </a:xfrm>
          <a:prstGeom prst="rect">
            <a:avLst/>
          </a:prstGeom>
          <a:solidFill>
            <a:srgbClr val="B8965A"/>
          </a:solidFill>
          <a:ln/>
        </p:spPr>
      </p:sp>
      <p:sp>
        <p:nvSpPr>
          <p:cNvPr id="8" name="Shape 6"/>
          <p:cNvSpPr/>
          <p:nvPr/>
        </p:nvSpPr>
        <p:spPr>
          <a:xfrm>
            <a:off x="548640" y="1781251"/>
            <a:ext cx="11094415" cy="1231392"/>
          </a:xfrm>
          <a:prstGeom prst="rect">
            <a:avLst/>
          </a:prstGeom>
          <a:solidFill>
            <a:srgbClr val="EDEBE5"/>
          </a:solidFill>
          <a:ln/>
        </p:spPr>
      </p:sp>
      <p:sp>
        <p:nvSpPr>
          <p:cNvPr id="9" name="Text 7"/>
          <p:cNvSpPr txBox="1"/>
          <p:nvPr/>
        </p:nvSpPr>
        <p:spPr>
          <a:xfrm>
            <a:off x="749808" y="1781251"/>
            <a:ext cx="10692079" cy="1231392"/>
          </a:xfrm>
          <a:prstGeom prst="rect">
            <a:avLst/>
          </a:prstGeom>
          <a:noFill/>
          <a:ln/>
        </p:spPr>
        <p:txBody>
          <a:bodyPr wrap="square" lIns="635" tIns="635" rIns="635" bIns="635" rtlCol="0" anchor="ctr"/>
          <a:lstStyle/>
          <a:p>
            <a:pPr marL="0" indent="0">
              <a:buNone/>
            </a:pPr>
            <a:r>
              <a:rPr lang="en-US" sz="1400" i="1" dirty="0">
                <a:solidFill>
                  <a:srgbClr val="3A3A3A"/>
                </a:solidFill>
                <a:latin typeface="Calibri" pitchFamily="34" charset="0"/>
                <a:ea typeface="Calibri" pitchFamily="34" charset="-122"/>
                <a:cs typeface="Calibri" pitchFamily="34" charset="-120"/>
              </a:rPr>
              <a:t>LinkedIn is currently the only social link included. From a website and brand perspective, would you recommend maintaining LinkedIn only for now, or including other Seiran social channels as well? Please share a recommendation based on what is most appropriate for the website at this stage.</a:t>
            </a:r>
            <a:endParaRPr lang="en-US" sz="1400" dirty="0"/>
          </a:p>
        </p:txBody>
      </p:sp>
      <p:sp>
        <p:nvSpPr>
          <p:cNvPr id="10" name="Text 8"/>
          <p:cNvSpPr txBox="1"/>
          <p:nvPr/>
        </p:nvSpPr>
        <p:spPr>
          <a:xfrm>
            <a:off x="548640" y="3177235"/>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IWHAT SHOULD BE SHARED FOR SOCIAL PAGES </a:t>
            </a:r>
            <a:endParaRPr lang="en-US" sz="1100" dirty="0"/>
          </a:p>
        </p:txBody>
      </p:sp>
      <p:sp>
        <p:nvSpPr>
          <p:cNvPr id="11" name="Shape 9"/>
          <p:cNvSpPr/>
          <p:nvPr/>
        </p:nvSpPr>
        <p:spPr>
          <a:xfrm>
            <a:off x="548640" y="3451555"/>
            <a:ext cx="11094415" cy="510540"/>
          </a:xfrm>
          <a:prstGeom prst="rect">
            <a:avLst/>
          </a:prstGeom>
          <a:solidFill>
            <a:srgbClr val="F2F0EA"/>
          </a:solidFill>
          <a:ln/>
        </p:spPr>
      </p:sp>
      <p:sp>
        <p:nvSpPr>
          <p:cNvPr id="12" name="Text 10"/>
          <p:cNvSpPr txBox="1"/>
          <p:nvPr/>
        </p:nvSpPr>
        <p:spPr>
          <a:xfrm>
            <a:off x="749808" y="3451555"/>
            <a:ext cx="10692079" cy="510540"/>
          </a:xfrm>
          <a:prstGeom prst="rect">
            <a:avLst/>
          </a:prstGeom>
          <a:noFill/>
          <a:ln/>
        </p:spPr>
        <p:txBody>
          <a:bodyPr wrap="square" lIns="635" tIns="635" rIns="635" bIns="635" rtlCol="0" anchor="ctr"/>
          <a:lstStyle/>
          <a:p>
            <a:pPr marL="0" indent="0">
              <a:buNone/>
            </a:pPr>
            <a:r>
              <a:rPr lang="en-US" sz="1300" b="1" dirty="0">
                <a:solidFill>
                  <a:srgbClr val="3A3A3A"/>
                </a:solidFill>
                <a:latin typeface="Calibri" pitchFamily="34" charset="0"/>
                <a:ea typeface="Calibri" pitchFamily="34" charset="-122"/>
                <a:cs typeface="Calibri" pitchFamily="34" charset="-120"/>
              </a:rPr>
              <a:t>1.</a:t>
            </a:r>
            <a:endParaRPr lang="en-US" sz="1300" dirty="0"/>
          </a:p>
        </p:txBody>
      </p:sp>
      <p:sp>
        <p:nvSpPr>
          <p:cNvPr id="13" name="Text 11"/>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REVIEW</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12. Location &amp; official telephone number update</a:t>
            </a:r>
            <a:endParaRPr lang="en-US" sz="2500" dirty="0"/>
          </a:p>
        </p:txBody>
      </p:sp>
      <p:sp>
        <p:nvSpPr>
          <p:cNvPr id="6" name="Text 4"/>
          <p:cNvSpPr txBox="1"/>
          <p:nvPr/>
        </p:nvSpPr>
        <p:spPr>
          <a:xfrm>
            <a:off x="548640" y="1481328"/>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UPDATE LOCATION TO</a:t>
            </a:r>
            <a:endParaRPr lang="en-US" sz="1100" dirty="0"/>
          </a:p>
        </p:txBody>
      </p:sp>
      <p:sp>
        <p:nvSpPr>
          <p:cNvPr id="7" name="Shape 5"/>
          <p:cNvSpPr/>
          <p:nvPr/>
        </p:nvSpPr>
        <p:spPr>
          <a:xfrm>
            <a:off x="548640" y="1755648"/>
            <a:ext cx="11094415" cy="25603"/>
          </a:xfrm>
          <a:prstGeom prst="rect">
            <a:avLst/>
          </a:prstGeom>
          <a:solidFill>
            <a:srgbClr val="B8965A"/>
          </a:solidFill>
          <a:ln/>
        </p:spPr>
      </p:sp>
      <p:sp>
        <p:nvSpPr>
          <p:cNvPr id="8" name="Shape 6"/>
          <p:cNvSpPr/>
          <p:nvPr/>
        </p:nvSpPr>
        <p:spPr>
          <a:xfrm>
            <a:off x="548640" y="1781251"/>
            <a:ext cx="11094415" cy="544068"/>
          </a:xfrm>
          <a:prstGeom prst="rect">
            <a:avLst/>
          </a:prstGeom>
          <a:solidFill>
            <a:srgbClr val="EDEBE5"/>
          </a:solidFill>
          <a:ln/>
        </p:spPr>
      </p:sp>
      <p:sp>
        <p:nvSpPr>
          <p:cNvPr id="9" name="Text 7"/>
          <p:cNvSpPr txBox="1"/>
          <p:nvPr/>
        </p:nvSpPr>
        <p:spPr>
          <a:xfrm>
            <a:off x="749808" y="1781251"/>
            <a:ext cx="10692079" cy="544068"/>
          </a:xfrm>
          <a:prstGeom prst="rect">
            <a:avLst/>
          </a:prstGeom>
          <a:noFill/>
          <a:ln/>
        </p:spPr>
        <p:txBody>
          <a:bodyPr wrap="square" lIns="635" tIns="635" rIns="635" bIns="635" rtlCol="0" anchor="ctr"/>
          <a:lstStyle/>
          <a:p>
            <a:pPr marL="0" indent="0">
              <a:buNone/>
            </a:pPr>
            <a:r>
              <a:rPr lang="en-US" sz="1500" b="1" dirty="0">
                <a:solidFill>
                  <a:srgbClr val="3A3A3A"/>
                </a:solidFill>
                <a:latin typeface="Calibri" pitchFamily="34" charset="0"/>
                <a:ea typeface="Calibri" pitchFamily="34" charset="-122"/>
                <a:cs typeface="Calibri" pitchFamily="34" charset="-120"/>
              </a:rPr>
              <a:t>Nairobi Garage — Spring Valley</a:t>
            </a:r>
            <a:endParaRPr lang="en-US" sz="1500" dirty="0"/>
          </a:p>
          <a:p>
            <a:pPr marL="0" indent="0">
              <a:buNone/>
            </a:pPr>
            <a:r>
              <a:rPr lang="en-US" sz="1500" b="1" dirty="0">
                <a:solidFill>
                  <a:srgbClr val="3A3A3A"/>
                </a:solidFill>
                <a:latin typeface="Calibri" pitchFamily="34" charset="0"/>
                <a:ea typeface="Calibri" pitchFamily="34" charset="-122"/>
                <a:cs typeface="Calibri" pitchFamily="34" charset="-120"/>
              </a:rPr>
              <a:t>The Promenade, General Mathenge Drive, Nairobi</a:t>
            </a:r>
            <a:endParaRPr lang="en-US" sz="1500" dirty="0"/>
          </a:p>
        </p:txBody>
      </p:sp>
      <p:sp>
        <p:nvSpPr>
          <p:cNvPr id="10" name="Text 8"/>
          <p:cNvSpPr txBox="1"/>
          <p:nvPr/>
        </p:nvSpPr>
        <p:spPr>
          <a:xfrm>
            <a:off x="548640" y="2489911"/>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MOBILE NUMBER</a:t>
            </a:r>
            <a:endParaRPr lang="en-US" sz="1100" dirty="0"/>
          </a:p>
        </p:txBody>
      </p:sp>
      <p:sp>
        <p:nvSpPr>
          <p:cNvPr id="11" name="Shape 9"/>
          <p:cNvSpPr/>
          <p:nvPr/>
        </p:nvSpPr>
        <p:spPr>
          <a:xfrm>
            <a:off x="548640" y="2764231"/>
            <a:ext cx="11094415" cy="544068"/>
          </a:xfrm>
          <a:prstGeom prst="rect">
            <a:avLst/>
          </a:prstGeom>
          <a:solidFill>
            <a:srgbClr val="F2F0EA"/>
          </a:solidFill>
          <a:ln/>
        </p:spPr>
      </p:sp>
      <p:sp>
        <p:nvSpPr>
          <p:cNvPr id="12" name="Text 10"/>
          <p:cNvSpPr txBox="1"/>
          <p:nvPr/>
        </p:nvSpPr>
        <p:spPr>
          <a:xfrm>
            <a:off x="749808" y="2764231"/>
            <a:ext cx="10692079" cy="544068"/>
          </a:xfrm>
          <a:prstGeom prst="rect">
            <a:avLst/>
          </a:prstGeom>
          <a:noFill/>
          <a:ln/>
        </p:spPr>
        <p:txBody>
          <a:bodyPr wrap="square" lIns="635" tIns="635" rIns="635" bIns="635" rtlCol="0" anchor="ctr"/>
          <a:lstStyle/>
          <a:p>
            <a:pPr marL="0" indent="0">
              <a:buNone/>
            </a:pPr>
            <a:r>
              <a:rPr lang="en-US" sz="1500" b="1" dirty="0">
                <a:solidFill>
                  <a:srgbClr val="3A3A3A"/>
                </a:solidFill>
                <a:latin typeface="Calibri" pitchFamily="34" charset="0"/>
                <a:ea typeface="Calibri" pitchFamily="34" charset="-122"/>
                <a:cs typeface="Calibri" pitchFamily="34" charset="-120"/>
              </a:rPr>
              <a:t>0180357040</a:t>
            </a:r>
            <a:endParaRPr lang="en-US" sz="1500" dirty="0"/>
          </a:p>
        </p:txBody>
      </p:sp>
      <p:sp>
        <p:nvSpPr>
          <p:cNvPr id="13" name="Text 11"/>
          <p:cNvSpPr txBox="1"/>
          <p:nvPr/>
        </p:nvSpPr>
        <p:spPr>
          <a:xfrm>
            <a:off x="548640" y="3472891"/>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INSTRUCTION</a:t>
            </a:r>
            <a:endParaRPr lang="en-US" sz="1100" dirty="0"/>
          </a:p>
        </p:txBody>
      </p:sp>
      <p:sp>
        <p:nvSpPr>
          <p:cNvPr id="14" name="Shape 12"/>
          <p:cNvSpPr/>
          <p:nvPr/>
        </p:nvSpPr>
        <p:spPr>
          <a:xfrm>
            <a:off x="548640" y="3747211"/>
            <a:ext cx="11094415" cy="728472"/>
          </a:xfrm>
          <a:prstGeom prst="rect">
            <a:avLst/>
          </a:prstGeom>
          <a:solidFill>
            <a:srgbClr val="FBF8F1"/>
          </a:solidFill>
          <a:ln/>
        </p:spPr>
      </p:sp>
      <p:sp>
        <p:nvSpPr>
          <p:cNvPr id="15" name="Text 13"/>
          <p:cNvSpPr txBox="1"/>
          <p:nvPr/>
        </p:nvSpPr>
        <p:spPr>
          <a:xfrm>
            <a:off x="749808" y="3747211"/>
            <a:ext cx="10692079" cy="728472"/>
          </a:xfrm>
          <a:prstGeom prst="rect">
            <a:avLst/>
          </a:prstGeom>
          <a:noFill/>
          <a:ln/>
        </p:spPr>
        <p:txBody>
          <a:bodyPr wrap="square" lIns="635" tIns="635" rIns="635" bIns="635" rtlCol="0" anchor="ctr"/>
          <a:lstStyle/>
          <a:p>
            <a:pPr marL="0" indent="0">
              <a:buNone/>
            </a:pPr>
            <a:r>
              <a:rPr lang="en-US" sz="1300" i="1" dirty="0">
                <a:solidFill>
                  <a:srgbClr val="3A3A3A"/>
                </a:solidFill>
                <a:latin typeface="Calibri" pitchFamily="34" charset="0"/>
                <a:ea typeface="Calibri" pitchFamily="34" charset="-122"/>
                <a:cs typeface="Calibri" pitchFamily="34" charset="-120"/>
              </a:rPr>
              <a:t>Please update this wherever the current Nairobi Garage / Westlands location appears — including the footer, the Contact section, and any other reference on the site.</a:t>
            </a:r>
            <a:endParaRPr lang="en-US" sz="1300" dirty="0"/>
          </a:p>
        </p:txBody>
      </p:sp>
      <p:sp>
        <p:nvSpPr>
          <p:cNvPr id="16" name="Text 14"/>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REVIEW</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B8965A"/>
          </a:solidFill>
          <a:ln/>
        </p:spPr>
      </p:sp>
      <p:sp>
        <p:nvSpPr>
          <p:cNvPr id="3" name="Text 1"/>
          <p:cNvSpPr txBox="1"/>
          <p:nvPr/>
        </p:nvSpPr>
        <p:spPr>
          <a:xfrm>
            <a:off x="548640" y="2377440"/>
            <a:ext cx="7315200" cy="365760"/>
          </a:xfrm>
          <a:prstGeom prst="rect">
            <a:avLst/>
          </a:prstGeom>
          <a:noFill/>
          <a:ln/>
        </p:spPr>
        <p:txBody>
          <a:bodyPr wrap="square" lIns="0" tIns="0" rIns="0" bIns="0" rtlCol="0" anchor="ctr"/>
          <a:lstStyle/>
          <a:p>
            <a:pPr marL="0" indent="0">
              <a:buNone/>
            </a:pPr>
            <a:r>
              <a:rPr lang="en-US" sz="1400" b="1" kern="0" spc="200" dirty="0">
                <a:solidFill>
                  <a:srgbClr val="7D6230"/>
                </a:solidFill>
                <a:latin typeface="Calibri" pitchFamily="34" charset="0"/>
                <a:ea typeface="Calibri" pitchFamily="34" charset="-122"/>
                <a:cs typeface="Calibri" pitchFamily="34" charset="-120"/>
              </a:rPr>
              <a:t>SECTION 02</a:t>
            </a:r>
            <a:endParaRPr lang="en-US" sz="1400" dirty="0"/>
          </a:p>
        </p:txBody>
      </p:sp>
      <p:sp>
        <p:nvSpPr>
          <p:cNvPr id="4" name="Text 2"/>
          <p:cNvSpPr txBox="1"/>
          <p:nvPr/>
        </p:nvSpPr>
        <p:spPr>
          <a:xfrm>
            <a:off x="548640" y="2743200"/>
            <a:ext cx="9601200" cy="1097280"/>
          </a:xfrm>
          <a:prstGeom prst="rect">
            <a:avLst/>
          </a:prstGeom>
          <a:noFill/>
          <a:ln/>
        </p:spPr>
        <p:txBody>
          <a:bodyPr wrap="square" lIns="0" tIns="0" rIns="0" bIns="0"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Who We Are</a:t>
            </a:r>
            <a:endParaRPr lang="en-US" sz="4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1. “The idea behind Seiran”</a:t>
            </a:r>
            <a:endParaRPr lang="en-US" sz="2500" dirty="0"/>
          </a:p>
        </p:txBody>
      </p:sp>
      <p:sp>
        <p:nvSpPr>
          <p:cNvPr id="6" name="Text 4"/>
          <p:cNvSpPr txBox="1"/>
          <p:nvPr/>
        </p:nvSpPr>
        <p:spPr>
          <a:xfrm>
            <a:off x="548640" y="1481328"/>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ORIGINAL</a:t>
            </a:r>
            <a:endParaRPr lang="en-US" sz="1100" dirty="0"/>
          </a:p>
        </p:txBody>
      </p:sp>
      <p:sp>
        <p:nvSpPr>
          <p:cNvPr id="7" name="Shape 5"/>
          <p:cNvSpPr/>
          <p:nvPr/>
        </p:nvSpPr>
        <p:spPr>
          <a:xfrm>
            <a:off x="548640" y="1755648"/>
            <a:ext cx="11094415" cy="25603"/>
          </a:xfrm>
          <a:prstGeom prst="rect">
            <a:avLst/>
          </a:prstGeom>
          <a:solidFill>
            <a:srgbClr val="B8965A"/>
          </a:solidFill>
          <a:ln/>
        </p:spPr>
      </p:sp>
      <p:sp>
        <p:nvSpPr>
          <p:cNvPr id="8" name="Shape 6"/>
          <p:cNvSpPr/>
          <p:nvPr/>
        </p:nvSpPr>
        <p:spPr>
          <a:xfrm>
            <a:off x="548640" y="1781251"/>
            <a:ext cx="11094415" cy="527304"/>
          </a:xfrm>
          <a:prstGeom prst="rect">
            <a:avLst/>
          </a:prstGeom>
          <a:solidFill>
            <a:srgbClr val="EDEBE5"/>
          </a:solidFill>
          <a:ln/>
        </p:spPr>
      </p:sp>
      <p:sp>
        <p:nvSpPr>
          <p:cNvPr id="9" name="Text 7"/>
          <p:cNvSpPr txBox="1"/>
          <p:nvPr/>
        </p:nvSpPr>
        <p:spPr>
          <a:xfrm>
            <a:off x="749808" y="1781251"/>
            <a:ext cx="10692079" cy="527304"/>
          </a:xfrm>
          <a:prstGeom prst="rect">
            <a:avLst/>
          </a:prstGeom>
          <a:noFill/>
          <a:ln/>
        </p:spPr>
        <p:txBody>
          <a:bodyPr wrap="square" lIns="635" tIns="635" rIns="635" bIns="635" rtlCol="0" anchor="ctr"/>
          <a:lstStyle/>
          <a:p>
            <a:pPr marL="0" indent="0">
              <a:buNone/>
            </a:pPr>
            <a:r>
              <a:rPr lang="en-US" sz="1400" i="1" dirty="0">
                <a:solidFill>
                  <a:srgbClr val="3A3A3A"/>
                </a:solidFill>
                <a:latin typeface="Calibri" pitchFamily="34" charset="0"/>
                <a:ea typeface="Calibri" pitchFamily="34" charset="-122"/>
                <a:cs typeface="Calibri" pitchFamily="34" charset="-120"/>
              </a:rPr>
              <a:t>Seiran means a clear sky after a storm.</a:t>
            </a:r>
            <a:endParaRPr lang="en-US" sz="1400" dirty="0"/>
          </a:p>
        </p:txBody>
      </p:sp>
      <p:sp>
        <p:nvSpPr>
          <p:cNvPr id="10" name="Text 8"/>
          <p:cNvSpPr txBox="1"/>
          <p:nvPr/>
        </p:nvSpPr>
        <p:spPr>
          <a:xfrm>
            <a:off x="548640" y="2473147"/>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CONTEXT TO USE</a:t>
            </a:r>
            <a:endParaRPr lang="en-US" sz="1100" dirty="0"/>
          </a:p>
        </p:txBody>
      </p:sp>
      <p:sp>
        <p:nvSpPr>
          <p:cNvPr id="11" name="Shape 9"/>
          <p:cNvSpPr/>
          <p:nvPr/>
        </p:nvSpPr>
        <p:spPr>
          <a:xfrm>
            <a:off x="548640" y="2747467"/>
            <a:ext cx="11094415" cy="1969008"/>
          </a:xfrm>
          <a:prstGeom prst="rect">
            <a:avLst/>
          </a:prstGeom>
          <a:solidFill>
            <a:srgbClr val="F2F0EA"/>
          </a:solidFill>
          <a:ln/>
        </p:spPr>
      </p:sp>
      <p:sp>
        <p:nvSpPr>
          <p:cNvPr id="12" name="Text 10"/>
          <p:cNvSpPr txBox="1"/>
          <p:nvPr/>
        </p:nvSpPr>
        <p:spPr>
          <a:xfrm>
            <a:off x="749808" y="2747467"/>
            <a:ext cx="10692079" cy="1969008"/>
          </a:xfrm>
          <a:prstGeom prst="rect">
            <a:avLst/>
          </a:prstGeom>
          <a:noFill/>
          <a:ln/>
        </p:spPr>
        <p:txBody>
          <a:bodyPr wrap="square" lIns="635" tIns="635" rIns="635" bIns="635" rtlCol="0" anchor="ctr"/>
          <a:lstStyle/>
          <a:p>
            <a:pPr marL="0" indent="0">
              <a:buNone/>
            </a:pPr>
            <a:r>
              <a:rPr lang="en-US" sz="1250" dirty="0">
                <a:solidFill>
                  <a:srgbClr val="3A3A3A"/>
                </a:solidFill>
                <a:latin typeface="Calibri" pitchFamily="34" charset="0"/>
                <a:ea typeface="Calibri" pitchFamily="34" charset="-122"/>
                <a:cs typeface="Calibri" pitchFamily="34" charset="-120"/>
              </a:rPr>
              <a:t>We can keep “A clear sky after a storm” as the anchor phrase / heading. Seiran is inspired by the Japanese word seiran (晴嵐), traditionally associated with mountain haze or wind on a clear day — an image of movement, atmosphere and clarity emerging together. For us, the name became a metaphor for what happens when an organisation moves through uncertainty and complexity toward greater clarity, stronger leadership and sustainable growth. The storm is the uncertainty, disorder and pressure organisations face as they grow. The clear sky represents what becomes possible when that complexity is understood, addressed and transformed. That is the idea behind Seiran: helping organisations move from complexity to clarity, and from clarity to lasting capability.</a:t>
            </a:r>
            <a:endParaRPr lang="en-US" sz="1250" dirty="0"/>
          </a:p>
        </p:txBody>
      </p:sp>
      <p:sp>
        <p:nvSpPr>
          <p:cNvPr id="13" name="Text 11"/>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REVIEW</a:t>
            </a:r>
            <a:endParaRPr lang="en-US" sz="900" dirty="0"/>
          </a:p>
        </p:txBody>
      </p:sp>
      <p:sp>
        <p:nvSpPr>
          <p:cNvPr id="19" name="Text 6">
            <a:extLst>
              <a:ext uri="{FF2B5EF4-FFF2-40B4-BE49-F238E27FC236}">
                <a16:creationId xmlns:a16="http://schemas.microsoft.com/office/drawing/2014/main" id="{D34F1DE0-E9C7-D72F-B793-466B9F6BAF69}"/>
              </a:ext>
            </a:extLst>
          </p:cNvPr>
          <p:cNvSpPr txBox="1"/>
          <p:nvPr/>
        </p:nvSpPr>
        <p:spPr>
          <a:xfrm>
            <a:off x="548640" y="4870196"/>
            <a:ext cx="10692079" cy="1046988"/>
          </a:xfrm>
          <a:prstGeom prst="rect">
            <a:avLst/>
          </a:prstGeom>
          <a:noFill/>
          <a:ln/>
        </p:spPr>
        <p:txBody>
          <a:bodyPr wrap="square" lIns="635" tIns="635" rIns="635" bIns="635" rtlCol="0" anchor="ctr"/>
          <a:lstStyle/>
          <a:p>
            <a:pPr marL="0" indent="0">
              <a:buNone/>
            </a:pPr>
            <a:r>
              <a:rPr lang="en-US" sz="1500" dirty="0">
                <a:solidFill>
                  <a:srgbClr val="3A3A3A"/>
                </a:solidFill>
                <a:latin typeface="Calibri" pitchFamily="34" charset="0"/>
                <a:ea typeface="Calibri" pitchFamily="34" charset="-122"/>
                <a:cs typeface="Calibri" pitchFamily="34" charset="-120"/>
              </a:rPr>
              <a:t>If space is limited, the wording can be revised or shortened — but it must be based on this concept (the metaphorical/etymological nuance), not simply reduced to “Seiran means clear sky after a storm.”</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2. Where the name comes from — business vs. organisation</a:t>
            </a:r>
            <a:endParaRPr lang="en-US" sz="2500" dirty="0"/>
          </a:p>
        </p:txBody>
      </p:sp>
      <p:sp>
        <p:nvSpPr>
          <p:cNvPr id="6" name="Text 4"/>
          <p:cNvSpPr txBox="1"/>
          <p:nvPr/>
        </p:nvSpPr>
        <p:spPr>
          <a:xfrm>
            <a:off x="548640" y="1481328"/>
            <a:ext cx="5364328" cy="256032"/>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ORIGINAL</a:t>
            </a:r>
            <a:endParaRPr lang="en-US" sz="1100" dirty="0"/>
          </a:p>
        </p:txBody>
      </p:sp>
      <p:sp>
        <p:nvSpPr>
          <p:cNvPr id="7" name="Text 5"/>
          <p:cNvSpPr txBox="1"/>
          <p:nvPr/>
        </p:nvSpPr>
        <p:spPr>
          <a:xfrm>
            <a:off x="6278728" y="1481328"/>
            <a:ext cx="5364328" cy="256032"/>
          </a:xfrm>
          <a:prstGeom prst="rect">
            <a:avLst/>
          </a:prstGeom>
          <a:noFill/>
          <a:ln/>
        </p:spPr>
        <p:txBody>
          <a:bodyPr wrap="square" lIns="0" tIns="0" rIns="0" bIns="0" rtlCol="0" anchor="ctr"/>
          <a:lstStyle/>
          <a:p>
            <a:pPr marL="0" indent="0">
              <a:buNone/>
            </a:pPr>
            <a:r>
              <a:rPr lang="en-US" sz="1100" b="1" kern="0" spc="100" dirty="0">
                <a:solidFill>
                  <a:srgbClr val="7D6230"/>
                </a:solidFill>
                <a:latin typeface="Calibri" pitchFamily="34" charset="0"/>
                <a:ea typeface="Calibri" pitchFamily="34" charset="-122"/>
                <a:cs typeface="Calibri" pitchFamily="34" charset="-120"/>
              </a:rPr>
              <a:t>REVISED</a:t>
            </a:r>
            <a:endParaRPr lang="en-US" sz="1100" dirty="0"/>
          </a:p>
        </p:txBody>
      </p:sp>
      <p:sp>
        <p:nvSpPr>
          <p:cNvPr id="8" name="Shape 6"/>
          <p:cNvSpPr/>
          <p:nvPr/>
        </p:nvSpPr>
        <p:spPr>
          <a:xfrm>
            <a:off x="548640" y="1773936"/>
            <a:ext cx="5364328" cy="728472"/>
          </a:xfrm>
          <a:prstGeom prst="rect">
            <a:avLst/>
          </a:prstGeom>
          <a:solidFill>
            <a:srgbClr val="EDEBE5"/>
          </a:solidFill>
          <a:ln/>
        </p:spPr>
      </p:sp>
      <p:sp>
        <p:nvSpPr>
          <p:cNvPr id="9" name="Text 7"/>
          <p:cNvSpPr txBox="1"/>
          <p:nvPr/>
        </p:nvSpPr>
        <p:spPr>
          <a:xfrm>
            <a:off x="685800" y="1773936"/>
            <a:ext cx="5090008" cy="728472"/>
          </a:xfrm>
          <a:prstGeom prst="rect">
            <a:avLst/>
          </a:prstGeom>
          <a:noFill/>
          <a:ln/>
        </p:spPr>
        <p:txBody>
          <a:bodyPr wrap="square" lIns="635" tIns="635" rIns="635" bIns="635" rtlCol="0" anchor="ctr"/>
          <a:lstStyle/>
          <a:p>
            <a:pPr marL="0" indent="0">
              <a:buNone/>
            </a:pPr>
            <a:r>
              <a:rPr lang="en-US" sz="1300" i="1" dirty="0">
                <a:solidFill>
                  <a:srgbClr val="3A3A3A"/>
                </a:solidFill>
                <a:latin typeface="Calibri" pitchFamily="34" charset="0"/>
                <a:ea typeface="Calibri" pitchFamily="34" charset="-122"/>
                <a:cs typeface="Calibri" pitchFamily="34" charset="-120"/>
              </a:rPr>
              <a:t>A. What worked when an organisation was small stops working as it scales.</a:t>
            </a:r>
            <a:endParaRPr lang="en-US" sz="1300" dirty="0"/>
          </a:p>
        </p:txBody>
      </p:sp>
      <p:sp>
        <p:nvSpPr>
          <p:cNvPr id="10" name="Shape 8"/>
          <p:cNvSpPr/>
          <p:nvPr/>
        </p:nvSpPr>
        <p:spPr>
          <a:xfrm>
            <a:off x="6278728" y="1773936"/>
            <a:ext cx="5364328" cy="728472"/>
          </a:xfrm>
          <a:prstGeom prst="rect">
            <a:avLst/>
          </a:prstGeom>
          <a:solidFill>
            <a:srgbClr val="F2F0EA"/>
          </a:solidFill>
          <a:ln/>
        </p:spPr>
      </p:sp>
      <p:sp>
        <p:nvSpPr>
          <p:cNvPr id="11" name="Text 9"/>
          <p:cNvSpPr txBox="1"/>
          <p:nvPr/>
        </p:nvSpPr>
        <p:spPr>
          <a:xfrm>
            <a:off x="6415888" y="1773936"/>
            <a:ext cx="5090008" cy="728472"/>
          </a:xfrm>
          <a:prstGeom prst="rect">
            <a:avLst/>
          </a:prstGeom>
          <a:noFill/>
          <a:ln/>
        </p:spPr>
        <p:txBody>
          <a:bodyPr wrap="square" lIns="635" tIns="635" rIns="635" bIns="635" rtlCol="0" anchor="ctr"/>
          <a:lstStyle/>
          <a:p>
            <a:pPr marL="0" indent="0">
              <a:buNone/>
            </a:pPr>
            <a:r>
              <a:rPr lang="en-US" sz="1300" b="1" i="1" dirty="0">
                <a:solidFill>
                  <a:srgbClr val="3A3A3A"/>
                </a:solidFill>
                <a:latin typeface="Calibri" pitchFamily="34" charset="0"/>
                <a:ea typeface="Calibri" pitchFamily="34" charset="-122"/>
                <a:cs typeface="Calibri" pitchFamily="34" charset="-120"/>
              </a:rPr>
              <a:t>A. What worked when a business was small stops working as it scales</a:t>
            </a:r>
            <a:r>
              <a:rPr lang="en-US" sz="1300" i="1" dirty="0">
                <a:solidFill>
                  <a:srgbClr val="3A3A3A"/>
                </a:solidFill>
                <a:latin typeface="Calibri" pitchFamily="34" charset="0"/>
                <a:ea typeface="Calibri" pitchFamily="34" charset="-122"/>
                <a:cs typeface="Calibri" pitchFamily="34" charset="-120"/>
              </a:rPr>
              <a:t>.</a:t>
            </a:r>
            <a:endParaRPr lang="en-US" sz="1300" dirty="0"/>
          </a:p>
        </p:txBody>
      </p:sp>
      <p:sp>
        <p:nvSpPr>
          <p:cNvPr id="12" name="Shape 10"/>
          <p:cNvSpPr/>
          <p:nvPr/>
        </p:nvSpPr>
        <p:spPr>
          <a:xfrm>
            <a:off x="548640" y="2685288"/>
            <a:ext cx="5364328" cy="1164336"/>
          </a:xfrm>
          <a:prstGeom prst="rect">
            <a:avLst/>
          </a:prstGeom>
          <a:solidFill>
            <a:srgbClr val="EDEBE5"/>
          </a:solidFill>
          <a:ln/>
        </p:spPr>
      </p:sp>
      <p:sp>
        <p:nvSpPr>
          <p:cNvPr id="13" name="Text 11"/>
          <p:cNvSpPr txBox="1"/>
          <p:nvPr/>
        </p:nvSpPr>
        <p:spPr>
          <a:xfrm>
            <a:off x="685800" y="2685288"/>
            <a:ext cx="5090008" cy="1164336"/>
          </a:xfrm>
          <a:prstGeom prst="rect">
            <a:avLst/>
          </a:prstGeom>
          <a:noFill/>
          <a:ln/>
        </p:spPr>
        <p:txBody>
          <a:bodyPr wrap="square" lIns="635" tIns="635" rIns="635" bIns="635" rtlCol="0" anchor="ctr"/>
          <a:lstStyle/>
          <a:p>
            <a:pPr marL="0" indent="0">
              <a:buNone/>
            </a:pPr>
            <a:r>
              <a:rPr lang="en-US" sz="1300" i="1" dirty="0">
                <a:solidFill>
                  <a:srgbClr val="3A3A3A"/>
                </a:solidFill>
                <a:latin typeface="Calibri" pitchFamily="34" charset="0"/>
                <a:ea typeface="Calibri" pitchFamily="34" charset="-122"/>
                <a:cs typeface="Calibri" pitchFamily="34" charset="-120"/>
              </a:rPr>
              <a:t>B. Businesses grow, and complexity grows with them. The founder cannot keep carrying everything, and the habits that built the business start to hold it back.</a:t>
            </a:r>
            <a:endParaRPr lang="en-US" sz="1300" dirty="0"/>
          </a:p>
        </p:txBody>
      </p:sp>
      <p:sp>
        <p:nvSpPr>
          <p:cNvPr id="14" name="Shape 12"/>
          <p:cNvSpPr/>
          <p:nvPr/>
        </p:nvSpPr>
        <p:spPr>
          <a:xfrm>
            <a:off x="6278728" y="2685288"/>
            <a:ext cx="5364328" cy="1164336"/>
          </a:xfrm>
          <a:prstGeom prst="rect">
            <a:avLst/>
          </a:prstGeom>
          <a:solidFill>
            <a:srgbClr val="F2F0EA"/>
          </a:solidFill>
          <a:ln/>
        </p:spPr>
      </p:sp>
      <p:sp>
        <p:nvSpPr>
          <p:cNvPr id="15" name="Text 13"/>
          <p:cNvSpPr txBox="1"/>
          <p:nvPr/>
        </p:nvSpPr>
        <p:spPr>
          <a:xfrm>
            <a:off x="6415888" y="2685288"/>
            <a:ext cx="5090008" cy="1164336"/>
          </a:xfrm>
          <a:prstGeom prst="rect">
            <a:avLst/>
          </a:prstGeom>
          <a:noFill/>
          <a:ln/>
        </p:spPr>
        <p:txBody>
          <a:bodyPr wrap="square" lIns="635" tIns="635" rIns="635" bIns="635" rtlCol="0" anchor="ctr"/>
          <a:lstStyle/>
          <a:p>
            <a:pPr marL="0" indent="0">
              <a:buNone/>
            </a:pPr>
            <a:r>
              <a:rPr lang="en-US" sz="1300" b="1" i="1" dirty="0">
                <a:solidFill>
                  <a:srgbClr val="3A3A3A"/>
                </a:solidFill>
                <a:latin typeface="Calibri" pitchFamily="34" charset="0"/>
                <a:ea typeface="Calibri" pitchFamily="34" charset="-122"/>
                <a:cs typeface="Calibri" pitchFamily="34" charset="-120"/>
              </a:rPr>
              <a:t>B. Businesses grow, and complexity grows with them. The ways of working, decisions and structures that served the business when it was smaller can start to constrain it as it grows.</a:t>
            </a:r>
            <a:endParaRPr lang="en-US" sz="1300" b="1" dirty="0"/>
          </a:p>
        </p:txBody>
      </p:sp>
      <p:sp>
        <p:nvSpPr>
          <p:cNvPr id="16" name="Text 14"/>
          <p:cNvSpPr txBox="1"/>
          <p:nvPr/>
        </p:nvSpPr>
        <p:spPr>
          <a:xfrm>
            <a:off x="548640" y="4078224"/>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REASON</a:t>
            </a:r>
            <a:endParaRPr lang="en-US" sz="1100" dirty="0"/>
          </a:p>
        </p:txBody>
      </p:sp>
      <p:sp>
        <p:nvSpPr>
          <p:cNvPr id="17" name="Shape 15"/>
          <p:cNvSpPr/>
          <p:nvPr/>
        </p:nvSpPr>
        <p:spPr>
          <a:xfrm>
            <a:off x="548640" y="4352544"/>
            <a:ext cx="11094415" cy="728472"/>
          </a:xfrm>
          <a:prstGeom prst="rect">
            <a:avLst/>
          </a:prstGeom>
          <a:solidFill>
            <a:srgbClr val="FBF8F1"/>
          </a:solidFill>
          <a:ln/>
        </p:spPr>
      </p:sp>
      <p:sp>
        <p:nvSpPr>
          <p:cNvPr id="18" name="Text 16"/>
          <p:cNvSpPr txBox="1"/>
          <p:nvPr/>
        </p:nvSpPr>
        <p:spPr>
          <a:xfrm>
            <a:off x="749808" y="4352544"/>
            <a:ext cx="10692079" cy="728472"/>
          </a:xfrm>
          <a:prstGeom prst="rect">
            <a:avLst/>
          </a:prstGeom>
          <a:noFill/>
          <a:ln/>
        </p:spPr>
        <p:txBody>
          <a:bodyPr wrap="square" lIns="635" tIns="635" rIns="635" bIns="635" rtlCol="0" anchor="ctr"/>
          <a:lstStyle/>
          <a:p>
            <a:pPr marL="0" indent="0">
              <a:buNone/>
            </a:pPr>
            <a:r>
              <a:rPr lang="en-US" sz="1300" dirty="0">
                <a:solidFill>
                  <a:srgbClr val="3A3A3A"/>
                </a:solidFill>
                <a:latin typeface="Calibri" pitchFamily="34" charset="0"/>
                <a:ea typeface="Calibri" pitchFamily="34" charset="-122"/>
                <a:cs typeface="Calibri" pitchFamily="34" charset="-120"/>
              </a:rPr>
              <a:t>Consistent with the hero section revision — moves away from framing the founder's personal burden as the core issue, and instead points to systemic and structural causes.</a:t>
            </a:r>
            <a:endParaRPr lang="en-US" sz="1300" dirty="0"/>
          </a:p>
        </p:txBody>
      </p:sp>
      <p:sp>
        <p:nvSpPr>
          <p:cNvPr id="19" name="Text 17"/>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WEBSITECOPY REVIEW</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3. Who we work with — proposed revision</a:t>
            </a:r>
            <a:endParaRPr lang="en-US" sz="2500" dirty="0"/>
          </a:p>
        </p:txBody>
      </p:sp>
      <p:sp>
        <p:nvSpPr>
          <p:cNvPr id="6" name="Shape 4"/>
          <p:cNvSpPr/>
          <p:nvPr/>
        </p:nvSpPr>
        <p:spPr>
          <a:xfrm>
            <a:off x="548640" y="1481328"/>
            <a:ext cx="6035040" cy="25603"/>
          </a:xfrm>
          <a:prstGeom prst="rect">
            <a:avLst/>
          </a:prstGeom>
          <a:solidFill>
            <a:srgbClr val="B8965A"/>
          </a:solidFill>
          <a:ln/>
        </p:spPr>
      </p:sp>
      <p:sp>
        <p:nvSpPr>
          <p:cNvPr id="7" name="Shape 5"/>
          <p:cNvSpPr/>
          <p:nvPr/>
        </p:nvSpPr>
        <p:spPr>
          <a:xfrm>
            <a:off x="548640" y="1506931"/>
            <a:ext cx="6035040" cy="1046988"/>
          </a:xfrm>
          <a:prstGeom prst="rect">
            <a:avLst/>
          </a:prstGeom>
          <a:solidFill>
            <a:srgbClr val="EDEBE5"/>
          </a:solidFill>
          <a:ln/>
        </p:spPr>
      </p:sp>
      <p:sp>
        <p:nvSpPr>
          <p:cNvPr id="8" name="Text 6"/>
          <p:cNvSpPr txBox="1"/>
          <p:nvPr/>
        </p:nvSpPr>
        <p:spPr>
          <a:xfrm>
            <a:off x="731520" y="1506931"/>
            <a:ext cx="5669280" cy="1046988"/>
          </a:xfrm>
          <a:prstGeom prst="rect">
            <a:avLst/>
          </a:prstGeom>
          <a:noFill/>
          <a:ln/>
        </p:spPr>
        <p:txBody>
          <a:bodyPr wrap="square" lIns="635" tIns="635" rIns="635" bIns="635"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Owner-managed businesses and organisations facing the challenges that come with growth and complexity.</a:t>
            </a:r>
            <a:endParaRPr lang="en-US" sz="1500" dirty="0"/>
          </a:p>
        </p:txBody>
      </p:sp>
      <p:sp>
        <p:nvSpPr>
          <p:cNvPr id="9" name="Shape 7"/>
          <p:cNvSpPr/>
          <p:nvPr/>
        </p:nvSpPr>
        <p:spPr>
          <a:xfrm>
            <a:off x="548640" y="2736799"/>
            <a:ext cx="6035040" cy="1382268"/>
          </a:xfrm>
          <a:prstGeom prst="rect">
            <a:avLst/>
          </a:prstGeom>
          <a:solidFill>
            <a:srgbClr val="F2F0EA"/>
          </a:solidFill>
          <a:ln/>
        </p:spPr>
      </p:sp>
      <p:sp>
        <p:nvSpPr>
          <p:cNvPr id="10" name="Text 8"/>
          <p:cNvSpPr txBox="1"/>
          <p:nvPr/>
        </p:nvSpPr>
        <p:spPr>
          <a:xfrm>
            <a:off x="731520" y="2736799"/>
            <a:ext cx="5669280" cy="1382268"/>
          </a:xfrm>
          <a:prstGeom prst="rect">
            <a:avLst/>
          </a:prstGeom>
          <a:noFill/>
          <a:ln/>
        </p:spPr>
        <p:txBody>
          <a:bodyPr wrap="square" lIns="635" tIns="635" rIns="635" bIns="635" rtlCol="0" anchor="ctr"/>
          <a:lstStyle/>
          <a:p>
            <a:pPr marL="0" indent="0">
              <a:buNone/>
            </a:pPr>
            <a:r>
              <a:rPr lang="en-US" sz="1300" i="1" dirty="0">
                <a:solidFill>
                  <a:srgbClr val="3A3A3A"/>
                </a:solidFill>
                <a:latin typeface="Calibri" pitchFamily="34" charset="0"/>
                <a:ea typeface="Calibri" pitchFamily="34" charset="-122"/>
                <a:cs typeface="Calibri" pitchFamily="34" charset="-120"/>
              </a:rPr>
              <a:t>Seiran works primarily with owner-managed businesses where the owner remains closely involved in the business. We also work with selected organisations navigating similar challenges and needing stronger leadership, systems and capability.</a:t>
            </a:r>
            <a:endParaRPr lang="en-US" sz="1300" dirty="0"/>
          </a:p>
        </p:txBody>
      </p:sp>
      <p:sp>
        <p:nvSpPr>
          <p:cNvPr id="11" name="Text 9"/>
          <p:cNvSpPr txBox="1"/>
          <p:nvPr/>
        </p:nvSpPr>
        <p:spPr>
          <a:xfrm>
            <a:off x="6949440" y="1481328"/>
            <a:ext cx="4693615" cy="256032"/>
          </a:xfrm>
          <a:prstGeom prst="rect">
            <a:avLst/>
          </a:prstGeom>
          <a:noFill/>
          <a:ln/>
        </p:spPr>
        <p:txBody>
          <a:bodyPr wrap="square" lIns="0" tIns="0" rIns="0" bIns="0" rtlCol="0" anchor="ctr"/>
          <a:lstStyle/>
          <a:p>
            <a:pPr marL="0" indent="0">
              <a:buNone/>
            </a:pPr>
            <a:r>
              <a:rPr lang="en-US" sz="1100" b="1" kern="0" spc="100" dirty="0">
                <a:solidFill>
                  <a:srgbClr val="7D6230"/>
                </a:solidFill>
                <a:latin typeface="Calibri" pitchFamily="34" charset="0"/>
                <a:ea typeface="Calibri" pitchFamily="34" charset="-122"/>
                <a:cs typeface="Calibri" pitchFamily="34" charset="-120"/>
              </a:rPr>
              <a:t>OUR EXPERIENCE SPANS</a:t>
            </a:r>
            <a:endParaRPr lang="en-US" sz="1100" dirty="0"/>
          </a:p>
        </p:txBody>
      </p:sp>
      <p:sp>
        <p:nvSpPr>
          <p:cNvPr id="12" name="Shape 10"/>
          <p:cNvSpPr/>
          <p:nvPr/>
        </p:nvSpPr>
        <p:spPr>
          <a:xfrm>
            <a:off x="6949440" y="1773936"/>
            <a:ext cx="4693615" cy="4572000"/>
          </a:xfrm>
          <a:prstGeom prst="rect">
            <a:avLst/>
          </a:prstGeom>
          <a:solidFill>
            <a:srgbClr val="EDEBE5"/>
          </a:solidFill>
          <a:ln/>
        </p:spPr>
      </p:sp>
      <p:sp>
        <p:nvSpPr>
          <p:cNvPr id="13" name="Text 11"/>
          <p:cNvSpPr txBox="1"/>
          <p:nvPr/>
        </p:nvSpPr>
        <p:spPr>
          <a:xfrm>
            <a:off x="7178040" y="1938528"/>
            <a:ext cx="4236415" cy="42519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3A3A3A"/>
                </a:solidFill>
                <a:latin typeface="Calibri" pitchFamily="34" charset="0"/>
                <a:ea typeface="Calibri" pitchFamily="34" charset="-122"/>
                <a:cs typeface="Calibri" pitchFamily="34" charset="-120"/>
              </a:rPr>
              <a:t>Retail</a:t>
            </a:r>
            <a:endParaRPr lang="en-US" sz="1250" dirty="0"/>
          </a:p>
          <a:p>
            <a:pPr marL="342900" indent="-342900">
              <a:spcAft>
                <a:spcPts val="600"/>
              </a:spcAft>
              <a:buSzPct val="100000"/>
              <a:buChar char="•"/>
            </a:pPr>
            <a:r>
              <a:rPr lang="en-US" sz="1250" dirty="0">
                <a:solidFill>
                  <a:srgbClr val="3A3A3A"/>
                </a:solidFill>
                <a:latin typeface="Calibri" pitchFamily="34" charset="0"/>
                <a:ea typeface="Calibri" pitchFamily="34" charset="-122"/>
                <a:cs typeface="Calibri" pitchFamily="34" charset="-120"/>
              </a:rPr>
              <a:t>Wholesale</a:t>
            </a:r>
            <a:endParaRPr lang="en-US" sz="1250" dirty="0"/>
          </a:p>
          <a:p>
            <a:pPr marL="342900" indent="-342900">
              <a:spcAft>
                <a:spcPts val="600"/>
              </a:spcAft>
              <a:buSzPct val="100000"/>
              <a:buChar char="•"/>
            </a:pPr>
            <a:r>
              <a:rPr lang="en-US" sz="1250" dirty="0">
                <a:solidFill>
                  <a:srgbClr val="3A3A3A"/>
                </a:solidFill>
                <a:latin typeface="Calibri" pitchFamily="34" charset="0"/>
                <a:ea typeface="Calibri" pitchFamily="34" charset="-122"/>
                <a:cs typeface="Calibri" pitchFamily="34" charset="-120"/>
              </a:rPr>
              <a:t>Food &amp; Hospitality</a:t>
            </a:r>
            <a:endParaRPr lang="en-US" sz="1250" dirty="0"/>
          </a:p>
          <a:p>
            <a:pPr marL="342900" indent="-342900">
              <a:spcAft>
                <a:spcPts val="600"/>
              </a:spcAft>
              <a:buSzPct val="100000"/>
              <a:buChar char="•"/>
            </a:pPr>
            <a:r>
              <a:rPr lang="en-US" sz="1250" dirty="0">
                <a:solidFill>
                  <a:srgbClr val="3A3A3A"/>
                </a:solidFill>
                <a:latin typeface="Calibri" pitchFamily="34" charset="0"/>
                <a:ea typeface="Calibri" pitchFamily="34" charset="-122"/>
                <a:cs typeface="Calibri" pitchFamily="34" charset="-120"/>
              </a:rPr>
              <a:t>Professional &amp; Business Services</a:t>
            </a:r>
            <a:endParaRPr lang="en-US" sz="1250" dirty="0"/>
          </a:p>
          <a:p>
            <a:pPr marL="342900" indent="-342900">
              <a:spcAft>
                <a:spcPts val="600"/>
              </a:spcAft>
              <a:buSzPct val="100000"/>
              <a:buChar char="•"/>
            </a:pPr>
            <a:r>
              <a:rPr lang="en-US" sz="1250" dirty="0">
                <a:solidFill>
                  <a:srgbClr val="3A3A3A"/>
                </a:solidFill>
                <a:latin typeface="Calibri" pitchFamily="34" charset="0"/>
                <a:ea typeface="Calibri" pitchFamily="34" charset="-122"/>
                <a:cs typeface="Calibri" pitchFamily="34" charset="-120"/>
              </a:rPr>
              <a:t>Agribusiness</a:t>
            </a:r>
            <a:endParaRPr lang="en-US" sz="1250" dirty="0"/>
          </a:p>
          <a:p>
            <a:pPr marL="342900" indent="-342900">
              <a:spcAft>
                <a:spcPts val="600"/>
              </a:spcAft>
              <a:buSzPct val="100000"/>
              <a:buChar char="•"/>
            </a:pPr>
            <a:r>
              <a:rPr lang="en-US" sz="1250" dirty="0">
                <a:solidFill>
                  <a:srgbClr val="3A3A3A"/>
                </a:solidFill>
                <a:latin typeface="Calibri" pitchFamily="34" charset="0"/>
                <a:ea typeface="Calibri" pitchFamily="34" charset="-122"/>
                <a:cs typeface="Calibri" pitchFamily="34" charset="-120"/>
              </a:rPr>
              <a:t>Private Education</a:t>
            </a:r>
            <a:endParaRPr lang="en-US" sz="1250" dirty="0"/>
          </a:p>
          <a:p>
            <a:pPr marL="342900" indent="-342900">
              <a:spcAft>
                <a:spcPts val="600"/>
              </a:spcAft>
              <a:buSzPct val="100000"/>
              <a:buChar char="•"/>
            </a:pPr>
            <a:r>
              <a:rPr lang="en-US" sz="1250" dirty="0">
                <a:solidFill>
                  <a:srgbClr val="3A3A3A"/>
                </a:solidFill>
                <a:latin typeface="Calibri" pitchFamily="34" charset="0"/>
                <a:ea typeface="Calibri" pitchFamily="34" charset="-122"/>
                <a:cs typeface="Calibri" pitchFamily="34" charset="-120"/>
              </a:rPr>
              <a:t>Faith-based </a:t>
            </a:r>
            <a:r>
              <a:rPr lang="en-US" sz="1250" dirty="0" err="1">
                <a:solidFill>
                  <a:srgbClr val="3A3A3A"/>
                </a:solidFill>
                <a:latin typeface="Calibri" pitchFamily="34" charset="0"/>
                <a:ea typeface="Calibri" pitchFamily="34" charset="-122"/>
                <a:cs typeface="Calibri" pitchFamily="34" charset="-120"/>
              </a:rPr>
              <a:t>Organisations</a:t>
            </a:r>
            <a:endParaRPr lang="en-US" sz="1250" dirty="0"/>
          </a:p>
          <a:p>
            <a:pPr marL="342900" indent="-342900">
              <a:spcAft>
                <a:spcPts val="600"/>
              </a:spcAft>
              <a:buSzPct val="100000"/>
              <a:buChar char="•"/>
            </a:pPr>
            <a:r>
              <a:rPr lang="en-US" sz="1250" dirty="0">
                <a:solidFill>
                  <a:srgbClr val="3A3A3A"/>
                </a:solidFill>
                <a:latin typeface="Calibri" pitchFamily="34" charset="0"/>
                <a:ea typeface="Calibri" pitchFamily="34" charset="-122"/>
                <a:cs typeface="Calibri" pitchFamily="34" charset="-120"/>
              </a:rPr>
              <a:t>Selected Non-profits</a:t>
            </a:r>
            <a:endParaRPr lang="en-US" sz="1250" dirty="0"/>
          </a:p>
        </p:txBody>
      </p:sp>
      <p:sp>
        <p:nvSpPr>
          <p:cNvPr id="14" name="Text 12"/>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REVIEW</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4. First conversation framing</a:t>
            </a:r>
            <a:endParaRPr lang="en-US" sz="2500" dirty="0"/>
          </a:p>
        </p:txBody>
      </p:sp>
      <p:sp>
        <p:nvSpPr>
          <p:cNvPr id="6" name="Text 4"/>
          <p:cNvSpPr txBox="1"/>
          <p:nvPr/>
        </p:nvSpPr>
        <p:spPr>
          <a:xfrm>
            <a:off x="548640" y="1481328"/>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ORIGINAL</a:t>
            </a:r>
            <a:endParaRPr lang="en-US" sz="1100" dirty="0"/>
          </a:p>
        </p:txBody>
      </p:sp>
      <p:sp>
        <p:nvSpPr>
          <p:cNvPr id="7" name="Shape 5"/>
          <p:cNvSpPr/>
          <p:nvPr/>
        </p:nvSpPr>
        <p:spPr>
          <a:xfrm>
            <a:off x="548640" y="1755648"/>
            <a:ext cx="11094415" cy="25603"/>
          </a:xfrm>
          <a:prstGeom prst="rect">
            <a:avLst/>
          </a:prstGeom>
          <a:solidFill>
            <a:srgbClr val="B8965A"/>
          </a:solidFill>
          <a:ln/>
        </p:spPr>
      </p:sp>
      <p:sp>
        <p:nvSpPr>
          <p:cNvPr id="8" name="Shape 6"/>
          <p:cNvSpPr/>
          <p:nvPr/>
        </p:nvSpPr>
        <p:spPr>
          <a:xfrm>
            <a:off x="548640" y="1781251"/>
            <a:ext cx="11094415" cy="762000"/>
          </a:xfrm>
          <a:prstGeom prst="rect">
            <a:avLst/>
          </a:prstGeom>
          <a:solidFill>
            <a:srgbClr val="EDEBE5"/>
          </a:solidFill>
          <a:ln/>
        </p:spPr>
      </p:sp>
      <p:sp>
        <p:nvSpPr>
          <p:cNvPr id="9" name="Text 7"/>
          <p:cNvSpPr txBox="1"/>
          <p:nvPr/>
        </p:nvSpPr>
        <p:spPr>
          <a:xfrm>
            <a:off x="749808" y="1781251"/>
            <a:ext cx="10692079" cy="762000"/>
          </a:xfrm>
          <a:prstGeom prst="rect">
            <a:avLst/>
          </a:prstGeom>
          <a:noFill/>
          <a:ln/>
        </p:spPr>
        <p:txBody>
          <a:bodyPr wrap="square" lIns="635" tIns="635" rIns="635" bIns="635" rtlCol="0" anchor="ctr"/>
          <a:lstStyle/>
          <a:p>
            <a:pPr marL="0" indent="0">
              <a:buNone/>
            </a:pPr>
            <a:r>
              <a:rPr lang="en-US" sz="1400" i="1" dirty="0">
                <a:solidFill>
                  <a:srgbClr val="3A3A3A"/>
                </a:solidFill>
                <a:latin typeface="Calibri" pitchFamily="34" charset="0"/>
                <a:ea typeface="Calibri" pitchFamily="34" charset="-122"/>
                <a:cs typeface="Calibri" pitchFamily="34" charset="-120"/>
              </a:rPr>
              <a:t>Not a pitch, and not a proposal. If Seiran is not the right fit for what you are facing, we will say so.</a:t>
            </a:r>
            <a:endParaRPr lang="en-US" sz="1400" dirty="0"/>
          </a:p>
        </p:txBody>
      </p:sp>
      <p:sp>
        <p:nvSpPr>
          <p:cNvPr id="10" name="Text 8"/>
          <p:cNvSpPr txBox="1"/>
          <p:nvPr/>
        </p:nvSpPr>
        <p:spPr>
          <a:xfrm>
            <a:off x="548640" y="2707843"/>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REVISED</a:t>
            </a:r>
            <a:endParaRPr lang="en-US" sz="1100" dirty="0"/>
          </a:p>
        </p:txBody>
      </p:sp>
      <p:sp>
        <p:nvSpPr>
          <p:cNvPr id="11" name="Shape 9"/>
          <p:cNvSpPr/>
          <p:nvPr/>
        </p:nvSpPr>
        <p:spPr>
          <a:xfrm>
            <a:off x="548640" y="2982163"/>
            <a:ext cx="11094415" cy="25603"/>
          </a:xfrm>
          <a:prstGeom prst="rect">
            <a:avLst/>
          </a:prstGeom>
          <a:solidFill>
            <a:srgbClr val="B8965A"/>
          </a:solidFill>
          <a:ln/>
        </p:spPr>
      </p:sp>
      <p:sp>
        <p:nvSpPr>
          <p:cNvPr id="12" name="Shape 10"/>
          <p:cNvSpPr/>
          <p:nvPr/>
        </p:nvSpPr>
        <p:spPr>
          <a:xfrm>
            <a:off x="548640" y="3007766"/>
            <a:ext cx="11094415" cy="762000"/>
          </a:xfrm>
          <a:prstGeom prst="rect">
            <a:avLst/>
          </a:prstGeom>
          <a:solidFill>
            <a:srgbClr val="F2F0EA"/>
          </a:solidFill>
          <a:ln/>
        </p:spPr>
      </p:sp>
      <p:sp>
        <p:nvSpPr>
          <p:cNvPr id="13" name="Text 11"/>
          <p:cNvSpPr txBox="1"/>
          <p:nvPr/>
        </p:nvSpPr>
        <p:spPr>
          <a:xfrm>
            <a:off x="749808" y="3007766"/>
            <a:ext cx="10692079" cy="762000"/>
          </a:xfrm>
          <a:prstGeom prst="rect">
            <a:avLst/>
          </a:prstGeom>
          <a:noFill/>
          <a:ln/>
        </p:spPr>
        <p:txBody>
          <a:bodyPr wrap="square" lIns="635" tIns="635" rIns="635" bIns="635" rtlCol="0" anchor="ctr"/>
          <a:lstStyle/>
          <a:p>
            <a:pPr marL="0" indent="0">
              <a:buNone/>
            </a:pPr>
            <a:r>
              <a:rPr lang="en-US" sz="1400" b="1" i="1" dirty="0">
                <a:solidFill>
                  <a:srgbClr val="3A3A3A"/>
                </a:solidFill>
                <a:latin typeface="Calibri" pitchFamily="34" charset="0"/>
                <a:ea typeface="Calibri" pitchFamily="34" charset="-122"/>
                <a:cs typeface="Calibri" pitchFamily="34" charset="-120"/>
              </a:rPr>
              <a:t>The first conversation is about understanding what you're facing, not selling you a service. If Seiran isn't the right fit, we will say so</a:t>
            </a:r>
            <a:r>
              <a:rPr lang="en-US" sz="1400" i="1" dirty="0">
                <a:solidFill>
                  <a:srgbClr val="3A3A3A"/>
                </a:solidFill>
                <a:latin typeface="Calibri" pitchFamily="34" charset="0"/>
                <a:ea typeface="Calibri" pitchFamily="34" charset="-122"/>
                <a:cs typeface="Calibri" pitchFamily="34" charset="-120"/>
              </a:rPr>
              <a:t>.</a:t>
            </a:r>
            <a:endParaRPr lang="en-US" sz="1400" dirty="0"/>
          </a:p>
        </p:txBody>
      </p:sp>
      <p:sp>
        <p:nvSpPr>
          <p:cNvPr id="14" name="Text 12"/>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REVIEW</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B8965A"/>
          </a:solidFill>
          <a:ln/>
        </p:spPr>
      </p:sp>
      <p:sp>
        <p:nvSpPr>
          <p:cNvPr id="3" name="Text 1"/>
          <p:cNvSpPr txBox="1"/>
          <p:nvPr/>
        </p:nvSpPr>
        <p:spPr>
          <a:xfrm>
            <a:off x="548640" y="2377440"/>
            <a:ext cx="7315200" cy="365760"/>
          </a:xfrm>
          <a:prstGeom prst="rect">
            <a:avLst/>
          </a:prstGeom>
          <a:noFill/>
          <a:ln/>
        </p:spPr>
        <p:txBody>
          <a:bodyPr wrap="square" lIns="0" tIns="0" rIns="0" bIns="0" rtlCol="0" anchor="ctr"/>
          <a:lstStyle/>
          <a:p>
            <a:pPr marL="0" indent="0">
              <a:buNone/>
            </a:pPr>
            <a:r>
              <a:rPr lang="en-US" sz="1400" b="1" kern="0" spc="200" dirty="0">
                <a:solidFill>
                  <a:srgbClr val="7D6230"/>
                </a:solidFill>
                <a:latin typeface="Calibri" pitchFamily="34" charset="0"/>
                <a:ea typeface="Calibri" pitchFamily="34" charset="-122"/>
                <a:cs typeface="Calibri" pitchFamily="34" charset="-120"/>
              </a:rPr>
              <a:t>SECTION 03</a:t>
            </a:r>
            <a:endParaRPr lang="en-US" sz="1400" dirty="0"/>
          </a:p>
        </p:txBody>
      </p:sp>
      <p:sp>
        <p:nvSpPr>
          <p:cNvPr id="4" name="Text 2"/>
          <p:cNvSpPr txBox="1"/>
          <p:nvPr/>
        </p:nvSpPr>
        <p:spPr>
          <a:xfrm>
            <a:off x="548640" y="2743200"/>
            <a:ext cx="9601200" cy="1097280"/>
          </a:xfrm>
          <a:prstGeom prst="rect">
            <a:avLst/>
          </a:prstGeom>
          <a:noFill/>
          <a:ln/>
        </p:spPr>
        <p:txBody>
          <a:bodyPr wrap="square" lIns="0" tIns="0" rIns="0" bIns="0"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Our Approach</a:t>
            </a:r>
            <a:endParaRPr lang="en-US" sz="4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1. Framing the transformation journey</a:t>
            </a:r>
            <a:endParaRPr lang="en-US" sz="2500" dirty="0"/>
          </a:p>
        </p:txBody>
      </p:sp>
      <p:sp>
        <p:nvSpPr>
          <p:cNvPr id="6" name="Text 4"/>
          <p:cNvSpPr txBox="1"/>
          <p:nvPr/>
        </p:nvSpPr>
        <p:spPr>
          <a:xfrm>
            <a:off x="548640" y="1481328"/>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ORIGINAL</a:t>
            </a:r>
            <a:endParaRPr lang="en-US" sz="1100" dirty="0"/>
          </a:p>
        </p:txBody>
      </p:sp>
      <p:sp>
        <p:nvSpPr>
          <p:cNvPr id="7" name="Shape 5"/>
          <p:cNvSpPr/>
          <p:nvPr/>
        </p:nvSpPr>
        <p:spPr>
          <a:xfrm>
            <a:off x="548640" y="1755648"/>
            <a:ext cx="11094415" cy="25603"/>
          </a:xfrm>
          <a:prstGeom prst="rect">
            <a:avLst/>
          </a:prstGeom>
          <a:solidFill>
            <a:srgbClr val="B8965A"/>
          </a:solidFill>
          <a:ln/>
        </p:spPr>
      </p:sp>
      <p:sp>
        <p:nvSpPr>
          <p:cNvPr id="8" name="Shape 6"/>
          <p:cNvSpPr/>
          <p:nvPr/>
        </p:nvSpPr>
        <p:spPr>
          <a:xfrm>
            <a:off x="548640" y="1781251"/>
            <a:ext cx="11094415" cy="762000"/>
          </a:xfrm>
          <a:prstGeom prst="rect">
            <a:avLst/>
          </a:prstGeom>
          <a:solidFill>
            <a:srgbClr val="EDEBE5"/>
          </a:solidFill>
          <a:ln/>
        </p:spPr>
      </p:sp>
      <p:sp>
        <p:nvSpPr>
          <p:cNvPr id="9" name="Text 7"/>
          <p:cNvSpPr txBox="1"/>
          <p:nvPr/>
        </p:nvSpPr>
        <p:spPr>
          <a:xfrm>
            <a:off x="749808" y="1781251"/>
            <a:ext cx="10692079" cy="762000"/>
          </a:xfrm>
          <a:prstGeom prst="rect">
            <a:avLst/>
          </a:prstGeom>
          <a:noFill/>
          <a:ln/>
        </p:spPr>
        <p:txBody>
          <a:bodyPr wrap="square" lIns="635" tIns="635" rIns="635" bIns="635" rtlCol="0" anchor="ctr"/>
          <a:lstStyle/>
          <a:p>
            <a:pPr marL="0" indent="0">
              <a:buNone/>
            </a:pPr>
            <a:r>
              <a:rPr lang="en-US" sz="1400" i="1" dirty="0">
                <a:solidFill>
                  <a:srgbClr val="3A3A3A"/>
                </a:solidFill>
                <a:latin typeface="Calibri" pitchFamily="34" charset="0"/>
                <a:ea typeface="Calibri" pitchFamily="34" charset="-122"/>
                <a:cs typeface="Calibri" pitchFamily="34" charset="-120"/>
              </a:rPr>
              <a:t>The Seiran Transformation Journey runs in seven stages. They are sequential because each depends on the last — you cannot design an operating model for a direction that has not been agreed.</a:t>
            </a:r>
            <a:endParaRPr lang="en-US" sz="1400" dirty="0"/>
          </a:p>
        </p:txBody>
      </p:sp>
      <p:sp>
        <p:nvSpPr>
          <p:cNvPr id="10" name="Text 8"/>
          <p:cNvSpPr txBox="1"/>
          <p:nvPr/>
        </p:nvSpPr>
        <p:spPr>
          <a:xfrm>
            <a:off x="548640" y="2707843"/>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REVISED / PROPOSED</a:t>
            </a:r>
            <a:endParaRPr lang="en-US" sz="1100" dirty="0"/>
          </a:p>
        </p:txBody>
      </p:sp>
      <p:sp>
        <p:nvSpPr>
          <p:cNvPr id="11" name="Shape 9"/>
          <p:cNvSpPr/>
          <p:nvPr/>
        </p:nvSpPr>
        <p:spPr>
          <a:xfrm>
            <a:off x="548640" y="2982163"/>
            <a:ext cx="11094415" cy="25603"/>
          </a:xfrm>
          <a:prstGeom prst="rect">
            <a:avLst/>
          </a:prstGeom>
          <a:solidFill>
            <a:srgbClr val="B8965A"/>
          </a:solidFill>
          <a:ln/>
        </p:spPr>
      </p:sp>
      <p:sp>
        <p:nvSpPr>
          <p:cNvPr id="12" name="Shape 10"/>
          <p:cNvSpPr/>
          <p:nvPr/>
        </p:nvSpPr>
        <p:spPr>
          <a:xfrm>
            <a:off x="548640" y="3007766"/>
            <a:ext cx="11094415" cy="762000"/>
          </a:xfrm>
          <a:prstGeom prst="rect">
            <a:avLst/>
          </a:prstGeom>
          <a:solidFill>
            <a:srgbClr val="F2F0EA"/>
          </a:solidFill>
          <a:ln/>
        </p:spPr>
      </p:sp>
      <p:sp>
        <p:nvSpPr>
          <p:cNvPr id="13" name="Text 11"/>
          <p:cNvSpPr txBox="1"/>
          <p:nvPr/>
        </p:nvSpPr>
        <p:spPr>
          <a:xfrm>
            <a:off x="749808" y="3007766"/>
            <a:ext cx="10692079" cy="762000"/>
          </a:xfrm>
          <a:prstGeom prst="rect">
            <a:avLst/>
          </a:prstGeom>
          <a:noFill/>
          <a:ln/>
        </p:spPr>
        <p:txBody>
          <a:bodyPr wrap="square" lIns="635" tIns="635" rIns="635" bIns="635" rtlCol="0" anchor="ctr"/>
          <a:lstStyle/>
          <a:p>
            <a:pPr marL="0" indent="0">
              <a:buNone/>
            </a:pPr>
            <a:r>
              <a:rPr lang="en-US" sz="1400" b="1" i="1" dirty="0">
                <a:solidFill>
                  <a:srgbClr val="3A3A3A"/>
                </a:solidFill>
                <a:latin typeface="Calibri" pitchFamily="34" charset="0"/>
                <a:ea typeface="Calibri" pitchFamily="34" charset="-122"/>
                <a:cs typeface="Calibri" pitchFamily="34" charset="-120"/>
              </a:rPr>
              <a:t>The Seiran Transformation Journey runs in seven stages. Each builds on the one before it, taking the business from understanding what is happening to creating lasting change.</a:t>
            </a:r>
            <a:endParaRPr lang="en-US" sz="1400" b="1" dirty="0"/>
          </a:p>
        </p:txBody>
      </p:sp>
      <p:sp>
        <p:nvSpPr>
          <p:cNvPr id="14" name="Text 12"/>
          <p:cNvSpPr txBox="1"/>
          <p:nvPr/>
        </p:nvSpPr>
        <p:spPr>
          <a:xfrm>
            <a:off x="548640" y="3934358"/>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REASON</a:t>
            </a:r>
            <a:endParaRPr lang="en-US" sz="1100" dirty="0"/>
          </a:p>
        </p:txBody>
      </p:sp>
      <p:sp>
        <p:nvSpPr>
          <p:cNvPr id="15" name="Shape 13"/>
          <p:cNvSpPr/>
          <p:nvPr/>
        </p:nvSpPr>
        <p:spPr>
          <a:xfrm>
            <a:off x="548640" y="4208678"/>
            <a:ext cx="11094415" cy="510540"/>
          </a:xfrm>
          <a:prstGeom prst="rect">
            <a:avLst/>
          </a:prstGeom>
          <a:solidFill>
            <a:srgbClr val="FFFFFF"/>
          </a:solidFill>
          <a:ln/>
        </p:spPr>
      </p:sp>
      <p:sp>
        <p:nvSpPr>
          <p:cNvPr id="16" name="Text 14"/>
          <p:cNvSpPr txBox="1"/>
          <p:nvPr/>
        </p:nvSpPr>
        <p:spPr>
          <a:xfrm>
            <a:off x="749808" y="4208678"/>
            <a:ext cx="10692079" cy="510540"/>
          </a:xfrm>
          <a:prstGeom prst="rect">
            <a:avLst/>
          </a:prstGeom>
          <a:noFill/>
          <a:ln/>
        </p:spPr>
        <p:txBody>
          <a:bodyPr wrap="square" lIns="635" tIns="635" rIns="635" bIns="635" rtlCol="0" anchor="ctr"/>
          <a:lstStyle/>
          <a:p>
            <a:pPr marL="0" indent="0">
              <a:buNone/>
            </a:pPr>
            <a:r>
              <a:rPr lang="en-US" sz="1300" dirty="0">
                <a:solidFill>
                  <a:srgbClr val="3A3A3A"/>
                </a:solidFill>
                <a:latin typeface="Calibri" pitchFamily="34" charset="0"/>
                <a:ea typeface="Calibri" pitchFamily="34" charset="-122"/>
                <a:cs typeface="Calibri" pitchFamily="34" charset="-120"/>
              </a:rPr>
              <a:t>That is much easier for an owner-manager to understand.</a:t>
            </a:r>
            <a:endParaRPr lang="en-US" sz="1300" dirty="0"/>
          </a:p>
        </p:txBody>
      </p:sp>
      <p:sp>
        <p:nvSpPr>
          <p:cNvPr id="17" name="Text 15"/>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COPY REVIEW</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2. Our approach — the seven stages</a:t>
            </a:r>
            <a:endParaRPr lang="en-US" sz="2500" dirty="0"/>
          </a:p>
        </p:txBody>
      </p:sp>
      <p:sp>
        <p:nvSpPr>
          <p:cNvPr id="5" name="Text 3"/>
          <p:cNvSpPr txBox="1"/>
          <p:nvPr/>
        </p:nvSpPr>
        <p:spPr>
          <a:xfrm>
            <a:off x="548640" y="1097280"/>
            <a:ext cx="11094415" cy="274320"/>
          </a:xfrm>
          <a:prstGeom prst="rect">
            <a:avLst/>
          </a:prstGeom>
          <a:noFill/>
          <a:ln/>
        </p:spPr>
        <p:txBody>
          <a:bodyPr wrap="square" lIns="0" tIns="0" rIns="0" bIns="0" rtlCol="0" anchor="ctr"/>
          <a:lstStyle/>
          <a:p>
            <a:pPr marL="0" indent="0">
              <a:buNone/>
            </a:pPr>
            <a:r>
              <a:rPr lang="en-US" sz="1200" b="1" kern="0" spc="150" dirty="0">
                <a:solidFill>
                  <a:srgbClr val="7D6230"/>
                </a:solidFill>
                <a:latin typeface="Calibri" pitchFamily="34" charset="0"/>
                <a:ea typeface="Calibri" pitchFamily="34" charset="-122"/>
                <a:cs typeface="Calibri" pitchFamily="34" charset="-120"/>
              </a:rPr>
              <a:t>SERVICES</a:t>
            </a:r>
            <a:endParaRPr lang="en-US" sz="1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4535424"/>
        </p:xfrm>
        <a:graphic>
          <a:graphicData uri="http://schemas.openxmlformats.org/drawingml/2006/table">
            <a:tbl>
              <a:tblPr/>
              <a:tblGrid>
                <a:gridCol w="9144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8442655">
                  <a:extLst>
                    <a:ext uri="{9D8B030D-6E8A-4147-A177-3AD203B41FA5}">
                      <a16:colId xmlns:a16="http://schemas.microsoft.com/office/drawing/2014/main" val="20002"/>
                    </a:ext>
                  </a:extLst>
                </a:gridCol>
              </a:tblGrid>
              <a:tr h="56692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Stage</a:t>
                      </a:r>
                      <a:endParaRPr lang="en-US" sz="120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Name</a:t>
                      </a:r>
                      <a:endParaRPr lang="en-US" sz="120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566928">
                <a:tc>
                  <a:txBody>
                    <a:bodyPr/>
                    <a:lstStyle/>
                    <a:p>
                      <a:pPr marL="0" indent="0">
                        <a:buNone/>
                      </a:pPr>
                      <a:r>
                        <a:rPr lang="en-US" sz="1200" b="1" dirty="0">
                          <a:solidFill>
                            <a:srgbClr val="7D6230"/>
                          </a:solidFill>
                          <a:latin typeface="Calibri" pitchFamily="34" charset="0"/>
                          <a:ea typeface="Calibri" pitchFamily="34" charset="-122"/>
                          <a:cs typeface="Calibri" pitchFamily="34" charset="-120"/>
                        </a:rPr>
                        <a:t>01</a:t>
                      </a:r>
                      <a:endParaRPr lang="en-US" sz="120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FFFFFF"/>
                    </a:solidFill>
                  </a:tcPr>
                </a:tc>
                <a:tc>
                  <a:txBody>
                    <a:bodyPr/>
                    <a:lstStyle/>
                    <a:p>
                      <a:pPr marL="0" indent="0">
                        <a:buNone/>
                      </a:pPr>
                      <a:r>
                        <a:rPr lang="en-US" sz="1200" b="1" dirty="0">
                          <a:solidFill>
                            <a:srgbClr val="1B2A4A"/>
                          </a:solidFill>
                          <a:latin typeface="Calibri" pitchFamily="34" charset="0"/>
                          <a:ea typeface="Calibri" pitchFamily="34" charset="-122"/>
                          <a:cs typeface="Calibri" pitchFamily="34" charset="-120"/>
                        </a:rPr>
                        <a:t>Understand</a:t>
                      </a:r>
                      <a:endParaRPr lang="en-US" sz="120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FFFFFF"/>
                    </a:solidFill>
                  </a:tcPr>
                </a:tc>
                <a:tc>
                  <a:txBody>
                    <a:bodyPr/>
                    <a:lstStyle/>
                    <a:p>
                      <a:pPr marL="0" indent="0">
                        <a:buNone/>
                      </a:pPr>
                      <a:r>
                        <a:rPr lang="en-US" sz="1150" dirty="0">
                          <a:solidFill>
                            <a:srgbClr val="3A3A3A"/>
                          </a:solidFill>
                          <a:latin typeface="Calibri" pitchFamily="34" charset="0"/>
                          <a:ea typeface="Calibri" pitchFamily="34" charset="-122"/>
                          <a:cs typeface="Calibri" pitchFamily="34" charset="-120"/>
                        </a:rPr>
                        <a:t>Learn how the business actually works, not how the org chart says it does.</a:t>
                      </a:r>
                      <a:endParaRPr lang="en-US" sz="115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00" b="1" dirty="0">
                          <a:solidFill>
                            <a:srgbClr val="7D6230"/>
                          </a:solidFill>
                          <a:latin typeface="Calibri" pitchFamily="34" charset="0"/>
                          <a:ea typeface="Calibri" pitchFamily="34" charset="-122"/>
                          <a:cs typeface="Calibri" pitchFamily="34" charset="-120"/>
                        </a:rPr>
                        <a:t>02</a:t>
                      </a:r>
                      <a:endParaRPr lang="en-US" sz="120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EDEBE5"/>
                    </a:solidFill>
                  </a:tcPr>
                </a:tc>
                <a:tc>
                  <a:txBody>
                    <a:bodyPr/>
                    <a:lstStyle/>
                    <a:p>
                      <a:pPr marL="0" indent="0">
                        <a:buNone/>
                      </a:pPr>
                      <a:r>
                        <a:rPr lang="en-US" sz="1200" b="1" dirty="0">
                          <a:solidFill>
                            <a:srgbClr val="1B2A4A"/>
                          </a:solidFill>
                          <a:latin typeface="Calibri" pitchFamily="34" charset="0"/>
                          <a:ea typeface="Calibri" pitchFamily="34" charset="-122"/>
                          <a:cs typeface="Calibri" pitchFamily="34" charset="-120"/>
                        </a:rPr>
                        <a:t>Diagnose</a:t>
                      </a:r>
                      <a:endParaRPr lang="en-US" sz="120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EDEBE5"/>
                    </a:solidFill>
                  </a:tcPr>
                </a:tc>
                <a:tc>
                  <a:txBody>
                    <a:bodyPr/>
                    <a:lstStyle/>
                    <a:p>
                      <a:pPr marL="0" indent="0">
                        <a:buNone/>
                      </a:pPr>
                      <a:r>
                        <a:rPr lang="en-US" sz="1150" dirty="0">
                          <a:solidFill>
                            <a:srgbClr val="3A3A3A"/>
                          </a:solidFill>
                          <a:latin typeface="Calibri" pitchFamily="34" charset="0"/>
                          <a:ea typeface="Calibri" pitchFamily="34" charset="-122"/>
                          <a:cs typeface="Calibri" pitchFamily="34" charset="-120"/>
                        </a:rPr>
                        <a:t>Identify what is really holding the business back, beyond the symptoms.</a:t>
                      </a:r>
                      <a:endParaRPr lang="en-US" sz="115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EDEBE5"/>
                    </a:solidFill>
                  </a:tcPr>
                </a:tc>
                <a:extLst>
                  <a:ext uri="{0D108BD9-81ED-4DB2-BD59-A6C34878D82A}">
                    <a16:rowId xmlns:a16="http://schemas.microsoft.com/office/drawing/2014/main" val="10002"/>
                  </a:ext>
                </a:extLst>
              </a:tr>
              <a:tr h="566928">
                <a:tc>
                  <a:txBody>
                    <a:bodyPr/>
                    <a:lstStyle/>
                    <a:p>
                      <a:pPr marL="0" indent="0">
                        <a:buNone/>
                      </a:pPr>
                      <a:r>
                        <a:rPr lang="en-US" sz="1200" b="1" dirty="0">
                          <a:solidFill>
                            <a:srgbClr val="7D6230"/>
                          </a:solidFill>
                          <a:latin typeface="Calibri" pitchFamily="34" charset="0"/>
                          <a:ea typeface="Calibri" pitchFamily="34" charset="-122"/>
                          <a:cs typeface="Calibri" pitchFamily="34" charset="-120"/>
                        </a:rPr>
                        <a:t>03</a:t>
                      </a:r>
                      <a:endParaRPr lang="en-US" sz="120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FFFFFF"/>
                    </a:solidFill>
                  </a:tcPr>
                </a:tc>
                <a:tc>
                  <a:txBody>
                    <a:bodyPr/>
                    <a:lstStyle/>
                    <a:p>
                      <a:pPr marL="0" indent="0">
                        <a:buNone/>
                      </a:pPr>
                      <a:r>
                        <a:rPr lang="en-US" sz="1200" b="1" dirty="0">
                          <a:solidFill>
                            <a:srgbClr val="1B2A4A"/>
                          </a:solidFill>
                          <a:latin typeface="Calibri" pitchFamily="34" charset="0"/>
                          <a:ea typeface="Calibri" pitchFamily="34" charset="-122"/>
                          <a:cs typeface="Calibri" pitchFamily="34" charset="-120"/>
                        </a:rPr>
                        <a:t>Clarify</a:t>
                      </a:r>
                      <a:endParaRPr lang="en-US" sz="120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FFFFFF"/>
                    </a:solidFill>
                  </a:tcPr>
                </a:tc>
                <a:tc>
                  <a:txBody>
                    <a:bodyPr/>
                    <a:lstStyle/>
                    <a:p>
                      <a:pPr marL="0" indent="0">
                        <a:buNone/>
                      </a:pPr>
                      <a:r>
                        <a:rPr lang="en-US" sz="1150" dirty="0">
                          <a:solidFill>
                            <a:srgbClr val="3A3A3A"/>
                          </a:solidFill>
                          <a:latin typeface="Calibri" pitchFamily="34" charset="0"/>
                          <a:ea typeface="Calibri" pitchFamily="34" charset="-122"/>
                          <a:cs typeface="Calibri" pitchFamily="34" charset="-120"/>
                        </a:rPr>
                        <a:t>Agree what needs to change, what matters most, and what success looks like.</a:t>
                      </a:r>
                      <a:endParaRPr lang="en-US" sz="115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200" b="1" dirty="0">
                          <a:solidFill>
                            <a:srgbClr val="7D6230"/>
                          </a:solidFill>
                          <a:latin typeface="Calibri" pitchFamily="34" charset="0"/>
                          <a:ea typeface="Calibri" pitchFamily="34" charset="-122"/>
                          <a:cs typeface="Calibri" pitchFamily="34" charset="-120"/>
                        </a:rPr>
                        <a:t>04</a:t>
                      </a:r>
                      <a:endParaRPr lang="en-US" sz="120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EDEBE5"/>
                    </a:solidFill>
                  </a:tcPr>
                </a:tc>
                <a:tc>
                  <a:txBody>
                    <a:bodyPr/>
                    <a:lstStyle/>
                    <a:p>
                      <a:pPr marL="0" indent="0">
                        <a:buNone/>
                      </a:pPr>
                      <a:r>
                        <a:rPr lang="en-US" sz="1200" b="1" dirty="0">
                          <a:solidFill>
                            <a:srgbClr val="1B2A4A"/>
                          </a:solidFill>
                          <a:latin typeface="Calibri" pitchFamily="34" charset="0"/>
                          <a:ea typeface="Calibri" pitchFamily="34" charset="-122"/>
                          <a:cs typeface="Calibri" pitchFamily="34" charset="-120"/>
                        </a:rPr>
                        <a:t>Design</a:t>
                      </a:r>
                      <a:endParaRPr lang="en-US" sz="120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EDEBE5"/>
                    </a:solidFill>
                  </a:tcPr>
                </a:tc>
                <a:tc>
                  <a:txBody>
                    <a:bodyPr/>
                    <a:lstStyle/>
                    <a:p>
                      <a:pPr marL="0" indent="0">
                        <a:buNone/>
                      </a:pPr>
                      <a:r>
                        <a:rPr lang="en-US" sz="1150" dirty="0">
                          <a:solidFill>
                            <a:srgbClr val="3A3A3A"/>
                          </a:solidFill>
                          <a:latin typeface="Calibri" pitchFamily="34" charset="0"/>
                          <a:ea typeface="Calibri" pitchFamily="34" charset="-122"/>
                          <a:cs typeface="Calibri" pitchFamily="34" charset="-120"/>
                        </a:rPr>
                        <a:t>Develop the strategy, structure, systems and ways of working needed to move forward.</a:t>
                      </a:r>
                      <a:endParaRPr lang="en-US" sz="115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EDEBE5"/>
                    </a:solidFill>
                  </a:tcPr>
                </a:tc>
                <a:extLst>
                  <a:ext uri="{0D108BD9-81ED-4DB2-BD59-A6C34878D82A}">
                    <a16:rowId xmlns:a16="http://schemas.microsoft.com/office/drawing/2014/main" val="10004"/>
                  </a:ext>
                </a:extLst>
              </a:tr>
              <a:tr h="566928">
                <a:tc>
                  <a:txBody>
                    <a:bodyPr/>
                    <a:lstStyle/>
                    <a:p>
                      <a:pPr marL="0" indent="0">
                        <a:buNone/>
                      </a:pPr>
                      <a:r>
                        <a:rPr lang="en-US" sz="1200" b="1" dirty="0">
                          <a:solidFill>
                            <a:srgbClr val="7D6230"/>
                          </a:solidFill>
                          <a:latin typeface="Calibri" pitchFamily="34" charset="0"/>
                          <a:ea typeface="Calibri" pitchFamily="34" charset="-122"/>
                          <a:cs typeface="Calibri" pitchFamily="34" charset="-120"/>
                        </a:rPr>
                        <a:t>05</a:t>
                      </a:r>
                      <a:endParaRPr lang="en-US" sz="120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FFFFFF"/>
                    </a:solidFill>
                  </a:tcPr>
                </a:tc>
                <a:tc>
                  <a:txBody>
                    <a:bodyPr/>
                    <a:lstStyle/>
                    <a:p>
                      <a:pPr marL="0" indent="0">
                        <a:buNone/>
                      </a:pPr>
                      <a:r>
                        <a:rPr lang="en-US" sz="1200" b="1" dirty="0">
                          <a:solidFill>
                            <a:srgbClr val="1B2A4A"/>
                          </a:solidFill>
                          <a:latin typeface="Calibri" pitchFamily="34" charset="0"/>
                          <a:ea typeface="Calibri" pitchFamily="34" charset="-122"/>
                          <a:cs typeface="Calibri" pitchFamily="34" charset="-120"/>
                        </a:rPr>
                        <a:t>Execute</a:t>
                      </a:r>
                      <a:endParaRPr lang="en-US" sz="120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FFFFFF"/>
                    </a:solidFill>
                  </a:tcPr>
                </a:tc>
                <a:tc>
                  <a:txBody>
                    <a:bodyPr/>
                    <a:lstStyle/>
                    <a:p>
                      <a:pPr marL="0" indent="0">
                        <a:buNone/>
                      </a:pPr>
                      <a:r>
                        <a:rPr lang="en-US" sz="1150" dirty="0">
                          <a:solidFill>
                            <a:srgbClr val="3A3A3A"/>
                          </a:solidFill>
                          <a:latin typeface="Calibri" pitchFamily="34" charset="0"/>
                          <a:ea typeface="Calibri" pitchFamily="34" charset="-122"/>
                          <a:cs typeface="Calibri" pitchFamily="34" charset="-120"/>
                        </a:rPr>
                        <a:t>Put the work into practice alongside the team that has to live with it.</a:t>
                      </a:r>
                      <a:endParaRPr lang="en-US" sz="115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buNone/>
                      </a:pPr>
                      <a:r>
                        <a:rPr lang="en-US" sz="1200" b="1" dirty="0">
                          <a:solidFill>
                            <a:srgbClr val="7D6230"/>
                          </a:solidFill>
                          <a:latin typeface="Calibri" pitchFamily="34" charset="0"/>
                          <a:ea typeface="Calibri" pitchFamily="34" charset="-122"/>
                          <a:cs typeface="Calibri" pitchFamily="34" charset="-120"/>
                        </a:rPr>
                        <a:t>06</a:t>
                      </a:r>
                      <a:endParaRPr lang="en-US" sz="120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EDEBE5"/>
                    </a:solidFill>
                  </a:tcPr>
                </a:tc>
                <a:tc>
                  <a:txBody>
                    <a:bodyPr/>
                    <a:lstStyle/>
                    <a:p>
                      <a:pPr marL="0" indent="0">
                        <a:buNone/>
                      </a:pPr>
                      <a:r>
                        <a:rPr lang="en-US" sz="1200" b="1" dirty="0">
                          <a:solidFill>
                            <a:srgbClr val="1B2A4A"/>
                          </a:solidFill>
                          <a:latin typeface="Calibri" pitchFamily="34" charset="0"/>
                          <a:ea typeface="Calibri" pitchFamily="34" charset="-122"/>
                          <a:cs typeface="Calibri" pitchFamily="34" charset="-120"/>
                        </a:rPr>
                        <a:t>Strengthen</a:t>
                      </a:r>
                      <a:endParaRPr lang="en-US" sz="120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EDEBE5"/>
                    </a:solidFill>
                  </a:tcPr>
                </a:tc>
                <a:tc>
                  <a:txBody>
                    <a:bodyPr/>
                    <a:lstStyle/>
                    <a:p>
                      <a:pPr marL="0" indent="0">
                        <a:buNone/>
                      </a:pPr>
                      <a:r>
                        <a:rPr lang="en-US" sz="1150" dirty="0">
                          <a:solidFill>
                            <a:srgbClr val="3A3A3A"/>
                          </a:solidFill>
                          <a:latin typeface="Calibri" pitchFamily="34" charset="0"/>
                          <a:ea typeface="Calibri" pitchFamily="34" charset="-122"/>
                          <a:cs typeface="Calibri" pitchFamily="34" charset="-120"/>
                        </a:rPr>
                        <a:t>Build the internal capability so the change holds without us in the room.</a:t>
                      </a:r>
                      <a:endParaRPr lang="en-US" sz="115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EDEBE5"/>
                    </a:solidFill>
                  </a:tcPr>
                </a:tc>
                <a:extLst>
                  <a:ext uri="{0D108BD9-81ED-4DB2-BD59-A6C34878D82A}">
                    <a16:rowId xmlns:a16="http://schemas.microsoft.com/office/drawing/2014/main" val="10006"/>
                  </a:ext>
                </a:extLst>
              </a:tr>
              <a:tr h="566928">
                <a:tc>
                  <a:txBody>
                    <a:bodyPr/>
                    <a:lstStyle/>
                    <a:p>
                      <a:pPr marL="0" indent="0">
                        <a:buNone/>
                      </a:pPr>
                      <a:r>
                        <a:rPr lang="en-US" sz="1200" b="1" dirty="0">
                          <a:solidFill>
                            <a:srgbClr val="7D6230"/>
                          </a:solidFill>
                          <a:latin typeface="Calibri" pitchFamily="34" charset="0"/>
                          <a:ea typeface="Calibri" pitchFamily="34" charset="-122"/>
                          <a:cs typeface="Calibri" pitchFamily="34" charset="-120"/>
                        </a:rPr>
                        <a:t>07</a:t>
                      </a:r>
                      <a:endParaRPr lang="en-US" sz="120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FFFFFF"/>
                    </a:solidFill>
                  </a:tcPr>
                </a:tc>
                <a:tc>
                  <a:txBody>
                    <a:bodyPr/>
                    <a:lstStyle/>
                    <a:p>
                      <a:pPr marL="0" indent="0">
                        <a:buNone/>
                      </a:pPr>
                      <a:r>
                        <a:rPr lang="en-US" sz="1200" b="1" dirty="0">
                          <a:solidFill>
                            <a:srgbClr val="1B2A4A"/>
                          </a:solidFill>
                          <a:latin typeface="Calibri" pitchFamily="34" charset="0"/>
                          <a:ea typeface="Calibri" pitchFamily="34" charset="-122"/>
                          <a:cs typeface="Calibri" pitchFamily="34" charset="-120"/>
                        </a:rPr>
                        <a:t>Transform</a:t>
                      </a:r>
                      <a:endParaRPr lang="en-US" sz="120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FFFFFF"/>
                    </a:solidFill>
                  </a:tcPr>
                </a:tc>
                <a:tc>
                  <a:txBody>
                    <a:bodyPr/>
                    <a:lstStyle/>
                    <a:p>
                      <a:pPr marL="0" indent="0">
                        <a:buNone/>
                      </a:pPr>
                      <a:r>
                        <a:rPr lang="en-US" sz="1150" dirty="0">
                          <a:solidFill>
                            <a:srgbClr val="3A3A3A"/>
                          </a:solidFill>
                          <a:latin typeface="Calibri" pitchFamily="34" charset="0"/>
                          <a:ea typeface="Calibri" pitchFamily="34" charset="-122"/>
                          <a:cs typeface="Calibri" pitchFamily="34" charset="-120"/>
                        </a:rPr>
                        <a:t>The business runs differently — and keeps running differently.</a:t>
                      </a:r>
                      <a:endParaRPr lang="en-US" sz="115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Text 4"/>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COPY REVIEW</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3. Where most consulting stops</a:t>
            </a:r>
            <a:endParaRPr lang="en-US" sz="2500" dirty="0"/>
          </a:p>
        </p:txBody>
      </p:sp>
      <p:sp>
        <p:nvSpPr>
          <p:cNvPr id="5" name="Text 3"/>
          <p:cNvSpPr txBox="1"/>
          <p:nvPr/>
        </p:nvSpPr>
        <p:spPr>
          <a:xfrm>
            <a:off x="548640" y="1097280"/>
            <a:ext cx="11094415" cy="274320"/>
          </a:xfrm>
          <a:prstGeom prst="rect">
            <a:avLst/>
          </a:prstGeom>
          <a:noFill/>
          <a:ln/>
        </p:spPr>
        <p:txBody>
          <a:bodyPr wrap="square" lIns="0" tIns="0" rIns="0" bIns="0" rtlCol="0" anchor="ctr"/>
          <a:lstStyle/>
          <a:p>
            <a:pPr marL="0" indent="0">
              <a:buNone/>
            </a:pPr>
            <a:r>
              <a:rPr lang="en-US" sz="1200" b="1" kern="0" spc="150" dirty="0">
                <a:solidFill>
                  <a:srgbClr val="7D6230"/>
                </a:solidFill>
                <a:latin typeface="Calibri" pitchFamily="34" charset="0"/>
                <a:ea typeface="Calibri" pitchFamily="34" charset="-122"/>
                <a:cs typeface="Calibri" pitchFamily="34" charset="-120"/>
              </a:rPr>
              <a:t>SERVICES</a:t>
            </a:r>
            <a:endParaRPr lang="en-US" sz="1200" dirty="0"/>
          </a:p>
        </p:txBody>
      </p:sp>
      <p:sp>
        <p:nvSpPr>
          <p:cNvPr id="6" name="Shape 4"/>
          <p:cNvSpPr/>
          <p:nvPr/>
        </p:nvSpPr>
        <p:spPr>
          <a:xfrm>
            <a:off x="548640" y="1481328"/>
            <a:ext cx="11094415" cy="25603"/>
          </a:xfrm>
          <a:prstGeom prst="rect">
            <a:avLst/>
          </a:prstGeom>
          <a:solidFill>
            <a:srgbClr val="B8965A"/>
          </a:solidFill>
          <a:ln/>
        </p:spPr>
      </p:sp>
      <p:sp>
        <p:nvSpPr>
          <p:cNvPr id="7" name="Shape 5"/>
          <p:cNvSpPr/>
          <p:nvPr/>
        </p:nvSpPr>
        <p:spPr>
          <a:xfrm>
            <a:off x="548640" y="1506931"/>
            <a:ext cx="11094415" cy="560832"/>
          </a:xfrm>
          <a:prstGeom prst="rect">
            <a:avLst/>
          </a:prstGeom>
          <a:solidFill>
            <a:srgbClr val="EDEBE5"/>
          </a:solidFill>
          <a:ln/>
        </p:spPr>
      </p:sp>
      <p:sp>
        <p:nvSpPr>
          <p:cNvPr id="8" name="Text 6"/>
          <p:cNvSpPr txBox="1"/>
          <p:nvPr/>
        </p:nvSpPr>
        <p:spPr>
          <a:xfrm>
            <a:off x="749808" y="1506931"/>
            <a:ext cx="10692079" cy="560832"/>
          </a:xfrm>
          <a:prstGeom prst="rect">
            <a:avLst/>
          </a:prstGeom>
          <a:noFill/>
          <a:ln/>
        </p:spPr>
        <p:txBody>
          <a:bodyPr wrap="square" lIns="635" tIns="635" rIns="635" bIns="635" rtlCol="0" anchor="ctr"/>
          <a:lstStyle/>
          <a:p>
            <a:pPr marL="0" indent="0">
              <a:buNone/>
            </a:pPr>
            <a:r>
              <a:rPr lang="en-US" sz="1600" i="1" dirty="0">
                <a:solidFill>
                  <a:srgbClr val="3A3A3A"/>
                </a:solidFill>
                <a:latin typeface="Calibri" pitchFamily="34" charset="0"/>
                <a:ea typeface="Calibri" pitchFamily="34" charset="-122"/>
                <a:cs typeface="Calibri" pitchFamily="34" charset="-120"/>
              </a:rPr>
              <a:t>The later stages are where good plans become real change.</a:t>
            </a:r>
            <a:endParaRPr lang="en-US" sz="1600" dirty="0"/>
          </a:p>
        </p:txBody>
      </p:sp>
      <p:sp>
        <p:nvSpPr>
          <p:cNvPr id="9" name="Shape 7"/>
          <p:cNvSpPr/>
          <p:nvPr/>
        </p:nvSpPr>
        <p:spPr>
          <a:xfrm>
            <a:off x="548640" y="2232355"/>
            <a:ext cx="11094415" cy="1097280"/>
          </a:xfrm>
          <a:prstGeom prst="rect">
            <a:avLst/>
          </a:prstGeom>
          <a:solidFill>
            <a:srgbClr val="F2F0EA"/>
          </a:solidFill>
          <a:ln/>
        </p:spPr>
      </p:sp>
      <p:sp>
        <p:nvSpPr>
          <p:cNvPr id="10" name="Text 8"/>
          <p:cNvSpPr txBox="1"/>
          <p:nvPr/>
        </p:nvSpPr>
        <p:spPr>
          <a:xfrm>
            <a:off x="749808" y="2232355"/>
            <a:ext cx="10692079" cy="1097280"/>
          </a:xfrm>
          <a:prstGeom prst="rect">
            <a:avLst/>
          </a:prstGeom>
          <a:noFill/>
          <a:ln/>
        </p:spPr>
        <p:txBody>
          <a:bodyPr wrap="square" lIns="635" tIns="635" rIns="635" bIns="635" rtlCol="0" anchor="ctr"/>
          <a:lstStyle/>
          <a:p>
            <a:pPr marL="0" indent="0">
              <a:buNone/>
            </a:pPr>
            <a:r>
              <a:rPr lang="en-US" sz="1600" b="1" dirty="0">
                <a:solidFill>
                  <a:srgbClr val="3A3A3A"/>
                </a:solidFill>
                <a:latin typeface="Calibri" pitchFamily="34" charset="0"/>
                <a:ea typeface="Calibri" pitchFamily="34" charset="-122"/>
                <a:cs typeface="Calibri" pitchFamily="34" charset="-120"/>
              </a:rPr>
              <a:t>Seiran stays involved through execution, working alongside the team that has to make the change work. If the change only works when the adviser is in the room, it isn't built to last.</a:t>
            </a:r>
            <a:endParaRPr lang="en-US" sz="1600" dirty="0"/>
          </a:p>
        </p:txBody>
      </p:sp>
      <p:sp>
        <p:nvSpPr>
          <p:cNvPr id="11" name="Text 9"/>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COPY REVIEW</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5. Last word before the call to action</a:t>
            </a:r>
            <a:endParaRPr lang="en-US" sz="2500" dirty="0"/>
          </a:p>
        </p:txBody>
      </p:sp>
      <p:sp>
        <p:nvSpPr>
          <p:cNvPr id="5" name="Text 3"/>
          <p:cNvSpPr txBox="1"/>
          <p:nvPr/>
        </p:nvSpPr>
        <p:spPr>
          <a:xfrm>
            <a:off x="548640" y="1097280"/>
            <a:ext cx="11094415" cy="274320"/>
          </a:xfrm>
          <a:prstGeom prst="rect">
            <a:avLst/>
          </a:prstGeom>
          <a:noFill/>
          <a:ln/>
        </p:spPr>
        <p:txBody>
          <a:bodyPr wrap="square" lIns="0" tIns="0" rIns="0" bIns="0" rtlCol="0" anchor="ctr"/>
          <a:lstStyle/>
          <a:p>
            <a:pPr marL="0" indent="0">
              <a:buNone/>
            </a:pPr>
            <a:r>
              <a:rPr lang="en-US" sz="1200" b="1" kern="0" spc="150" dirty="0">
                <a:solidFill>
                  <a:srgbClr val="7D6230"/>
                </a:solidFill>
                <a:latin typeface="Calibri" pitchFamily="34" charset="0"/>
                <a:ea typeface="Calibri" pitchFamily="34" charset="-122"/>
                <a:cs typeface="Calibri" pitchFamily="34" charset="-120"/>
              </a:rPr>
              <a:t>SERVICES</a:t>
            </a:r>
            <a:endParaRPr lang="en-US" sz="1200" dirty="0"/>
          </a:p>
        </p:txBody>
      </p:sp>
      <p:sp>
        <p:nvSpPr>
          <p:cNvPr id="6" name="Text 4"/>
          <p:cNvSpPr txBox="1"/>
          <p:nvPr/>
        </p:nvSpPr>
        <p:spPr>
          <a:xfrm>
            <a:off x="548640" y="1481328"/>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ORIGINAL</a:t>
            </a:r>
            <a:endParaRPr lang="en-US" sz="1100" dirty="0"/>
          </a:p>
        </p:txBody>
      </p:sp>
      <p:sp>
        <p:nvSpPr>
          <p:cNvPr id="7" name="Shape 5"/>
          <p:cNvSpPr/>
          <p:nvPr/>
        </p:nvSpPr>
        <p:spPr>
          <a:xfrm>
            <a:off x="548640" y="1755648"/>
            <a:ext cx="11094415" cy="25603"/>
          </a:xfrm>
          <a:prstGeom prst="rect">
            <a:avLst/>
          </a:prstGeom>
          <a:solidFill>
            <a:srgbClr val="B8965A"/>
          </a:solidFill>
          <a:ln/>
        </p:spPr>
      </p:sp>
      <p:sp>
        <p:nvSpPr>
          <p:cNvPr id="8" name="Shape 6"/>
          <p:cNvSpPr/>
          <p:nvPr/>
        </p:nvSpPr>
        <p:spPr>
          <a:xfrm>
            <a:off x="548640" y="1781251"/>
            <a:ext cx="11094415" cy="762000"/>
          </a:xfrm>
          <a:prstGeom prst="rect">
            <a:avLst/>
          </a:prstGeom>
          <a:solidFill>
            <a:srgbClr val="EDEBE5"/>
          </a:solidFill>
          <a:ln/>
        </p:spPr>
      </p:sp>
      <p:sp>
        <p:nvSpPr>
          <p:cNvPr id="9" name="Text 7"/>
          <p:cNvSpPr txBox="1"/>
          <p:nvPr/>
        </p:nvSpPr>
        <p:spPr>
          <a:xfrm>
            <a:off x="749808" y="1781251"/>
            <a:ext cx="10692079" cy="762000"/>
          </a:xfrm>
          <a:prstGeom prst="rect">
            <a:avLst/>
          </a:prstGeom>
          <a:noFill/>
          <a:ln/>
        </p:spPr>
        <p:txBody>
          <a:bodyPr wrap="square" lIns="635" tIns="635" rIns="635" bIns="635" rtlCol="0" anchor="ctr"/>
          <a:lstStyle/>
          <a:p>
            <a:pPr marL="0" indent="0">
              <a:buNone/>
            </a:pPr>
            <a:r>
              <a:rPr lang="en-US" sz="1400" i="1" dirty="0">
                <a:solidFill>
                  <a:srgbClr val="3A3A3A"/>
                </a:solidFill>
                <a:latin typeface="Calibri" pitchFamily="34" charset="0"/>
                <a:ea typeface="Calibri" pitchFamily="34" charset="-122"/>
                <a:cs typeface="Calibri" pitchFamily="34" charset="-120"/>
              </a:rPr>
              <a:t>Most owners arrive expecting stage four and turn out to need stage two. Establishing that is what a first conversation is for.</a:t>
            </a:r>
            <a:endParaRPr lang="en-US" sz="1400" dirty="0"/>
          </a:p>
        </p:txBody>
      </p:sp>
      <p:sp>
        <p:nvSpPr>
          <p:cNvPr id="10" name="Text 8"/>
          <p:cNvSpPr txBox="1"/>
          <p:nvPr/>
        </p:nvSpPr>
        <p:spPr>
          <a:xfrm>
            <a:off x="548640" y="2707843"/>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REVISED / PROPOSED</a:t>
            </a:r>
            <a:endParaRPr lang="en-US" sz="1100" dirty="0"/>
          </a:p>
        </p:txBody>
      </p:sp>
      <p:sp>
        <p:nvSpPr>
          <p:cNvPr id="11" name="Shape 9"/>
          <p:cNvSpPr/>
          <p:nvPr/>
        </p:nvSpPr>
        <p:spPr>
          <a:xfrm>
            <a:off x="548640" y="2982163"/>
            <a:ext cx="11094415" cy="25603"/>
          </a:xfrm>
          <a:prstGeom prst="rect">
            <a:avLst/>
          </a:prstGeom>
          <a:solidFill>
            <a:srgbClr val="B8965A"/>
          </a:solidFill>
          <a:ln/>
        </p:spPr>
      </p:sp>
      <p:sp>
        <p:nvSpPr>
          <p:cNvPr id="12" name="Shape 10"/>
          <p:cNvSpPr/>
          <p:nvPr/>
        </p:nvSpPr>
        <p:spPr>
          <a:xfrm>
            <a:off x="548640" y="3007766"/>
            <a:ext cx="11094415" cy="762000"/>
          </a:xfrm>
          <a:prstGeom prst="rect">
            <a:avLst/>
          </a:prstGeom>
          <a:solidFill>
            <a:srgbClr val="F2F0EA"/>
          </a:solidFill>
          <a:ln/>
        </p:spPr>
      </p:sp>
      <p:sp>
        <p:nvSpPr>
          <p:cNvPr id="13" name="Text 11"/>
          <p:cNvSpPr txBox="1"/>
          <p:nvPr/>
        </p:nvSpPr>
        <p:spPr>
          <a:xfrm>
            <a:off x="749808" y="3007766"/>
            <a:ext cx="10692079" cy="762000"/>
          </a:xfrm>
          <a:prstGeom prst="rect">
            <a:avLst/>
          </a:prstGeom>
          <a:noFill/>
          <a:ln/>
        </p:spPr>
        <p:txBody>
          <a:bodyPr wrap="square" lIns="635" tIns="635" rIns="635" bIns="635" rtlCol="0" anchor="ctr"/>
          <a:lstStyle/>
          <a:p>
            <a:pPr marL="0" indent="0">
              <a:buNone/>
            </a:pPr>
            <a:r>
              <a:rPr lang="en-US" sz="1400" i="1" dirty="0">
                <a:solidFill>
                  <a:srgbClr val="3A3A3A"/>
                </a:solidFill>
                <a:latin typeface="Calibri" pitchFamily="34" charset="0"/>
                <a:ea typeface="Calibri" pitchFamily="34" charset="-122"/>
                <a:cs typeface="Calibri" pitchFamily="34" charset="-120"/>
              </a:rPr>
              <a:t>Many owners come looking for a solution before they have identified the real problem. The first conversation helps us understand where the business really needs to start.</a:t>
            </a:r>
            <a:endParaRPr lang="en-US" sz="1400" dirty="0"/>
          </a:p>
        </p:txBody>
      </p:sp>
      <p:sp>
        <p:nvSpPr>
          <p:cNvPr id="14" name="Text 12"/>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COPY REVIEW</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B8965A"/>
          </a:solidFill>
          <a:ln/>
        </p:spPr>
      </p:sp>
      <p:sp>
        <p:nvSpPr>
          <p:cNvPr id="3" name="Text 1"/>
          <p:cNvSpPr txBox="1"/>
          <p:nvPr/>
        </p:nvSpPr>
        <p:spPr>
          <a:xfrm>
            <a:off x="548640" y="2377440"/>
            <a:ext cx="7315200" cy="365760"/>
          </a:xfrm>
          <a:prstGeom prst="rect">
            <a:avLst/>
          </a:prstGeom>
          <a:noFill/>
          <a:ln/>
        </p:spPr>
        <p:txBody>
          <a:bodyPr wrap="square" lIns="0" tIns="0" rIns="0" bIns="0" rtlCol="0" anchor="ctr"/>
          <a:lstStyle/>
          <a:p>
            <a:pPr marL="0" indent="0">
              <a:buNone/>
            </a:pPr>
            <a:r>
              <a:rPr lang="en-US" sz="1400" b="1" kern="0" spc="200" dirty="0">
                <a:solidFill>
                  <a:srgbClr val="7D6230"/>
                </a:solidFill>
                <a:latin typeface="Calibri" pitchFamily="34" charset="0"/>
                <a:ea typeface="Calibri" pitchFamily="34" charset="-122"/>
                <a:cs typeface="Calibri" pitchFamily="34" charset="-120"/>
              </a:rPr>
              <a:t>SECTION 04</a:t>
            </a:r>
            <a:endParaRPr lang="en-US" sz="1400" dirty="0"/>
          </a:p>
        </p:txBody>
      </p:sp>
      <p:sp>
        <p:nvSpPr>
          <p:cNvPr id="4" name="Text 2"/>
          <p:cNvSpPr txBox="1"/>
          <p:nvPr/>
        </p:nvSpPr>
        <p:spPr>
          <a:xfrm>
            <a:off x="548640" y="2743200"/>
            <a:ext cx="9601200" cy="1097280"/>
          </a:xfrm>
          <a:prstGeom prst="rect">
            <a:avLst/>
          </a:prstGeom>
          <a:noFill/>
          <a:ln/>
        </p:spPr>
        <p:txBody>
          <a:bodyPr wrap="square" lIns="0" tIns="0" rIns="0" bIns="0"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Services</a:t>
            </a:r>
            <a:endParaRPr lang="en-US" sz="4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1. “The other three”</a:t>
            </a:r>
            <a:endParaRPr lang="en-US" sz="2500" dirty="0"/>
          </a:p>
        </p:txBody>
      </p:sp>
      <p:sp>
        <p:nvSpPr>
          <p:cNvPr id="5" name="Text 3"/>
          <p:cNvSpPr txBox="1"/>
          <p:nvPr/>
        </p:nvSpPr>
        <p:spPr>
          <a:xfrm>
            <a:off x="548640" y="1097280"/>
            <a:ext cx="11094415" cy="274320"/>
          </a:xfrm>
          <a:prstGeom prst="rect">
            <a:avLst/>
          </a:prstGeom>
          <a:noFill/>
          <a:ln/>
        </p:spPr>
        <p:txBody>
          <a:bodyPr wrap="square" lIns="0" tIns="0" rIns="0" bIns="0" rtlCol="0" anchor="ctr"/>
          <a:lstStyle/>
          <a:p>
            <a:pPr marL="0" indent="0">
              <a:buNone/>
            </a:pPr>
            <a:r>
              <a:rPr lang="en-US" sz="1200" b="1" kern="0" spc="150" dirty="0">
                <a:solidFill>
                  <a:srgbClr val="7D6230"/>
                </a:solidFill>
                <a:latin typeface="Calibri" pitchFamily="34" charset="0"/>
                <a:ea typeface="Calibri" pitchFamily="34" charset="-122"/>
                <a:cs typeface="Calibri" pitchFamily="34" charset="-120"/>
              </a:rPr>
              <a:t>SERVICES</a:t>
            </a:r>
            <a:endParaRPr lang="en-US" sz="1200" dirty="0"/>
          </a:p>
        </p:txBody>
      </p:sp>
      <p:sp>
        <p:nvSpPr>
          <p:cNvPr id="6" name="Text 4"/>
          <p:cNvSpPr txBox="1"/>
          <p:nvPr/>
        </p:nvSpPr>
        <p:spPr>
          <a:xfrm>
            <a:off x="548640" y="1481328"/>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ORIGINAL</a:t>
            </a:r>
            <a:endParaRPr lang="en-US" sz="1100" dirty="0"/>
          </a:p>
        </p:txBody>
      </p:sp>
      <p:sp>
        <p:nvSpPr>
          <p:cNvPr id="7" name="Shape 5"/>
          <p:cNvSpPr/>
          <p:nvPr/>
        </p:nvSpPr>
        <p:spPr>
          <a:xfrm>
            <a:off x="548640" y="1755648"/>
            <a:ext cx="11094415" cy="25603"/>
          </a:xfrm>
          <a:prstGeom prst="rect">
            <a:avLst/>
          </a:prstGeom>
          <a:solidFill>
            <a:srgbClr val="B8965A"/>
          </a:solidFill>
          <a:ln/>
        </p:spPr>
      </p:sp>
      <p:sp>
        <p:nvSpPr>
          <p:cNvPr id="8" name="Shape 6"/>
          <p:cNvSpPr/>
          <p:nvPr/>
        </p:nvSpPr>
        <p:spPr>
          <a:xfrm>
            <a:off x="548640" y="1781251"/>
            <a:ext cx="11094415" cy="527304"/>
          </a:xfrm>
          <a:prstGeom prst="rect">
            <a:avLst/>
          </a:prstGeom>
          <a:solidFill>
            <a:srgbClr val="EDEBE5"/>
          </a:solidFill>
          <a:ln/>
        </p:spPr>
      </p:sp>
      <p:sp>
        <p:nvSpPr>
          <p:cNvPr id="9" name="Text 7"/>
          <p:cNvSpPr txBox="1"/>
          <p:nvPr/>
        </p:nvSpPr>
        <p:spPr>
          <a:xfrm>
            <a:off x="749808" y="1781251"/>
            <a:ext cx="10692079" cy="527304"/>
          </a:xfrm>
          <a:prstGeom prst="rect">
            <a:avLst/>
          </a:prstGeom>
          <a:noFill/>
          <a:ln/>
        </p:spPr>
        <p:txBody>
          <a:bodyPr wrap="square" lIns="635" tIns="635" rIns="635" bIns="635" rtlCol="0" anchor="ctr"/>
          <a:lstStyle/>
          <a:p>
            <a:pPr marL="0" indent="0">
              <a:buNone/>
            </a:pPr>
            <a:r>
              <a:rPr lang="en-US" sz="1400" i="1" dirty="0">
                <a:solidFill>
                  <a:srgbClr val="3A3A3A"/>
                </a:solidFill>
                <a:latin typeface="Calibri" pitchFamily="34" charset="0"/>
                <a:ea typeface="Calibri" pitchFamily="34" charset="-122"/>
                <a:cs typeface="Calibri" pitchFamily="34" charset="-120"/>
              </a:rPr>
              <a:t>The other three — Rarely addressed in isolation</a:t>
            </a:r>
            <a:endParaRPr lang="en-US" sz="1400" dirty="0"/>
          </a:p>
        </p:txBody>
      </p:sp>
      <p:sp>
        <p:nvSpPr>
          <p:cNvPr id="10" name="Text 8"/>
          <p:cNvSpPr txBox="1"/>
          <p:nvPr/>
        </p:nvSpPr>
        <p:spPr>
          <a:xfrm>
            <a:off x="548640" y="2473147"/>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REVISED / PROPOSED</a:t>
            </a:r>
            <a:endParaRPr lang="en-US" sz="1100" dirty="0"/>
          </a:p>
        </p:txBody>
      </p:sp>
      <p:sp>
        <p:nvSpPr>
          <p:cNvPr id="11" name="Shape 9"/>
          <p:cNvSpPr/>
          <p:nvPr/>
        </p:nvSpPr>
        <p:spPr>
          <a:xfrm>
            <a:off x="548640" y="2747467"/>
            <a:ext cx="11094415" cy="25603"/>
          </a:xfrm>
          <a:prstGeom prst="rect">
            <a:avLst/>
          </a:prstGeom>
          <a:solidFill>
            <a:srgbClr val="B8965A"/>
          </a:solidFill>
          <a:ln/>
        </p:spPr>
      </p:sp>
      <p:sp>
        <p:nvSpPr>
          <p:cNvPr id="12" name="Shape 10"/>
          <p:cNvSpPr/>
          <p:nvPr/>
        </p:nvSpPr>
        <p:spPr>
          <a:xfrm>
            <a:off x="548640" y="2773070"/>
            <a:ext cx="11094415" cy="527304"/>
          </a:xfrm>
          <a:prstGeom prst="rect">
            <a:avLst/>
          </a:prstGeom>
          <a:solidFill>
            <a:srgbClr val="F2F0EA"/>
          </a:solidFill>
          <a:ln/>
        </p:spPr>
      </p:sp>
      <p:sp>
        <p:nvSpPr>
          <p:cNvPr id="13" name="Text 11"/>
          <p:cNvSpPr txBox="1"/>
          <p:nvPr/>
        </p:nvSpPr>
        <p:spPr>
          <a:xfrm>
            <a:off x="749808" y="2773070"/>
            <a:ext cx="10692079" cy="527304"/>
          </a:xfrm>
          <a:prstGeom prst="rect">
            <a:avLst/>
          </a:prstGeom>
          <a:noFill/>
          <a:ln/>
        </p:spPr>
        <p:txBody>
          <a:bodyPr wrap="square" lIns="635" tIns="635" rIns="635" bIns="635" rtlCol="0" anchor="ctr"/>
          <a:lstStyle/>
          <a:p>
            <a:pPr marL="0" indent="0">
              <a:buNone/>
            </a:pPr>
            <a:r>
              <a:rPr lang="en-US" sz="1400" b="1" i="1" dirty="0">
                <a:solidFill>
                  <a:srgbClr val="3A3A3A"/>
                </a:solidFill>
                <a:latin typeface="Calibri" pitchFamily="34" charset="0"/>
                <a:ea typeface="Calibri" pitchFamily="34" charset="-122"/>
                <a:cs typeface="Calibri" pitchFamily="34" charset="-120"/>
              </a:rPr>
              <a:t>The other three — Often part of the solution</a:t>
            </a:r>
            <a:endParaRPr lang="en-US" sz="1400" b="1" dirty="0"/>
          </a:p>
        </p:txBody>
      </p:sp>
      <p:sp>
        <p:nvSpPr>
          <p:cNvPr id="15" name="Shape 13"/>
          <p:cNvSpPr/>
          <p:nvPr/>
        </p:nvSpPr>
        <p:spPr>
          <a:xfrm>
            <a:off x="548640" y="3739286"/>
            <a:ext cx="11094415" cy="728472"/>
          </a:xfrm>
          <a:prstGeom prst="rect">
            <a:avLst/>
          </a:prstGeom>
          <a:solidFill>
            <a:srgbClr val="FFFFFF"/>
          </a:solidFill>
          <a:ln/>
        </p:spPr>
      </p:sp>
      <p:sp>
        <p:nvSpPr>
          <p:cNvPr id="17" name="Text 15"/>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COPY REVIEW</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2. Strategy &amp; Growth</a:t>
            </a:r>
            <a:endParaRPr lang="en-US" sz="2500" dirty="0"/>
          </a:p>
        </p:txBody>
      </p:sp>
      <p:sp>
        <p:nvSpPr>
          <p:cNvPr id="6" name="Text 4"/>
          <p:cNvSpPr txBox="1"/>
          <p:nvPr/>
        </p:nvSpPr>
        <p:spPr>
          <a:xfrm>
            <a:off x="548640" y="1481328"/>
            <a:ext cx="11094415" cy="320040"/>
          </a:xfrm>
          <a:prstGeom prst="rect">
            <a:avLst/>
          </a:prstGeom>
          <a:noFill/>
          <a:ln/>
        </p:spPr>
        <p:txBody>
          <a:bodyPr wrap="square" lIns="0" tIns="0" rIns="0" bIns="0" rtlCol="0" anchor="ctr"/>
          <a:lstStyle/>
          <a:p>
            <a:pPr marL="0" indent="0">
              <a:buNone/>
            </a:pPr>
            <a:r>
              <a:rPr lang="en-US" sz="1300" i="1" dirty="0">
                <a:solidFill>
                  <a:srgbClr val="3A3A3A"/>
                </a:solidFill>
                <a:latin typeface="Calibri" pitchFamily="34" charset="0"/>
                <a:ea typeface="Calibri" pitchFamily="34" charset="-122"/>
                <a:cs typeface="Calibri" pitchFamily="34" charset="-120"/>
              </a:rPr>
              <a:t>Deciding where the business is going — and what it needs to stop doing to get there.</a:t>
            </a:r>
            <a:endParaRPr lang="en-US" sz="13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865376"/>
          <a:ext cx="11094415" cy="4114800"/>
        </p:xfrm>
        <a:graphic>
          <a:graphicData uri="http://schemas.openxmlformats.org/drawingml/2006/table">
            <a:tbl>
              <a:tblPr/>
              <a:tblGrid>
                <a:gridCol w="50292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7528255">
                  <a:extLst>
                    <a:ext uri="{9D8B030D-6E8A-4147-A177-3AD203B41FA5}">
                      <a16:colId xmlns:a16="http://schemas.microsoft.com/office/drawing/2014/main" val="20002"/>
                    </a:ext>
                  </a:extLst>
                </a:gridCol>
              </a:tblGrid>
              <a:tr h="45720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1B2A4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Service</a:t>
                      </a:r>
                      <a:endParaRPr lang="en-US" sz="110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1B2A4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Plain-English question</a:t>
                      </a:r>
                      <a:endParaRPr lang="en-US" sz="110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57200">
                <a:tc>
                  <a:txBody>
                    <a:bodyPr/>
                    <a:lstStyle/>
                    <a:p>
                      <a:pPr marL="0" indent="0">
                        <a:buNone/>
                      </a:pPr>
                      <a:r>
                        <a:rPr lang="en-US" sz="1050" b="1" dirty="0">
                          <a:solidFill>
                            <a:srgbClr val="7D6230"/>
                          </a:solidFill>
                          <a:latin typeface="Calibri" pitchFamily="34" charset="0"/>
                          <a:ea typeface="Calibri" pitchFamily="34" charset="-122"/>
                          <a:cs typeface="Calibri" pitchFamily="34" charset="-120"/>
                        </a:rPr>
                        <a:t>01</a:t>
                      </a:r>
                      <a:endParaRPr lang="en-US" sz="105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FFFFFF"/>
                    </a:solidFill>
                  </a:tcPr>
                </a:tc>
                <a:tc>
                  <a:txBody>
                    <a:bodyPr/>
                    <a:lstStyle/>
                    <a:p>
                      <a:pPr marL="0" indent="0">
                        <a:buNone/>
                      </a:pPr>
                      <a:r>
                        <a:rPr lang="en-US" sz="1050" b="1" dirty="0">
                          <a:solidFill>
                            <a:srgbClr val="1B2A4A"/>
                          </a:solidFill>
                          <a:latin typeface="Calibri" pitchFamily="34" charset="0"/>
                          <a:ea typeface="Calibri" pitchFamily="34" charset="-122"/>
                          <a:cs typeface="Calibri" pitchFamily="34" charset="-120"/>
                        </a:rPr>
                        <a:t>Strategic Planning</a:t>
                      </a:r>
                      <a:endParaRPr lang="en-US" sz="105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FFFFFF"/>
                    </a:solidFill>
                  </a:tcPr>
                </a:tc>
                <a:tc>
                  <a:txBody>
                    <a:bodyPr/>
                    <a:lstStyle/>
                    <a:p>
                      <a:pPr marL="0" indent="0">
                        <a:buNone/>
                      </a:pPr>
                      <a:r>
                        <a:rPr lang="en-US" sz="1050" i="1" dirty="0">
                          <a:solidFill>
                            <a:srgbClr val="3A3A3A"/>
                          </a:solidFill>
                          <a:latin typeface="Calibri" pitchFamily="34" charset="0"/>
                          <a:ea typeface="Calibri" pitchFamily="34" charset="-122"/>
                          <a:cs typeface="Calibri" pitchFamily="34" charset="-120"/>
                        </a:rPr>
                        <a:t>Where are we going?</a:t>
                      </a:r>
                      <a:endParaRPr lang="en-US" sz="105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050" b="1" dirty="0">
                          <a:solidFill>
                            <a:srgbClr val="7D6230"/>
                          </a:solidFill>
                          <a:latin typeface="Calibri" pitchFamily="34" charset="0"/>
                          <a:ea typeface="Calibri" pitchFamily="34" charset="-122"/>
                          <a:cs typeface="Calibri" pitchFamily="34" charset="-120"/>
                        </a:rPr>
                        <a:t>02</a:t>
                      </a:r>
                      <a:endParaRPr lang="en-US" sz="105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EDEBE5"/>
                    </a:solidFill>
                  </a:tcPr>
                </a:tc>
                <a:tc>
                  <a:txBody>
                    <a:bodyPr/>
                    <a:lstStyle/>
                    <a:p>
                      <a:pPr marL="0" indent="0">
                        <a:buNone/>
                      </a:pPr>
                      <a:r>
                        <a:rPr lang="en-US" sz="1050" b="1" dirty="0">
                          <a:solidFill>
                            <a:srgbClr val="1B2A4A"/>
                          </a:solidFill>
                          <a:latin typeface="Calibri" pitchFamily="34" charset="0"/>
                          <a:ea typeface="Calibri" pitchFamily="34" charset="-122"/>
                          <a:cs typeface="Calibri" pitchFamily="34" charset="-120"/>
                        </a:rPr>
                        <a:t>Growth Strategy</a:t>
                      </a:r>
                      <a:endParaRPr lang="en-US" sz="105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EDEBE5"/>
                    </a:solidFill>
                  </a:tcPr>
                </a:tc>
                <a:tc>
                  <a:txBody>
                    <a:bodyPr/>
                    <a:lstStyle/>
                    <a:p>
                      <a:pPr marL="0" indent="0">
                        <a:buNone/>
                      </a:pPr>
                      <a:r>
                        <a:rPr lang="en-US" sz="1050" i="1" dirty="0">
                          <a:solidFill>
                            <a:srgbClr val="3A3A3A"/>
                          </a:solidFill>
                          <a:latin typeface="Calibri" pitchFamily="34" charset="0"/>
                          <a:ea typeface="Calibri" pitchFamily="34" charset="-122"/>
                          <a:cs typeface="Calibri" pitchFamily="34" charset="-120"/>
                        </a:rPr>
                        <a:t>How can we grow?</a:t>
                      </a:r>
                      <a:endParaRPr lang="en-US" sz="105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EDEBE5"/>
                    </a:solidFill>
                  </a:tcPr>
                </a:tc>
                <a:extLst>
                  <a:ext uri="{0D108BD9-81ED-4DB2-BD59-A6C34878D82A}">
                    <a16:rowId xmlns:a16="http://schemas.microsoft.com/office/drawing/2014/main" val="10002"/>
                  </a:ext>
                </a:extLst>
              </a:tr>
              <a:tr h="457200">
                <a:tc>
                  <a:txBody>
                    <a:bodyPr/>
                    <a:lstStyle/>
                    <a:p>
                      <a:pPr marL="0" indent="0">
                        <a:buNone/>
                      </a:pPr>
                      <a:r>
                        <a:rPr lang="en-US" sz="1050" b="1" dirty="0">
                          <a:solidFill>
                            <a:srgbClr val="7D6230"/>
                          </a:solidFill>
                          <a:latin typeface="Calibri" pitchFamily="34" charset="0"/>
                          <a:ea typeface="Calibri" pitchFamily="34" charset="-122"/>
                          <a:cs typeface="Calibri" pitchFamily="34" charset="-120"/>
                        </a:rPr>
                        <a:t>03</a:t>
                      </a:r>
                      <a:endParaRPr lang="en-US" sz="105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FFFFFF"/>
                    </a:solidFill>
                  </a:tcPr>
                </a:tc>
                <a:tc>
                  <a:txBody>
                    <a:bodyPr/>
                    <a:lstStyle/>
                    <a:p>
                      <a:pPr marL="0" indent="0">
                        <a:buNone/>
                      </a:pPr>
                      <a:r>
                        <a:rPr lang="en-US" sz="1050" b="1" dirty="0">
                          <a:solidFill>
                            <a:srgbClr val="1B2A4A"/>
                          </a:solidFill>
                          <a:latin typeface="Calibri" pitchFamily="34" charset="0"/>
                          <a:ea typeface="Calibri" pitchFamily="34" charset="-122"/>
                          <a:cs typeface="Calibri" pitchFamily="34" charset="-120"/>
                        </a:rPr>
                        <a:t>Market Research &amp; Insights</a:t>
                      </a:r>
                      <a:endParaRPr lang="en-US" sz="105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FFFFFF"/>
                    </a:solidFill>
                  </a:tcPr>
                </a:tc>
                <a:tc>
                  <a:txBody>
                    <a:bodyPr/>
                    <a:lstStyle/>
                    <a:p>
                      <a:pPr marL="0" indent="0">
                        <a:buNone/>
                      </a:pPr>
                      <a:r>
                        <a:rPr lang="en-US" sz="1050" i="1" dirty="0">
                          <a:solidFill>
                            <a:srgbClr val="3A3A3A"/>
                          </a:solidFill>
                          <a:latin typeface="Calibri" pitchFamily="34" charset="0"/>
                          <a:ea typeface="Calibri" pitchFamily="34" charset="-122"/>
                          <a:cs typeface="Calibri" pitchFamily="34" charset="-120"/>
                        </a:rPr>
                        <a:t>What is happening in our market?</a:t>
                      </a:r>
                      <a:endParaRPr lang="en-US" sz="105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050" b="1" dirty="0">
                          <a:solidFill>
                            <a:srgbClr val="7D6230"/>
                          </a:solidFill>
                          <a:latin typeface="Calibri" pitchFamily="34" charset="0"/>
                          <a:ea typeface="Calibri" pitchFamily="34" charset="-122"/>
                          <a:cs typeface="Calibri" pitchFamily="34" charset="-120"/>
                        </a:rPr>
                        <a:t>04</a:t>
                      </a:r>
                      <a:endParaRPr lang="en-US" sz="105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EDEBE5"/>
                    </a:solidFill>
                  </a:tcPr>
                </a:tc>
                <a:tc>
                  <a:txBody>
                    <a:bodyPr/>
                    <a:lstStyle/>
                    <a:p>
                      <a:pPr marL="0" indent="0">
                        <a:buNone/>
                      </a:pPr>
                      <a:r>
                        <a:rPr lang="en-US" sz="1050" b="1" dirty="0">
                          <a:solidFill>
                            <a:srgbClr val="1B2A4A"/>
                          </a:solidFill>
                          <a:latin typeface="Calibri" pitchFamily="34" charset="0"/>
                          <a:ea typeface="Calibri" pitchFamily="34" charset="-122"/>
                          <a:cs typeface="Calibri" pitchFamily="34" charset="-120"/>
                        </a:rPr>
                        <a:t>Competitor &amp; Market Analysis</a:t>
                      </a:r>
                      <a:endParaRPr lang="en-US" sz="105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EDEBE5"/>
                    </a:solidFill>
                  </a:tcPr>
                </a:tc>
                <a:tc>
                  <a:txBody>
                    <a:bodyPr/>
                    <a:lstStyle/>
                    <a:p>
                      <a:pPr marL="0" indent="0">
                        <a:buNone/>
                      </a:pPr>
                      <a:r>
                        <a:rPr lang="en-US" sz="1050" i="1" dirty="0">
                          <a:solidFill>
                            <a:srgbClr val="3A3A3A"/>
                          </a:solidFill>
                          <a:latin typeface="Calibri" pitchFamily="34" charset="0"/>
                          <a:ea typeface="Calibri" pitchFamily="34" charset="-122"/>
                          <a:cs typeface="Calibri" pitchFamily="34" charset="-120"/>
                        </a:rPr>
                        <a:t>Where do we stand against the competition?</a:t>
                      </a:r>
                      <a:endParaRPr lang="en-US" sz="105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EDEBE5"/>
                    </a:solidFill>
                  </a:tcPr>
                </a:tc>
                <a:extLst>
                  <a:ext uri="{0D108BD9-81ED-4DB2-BD59-A6C34878D82A}">
                    <a16:rowId xmlns:a16="http://schemas.microsoft.com/office/drawing/2014/main" val="10004"/>
                  </a:ext>
                </a:extLst>
              </a:tr>
              <a:tr h="457200">
                <a:tc>
                  <a:txBody>
                    <a:bodyPr/>
                    <a:lstStyle/>
                    <a:p>
                      <a:pPr marL="0" indent="0">
                        <a:buNone/>
                      </a:pPr>
                      <a:r>
                        <a:rPr lang="en-US" sz="1050" b="1" dirty="0">
                          <a:solidFill>
                            <a:srgbClr val="7D6230"/>
                          </a:solidFill>
                          <a:latin typeface="Calibri" pitchFamily="34" charset="0"/>
                          <a:ea typeface="Calibri" pitchFamily="34" charset="-122"/>
                          <a:cs typeface="Calibri" pitchFamily="34" charset="-120"/>
                        </a:rPr>
                        <a:t>05</a:t>
                      </a:r>
                      <a:endParaRPr lang="en-US" sz="105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FFFFFF"/>
                    </a:solidFill>
                  </a:tcPr>
                </a:tc>
                <a:tc>
                  <a:txBody>
                    <a:bodyPr/>
                    <a:lstStyle/>
                    <a:p>
                      <a:pPr marL="0" indent="0">
                        <a:buNone/>
                      </a:pPr>
                      <a:r>
                        <a:rPr lang="en-US" sz="1050" b="1" dirty="0">
                          <a:solidFill>
                            <a:srgbClr val="1B2A4A"/>
                          </a:solidFill>
                          <a:latin typeface="Calibri" pitchFamily="34" charset="0"/>
                          <a:ea typeface="Calibri" pitchFamily="34" charset="-122"/>
                          <a:cs typeface="Calibri" pitchFamily="34" charset="-120"/>
                        </a:rPr>
                        <a:t>Business Model Design</a:t>
                      </a:r>
                      <a:endParaRPr lang="en-US" sz="105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FFFFFF"/>
                    </a:solidFill>
                  </a:tcPr>
                </a:tc>
                <a:tc>
                  <a:txBody>
                    <a:bodyPr/>
                    <a:lstStyle/>
                    <a:p>
                      <a:pPr marL="0" indent="0">
                        <a:buNone/>
                      </a:pPr>
                      <a:r>
                        <a:rPr lang="en-US" sz="1050" i="1" dirty="0">
                          <a:solidFill>
                            <a:srgbClr val="3A3A3A"/>
                          </a:solidFill>
                          <a:latin typeface="Calibri" pitchFamily="34" charset="0"/>
                          <a:ea typeface="Calibri" pitchFamily="34" charset="-122"/>
                          <a:cs typeface="Calibri" pitchFamily="34" charset="-120"/>
                        </a:rPr>
                        <a:t>Does the way we operate and make money still work?</a:t>
                      </a:r>
                      <a:endParaRPr lang="en-US" sz="105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050" b="1" dirty="0">
                          <a:solidFill>
                            <a:srgbClr val="7D6230"/>
                          </a:solidFill>
                          <a:latin typeface="Calibri" pitchFamily="34" charset="0"/>
                          <a:ea typeface="Calibri" pitchFamily="34" charset="-122"/>
                          <a:cs typeface="Calibri" pitchFamily="34" charset="-120"/>
                        </a:rPr>
                        <a:t>06</a:t>
                      </a:r>
                      <a:endParaRPr lang="en-US" sz="105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EDEBE5"/>
                    </a:solidFill>
                  </a:tcPr>
                </a:tc>
                <a:tc>
                  <a:txBody>
                    <a:bodyPr/>
                    <a:lstStyle/>
                    <a:p>
                      <a:pPr marL="0" indent="0">
                        <a:buNone/>
                      </a:pPr>
                      <a:r>
                        <a:rPr lang="en-US" sz="1050" b="1" dirty="0">
                          <a:solidFill>
                            <a:srgbClr val="1B2A4A"/>
                          </a:solidFill>
                          <a:latin typeface="Calibri" pitchFamily="34" charset="0"/>
                          <a:ea typeface="Calibri" pitchFamily="34" charset="-122"/>
                          <a:cs typeface="Calibri" pitchFamily="34" charset="-120"/>
                        </a:rPr>
                        <a:t>Strategic Focus &amp; Positioning</a:t>
                      </a:r>
                      <a:endParaRPr lang="en-US" sz="105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EDEBE5"/>
                    </a:solidFill>
                  </a:tcPr>
                </a:tc>
                <a:tc>
                  <a:txBody>
                    <a:bodyPr/>
                    <a:lstStyle/>
                    <a:p>
                      <a:pPr marL="0" indent="0">
                        <a:buNone/>
                      </a:pPr>
                      <a:r>
                        <a:rPr lang="en-US" sz="1050" i="1" dirty="0">
                          <a:solidFill>
                            <a:srgbClr val="3A3A3A"/>
                          </a:solidFill>
                          <a:latin typeface="Calibri" pitchFamily="34" charset="0"/>
                          <a:ea typeface="Calibri" pitchFamily="34" charset="-122"/>
                          <a:cs typeface="Calibri" pitchFamily="34" charset="-120"/>
                        </a:rPr>
                        <a:t>What should we focus on and be known for?</a:t>
                      </a:r>
                      <a:endParaRPr lang="en-US" sz="105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EDEBE5"/>
                    </a:solidFill>
                  </a:tcPr>
                </a:tc>
                <a:extLst>
                  <a:ext uri="{0D108BD9-81ED-4DB2-BD59-A6C34878D82A}">
                    <a16:rowId xmlns:a16="http://schemas.microsoft.com/office/drawing/2014/main" val="10006"/>
                  </a:ext>
                </a:extLst>
              </a:tr>
              <a:tr h="457200">
                <a:tc>
                  <a:txBody>
                    <a:bodyPr/>
                    <a:lstStyle/>
                    <a:p>
                      <a:pPr marL="0" indent="0">
                        <a:buNone/>
                      </a:pPr>
                      <a:r>
                        <a:rPr lang="en-US" sz="1050" b="1" dirty="0">
                          <a:solidFill>
                            <a:srgbClr val="7D6230"/>
                          </a:solidFill>
                          <a:latin typeface="Calibri" pitchFamily="34" charset="0"/>
                          <a:ea typeface="Calibri" pitchFamily="34" charset="-122"/>
                          <a:cs typeface="Calibri" pitchFamily="34" charset="-120"/>
                        </a:rPr>
                        <a:t>07</a:t>
                      </a:r>
                      <a:endParaRPr lang="en-US" sz="105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FFFFFF"/>
                    </a:solidFill>
                  </a:tcPr>
                </a:tc>
                <a:tc>
                  <a:txBody>
                    <a:bodyPr/>
                    <a:lstStyle/>
                    <a:p>
                      <a:pPr marL="0" indent="0">
                        <a:buNone/>
                      </a:pPr>
                      <a:r>
                        <a:rPr lang="en-US" sz="1050" b="1" dirty="0">
                          <a:solidFill>
                            <a:srgbClr val="1B2A4A"/>
                          </a:solidFill>
                          <a:latin typeface="Calibri" pitchFamily="34" charset="0"/>
                          <a:ea typeface="Calibri" pitchFamily="34" charset="-122"/>
                          <a:cs typeface="Calibri" pitchFamily="34" charset="-120"/>
                        </a:rPr>
                        <a:t>Market Expansion</a:t>
                      </a:r>
                      <a:endParaRPr lang="en-US" sz="105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FFFFFF"/>
                    </a:solidFill>
                  </a:tcPr>
                </a:tc>
                <a:tc>
                  <a:txBody>
                    <a:bodyPr/>
                    <a:lstStyle/>
                    <a:p>
                      <a:pPr marL="0" indent="0">
                        <a:buNone/>
                      </a:pPr>
                      <a:r>
                        <a:rPr lang="en-US" sz="1050" i="1" dirty="0">
                          <a:solidFill>
                            <a:srgbClr val="3A3A3A"/>
                          </a:solidFill>
                          <a:latin typeface="Calibri" pitchFamily="34" charset="0"/>
                          <a:ea typeface="Calibri" pitchFamily="34" charset="-122"/>
                          <a:cs typeface="Calibri" pitchFamily="34" charset="-120"/>
                        </a:rPr>
                        <a:t>Where else can we grow?</a:t>
                      </a:r>
                      <a:endParaRPr lang="en-US" sz="105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57200">
                <a:tc>
                  <a:txBody>
                    <a:bodyPr/>
                    <a:lstStyle/>
                    <a:p>
                      <a:pPr marL="0" indent="0">
                        <a:buNone/>
                      </a:pPr>
                      <a:r>
                        <a:rPr lang="en-US" sz="1050" b="1" dirty="0">
                          <a:solidFill>
                            <a:srgbClr val="7D6230"/>
                          </a:solidFill>
                          <a:latin typeface="Calibri" pitchFamily="34" charset="0"/>
                          <a:ea typeface="Calibri" pitchFamily="34" charset="-122"/>
                          <a:cs typeface="Calibri" pitchFamily="34" charset="-120"/>
                        </a:rPr>
                        <a:t>08</a:t>
                      </a:r>
                      <a:endParaRPr lang="en-US" sz="105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EDEBE5"/>
                    </a:solidFill>
                  </a:tcPr>
                </a:tc>
                <a:tc>
                  <a:txBody>
                    <a:bodyPr/>
                    <a:lstStyle/>
                    <a:p>
                      <a:pPr marL="0" indent="0">
                        <a:buNone/>
                      </a:pPr>
                      <a:r>
                        <a:rPr lang="en-US" sz="1050" b="1" dirty="0">
                          <a:solidFill>
                            <a:srgbClr val="1B2A4A"/>
                          </a:solidFill>
                          <a:latin typeface="Calibri" pitchFamily="34" charset="0"/>
                          <a:ea typeface="Calibri" pitchFamily="34" charset="-122"/>
                          <a:cs typeface="Calibri" pitchFamily="34" charset="-120"/>
                        </a:rPr>
                        <a:t>Strategy Execution</a:t>
                      </a:r>
                      <a:endParaRPr lang="en-US" sz="105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EDEBE5"/>
                    </a:solidFill>
                  </a:tcPr>
                </a:tc>
                <a:tc>
                  <a:txBody>
                    <a:bodyPr/>
                    <a:lstStyle/>
                    <a:p>
                      <a:pPr marL="0" indent="0">
                        <a:buNone/>
                      </a:pPr>
                      <a:r>
                        <a:rPr lang="en-US" sz="1050" i="1" dirty="0">
                          <a:solidFill>
                            <a:srgbClr val="3A3A3A"/>
                          </a:solidFill>
                          <a:latin typeface="Calibri" pitchFamily="34" charset="0"/>
                          <a:ea typeface="Calibri" pitchFamily="34" charset="-122"/>
                          <a:cs typeface="Calibri" pitchFamily="34" charset="-120"/>
                        </a:rPr>
                        <a:t>How do we turn the strategy into action?</a:t>
                      </a:r>
                      <a:endParaRPr lang="en-US" sz="1050" dirty="0">
                        <a:latin typeface="Calibri" charset="0"/>
                        <a:ea typeface="Calibri" charset="0"/>
                        <a:cs typeface="Calibri" charset="0"/>
                      </a:endParaRPr>
                    </a:p>
                  </a:txBody>
                  <a:tcPr anchor="ctr">
                    <a:lnL w="6350" cap="flat" cmpd="sng" algn="ctr">
                      <a:solidFill>
                        <a:srgbClr val="D8D5CC"/>
                      </a:solidFill>
                      <a:prstDash val="solid"/>
                      <a:round/>
                      <a:headEnd type="none" w="med" len="med"/>
                      <a:tailEnd type="none" w="med" len="med"/>
                    </a:lnL>
                    <a:lnR w="6350" cap="flat" cmpd="sng" algn="ctr">
                      <a:solidFill>
                        <a:srgbClr val="D8D5CC"/>
                      </a:solidFill>
                      <a:prstDash val="solid"/>
                      <a:round/>
                      <a:headEnd type="none" w="med" len="med"/>
                      <a:tailEnd type="none" w="med" len="med"/>
                    </a:lnR>
                    <a:lnT w="6350" cap="flat" cmpd="sng" algn="ctr">
                      <a:solidFill>
                        <a:srgbClr val="D8D5CC"/>
                      </a:solidFill>
                      <a:prstDash val="solid"/>
                      <a:round/>
                      <a:headEnd type="none" w="med" len="med"/>
                      <a:tailEnd type="none" w="med" len="med"/>
                    </a:lnT>
                    <a:lnB w="6350" cap="flat" cmpd="sng" algn="ctr">
                      <a:solidFill>
                        <a:srgbClr val="D8D5CC"/>
                      </a:solidFill>
                      <a:prstDash val="solid"/>
                      <a:round/>
                      <a:headEnd type="none" w="med" len="med"/>
                      <a:tailEnd type="none" w="med" len="med"/>
                    </a:lnB>
                    <a:solidFill>
                      <a:srgbClr val="EDEBE5"/>
                    </a:solidFill>
                  </a:tcPr>
                </a:tc>
                <a:extLst>
                  <a:ext uri="{0D108BD9-81ED-4DB2-BD59-A6C34878D82A}">
                    <a16:rowId xmlns:a16="http://schemas.microsoft.com/office/drawing/2014/main" val="10008"/>
                  </a:ext>
                </a:extLst>
              </a:tr>
            </a:tbl>
          </a:graphicData>
        </a:graphic>
      </p:graphicFrame>
      <p:sp>
        <p:nvSpPr>
          <p:cNvPr id="8" name="Text 5"/>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COPY REVIEW</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3. Operations &amp; Business Systems</a:t>
            </a:r>
            <a:endParaRPr lang="en-US" sz="2500" dirty="0"/>
          </a:p>
        </p:txBody>
      </p:sp>
      <p:sp>
        <p:nvSpPr>
          <p:cNvPr id="6" name="Text 4"/>
          <p:cNvSpPr txBox="1"/>
          <p:nvPr/>
        </p:nvSpPr>
        <p:spPr>
          <a:xfrm>
            <a:off x="548640" y="1481328"/>
            <a:ext cx="11094415" cy="365760"/>
          </a:xfrm>
          <a:prstGeom prst="rect">
            <a:avLst/>
          </a:prstGeom>
          <a:noFill/>
          <a:ln/>
        </p:spPr>
        <p:txBody>
          <a:bodyPr wrap="square" lIns="0" tIns="0" rIns="0" bIns="0" rtlCol="0" anchor="ctr"/>
          <a:lstStyle/>
          <a:p>
            <a:pPr marL="0" indent="0">
              <a:buNone/>
            </a:pPr>
            <a:r>
              <a:rPr lang="en-US" sz="1300" i="1" dirty="0">
                <a:solidFill>
                  <a:srgbClr val="3A3A3A"/>
                </a:solidFill>
                <a:latin typeface="Calibri" pitchFamily="34" charset="0"/>
                <a:ea typeface="Calibri" pitchFamily="34" charset="-122"/>
                <a:cs typeface="Calibri" pitchFamily="34" charset="-120"/>
              </a:rPr>
              <a:t>Building the systems and ways of working that help the business run well without the owner having to manage everything.</a:t>
            </a:r>
            <a:endParaRPr lang="en-US" sz="1300" dirty="0"/>
          </a:p>
        </p:txBody>
      </p:sp>
      <p:sp>
        <p:nvSpPr>
          <p:cNvPr id="7" name="Shape 5"/>
          <p:cNvSpPr/>
          <p:nvPr/>
        </p:nvSpPr>
        <p:spPr>
          <a:xfrm>
            <a:off x="548640" y="1920240"/>
            <a:ext cx="5432908" cy="23774"/>
          </a:xfrm>
          <a:prstGeom prst="rect">
            <a:avLst/>
          </a:prstGeom>
          <a:solidFill>
            <a:srgbClr val="B8965A"/>
          </a:solidFill>
          <a:ln/>
        </p:spPr>
      </p:sp>
      <p:sp>
        <p:nvSpPr>
          <p:cNvPr id="8" name="Shape 6"/>
          <p:cNvSpPr/>
          <p:nvPr/>
        </p:nvSpPr>
        <p:spPr>
          <a:xfrm>
            <a:off x="548640" y="1944014"/>
            <a:ext cx="5432908" cy="844906"/>
          </a:xfrm>
          <a:prstGeom prst="rect">
            <a:avLst/>
          </a:prstGeom>
          <a:solidFill>
            <a:srgbClr val="EDEBE5"/>
          </a:solidFill>
          <a:ln/>
        </p:spPr>
      </p:sp>
      <p:sp>
        <p:nvSpPr>
          <p:cNvPr id="9" name="Text 7"/>
          <p:cNvSpPr txBox="1"/>
          <p:nvPr/>
        </p:nvSpPr>
        <p:spPr>
          <a:xfrm>
            <a:off x="713232" y="1975104"/>
            <a:ext cx="5103724" cy="731520"/>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Business Operations Review
</a:t>
            </a:r>
            <a:endParaRPr lang="en-US" sz="1250" dirty="0"/>
          </a:p>
          <a:p>
            <a:pPr marL="0" indent="0">
              <a:buNone/>
            </a:pPr>
            <a:r>
              <a:rPr lang="en-US" sz="1100" i="1" dirty="0">
                <a:solidFill>
                  <a:srgbClr val="3A3A3A"/>
                </a:solidFill>
                <a:latin typeface="Calibri" pitchFamily="34" charset="0"/>
                <a:ea typeface="Calibri" pitchFamily="34" charset="-122"/>
                <a:cs typeface="Calibri" pitchFamily="34" charset="-120"/>
              </a:rPr>
              <a:t>What's not working in the way the business runs?</a:t>
            </a:r>
            <a:endParaRPr lang="en-US" sz="1250" dirty="0"/>
          </a:p>
        </p:txBody>
      </p:sp>
      <p:sp>
        <p:nvSpPr>
          <p:cNvPr id="10" name="Shape 8"/>
          <p:cNvSpPr/>
          <p:nvPr/>
        </p:nvSpPr>
        <p:spPr>
          <a:xfrm>
            <a:off x="6210148" y="1920240"/>
            <a:ext cx="5432908" cy="23774"/>
          </a:xfrm>
          <a:prstGeom prst="rect">
            <a:avLst/>
          </a:prstGeom>
          <a:solidFill>
            <a:srgbClr val="B8965A"/>
          </a:solidFill>
          <a:ln/>
        </p:spPr>
      </p:sp>
      <p:sp>
        <p:nvSpPr>
          <p:cNvPr id="11" name="Shape 9"/>
          <p:cNvSpPr/>
          <p:nvPr/>
        </p:nvSpPr>
        <p:spPr>
          <a:xfrm>
            <a:off x="6210148" y="1944014"/>
            <a:ext cx="5432908" cy="844906"/>
          </a:xfrm>
          <a:prstGeom prst="rect">
            <a:avLst/>
          </a:prstGeom>
          <a:solidFill>
            <a:srgbClr val="F2F0EA"/>
          </a:solidFill>
          <a:ln/>
        </p:spPr>
      </p:sp>
      <p:sp>
        <p:nvSpPr>
          <p:cNvPr id="12" name="Text 10"/>
          <p:cNvSpPr txBox="1"/>
          <p:nvPr/>
        </p:nvSpPr>
        <p:spPr>
          <a:xfrm>
            <a:off x="6374740" y="1975104"/>
            <a:ext cx="5103724" cy="731520"/>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Business Operating Structure
</a:t>
            </a:r>
            <a:endParaRPr lang="en-US" sz="1250" dirty="0"/>
          </a:p>
          <a:p>
            <a:pPr marL="0" indent="0">
              <a:buNone/>
            </a:pPr>
            <a:r>
              <a:rPr lang="en-US" sz="1100" i="1" dirty="0">
                <a:solidFill>
                  <a:srgbClr val="3A3A3A"/>
                </a:solidFill>
                <a:latin typeface="Calibri" pitchFamily="34" charset="0"/>
                <a:ea typeface="Calibri" pitchFamily="34" charset="-122"/>
                <a:cs typeface="Calibri" pitchFamily="34" charset="-120"/>
              </a:rPr>
              <a:t>How should the business be organized and run?</a:t>
            </a:r>
            <a:endParaRPr lang="en-US" sz="1250" dirty="0"/>
          </a:p>
        </p:txBody>
      </p:sp>
      <p:sp>
        <p:nvSpPr>
          <p:cNvPr id="13" name="Shape 11"/>
          <p:cNvSpPr/>
          <p:nvPr/>
        </p:nvSpPr>
        <p:spPr>
          <a:xfrm>
            <a:off x="548640" y="3017520"/>
            <a:ext cx="5432908" cy="23774"/>
          </a:xfrm>
          <a:prstGeom prst="rect">
            <a:avLst/>
          </a:prstGeom>
          <a:solidFill>
            <a:srgbClr val="B8965A"/>
          </a:solidFill>
          <a:ln/>
        </p:spPr>
      </p:sp>
      <p:sp>
        <p:nvSpPr>
          <p:cNvPr id="14" name="Shape 12"/>
          <p:cNvSpPr/>
          <p:nvPr/>
        </p:nvSpPr>
        <p:spPr>
          <a:xfrm>
            <a:off x="548640" y="3041294"/>
            <a:ext cx="5432908" cy="844906"/>
          </a:xfrm>
          <a:prstGeom prst="rect">
            <a:avLst/>
          </a:prstGeom>
          <a:solidFill>
            <a:srgbClr val="F2F0EA"/>
          </a:solidFill>
          <a:ln/>
        </p:spPr>
      </p:sp>
      <p:sp>
        <p:nvSpPr>
          <p:cNvPr id="15" name="Text 13"/>
          <p:cNvSpPr txBox="1"/>
          <p:nvPr/>
        </p:nvSpPr>
        <p:spPr>
          <a:xfrm>
            <a:off x="713232" y="3072384"/>
            <a:ext cx="5103724" cy="731520"/>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Process Improvement
</a:t>
            </a:r>
            <a:endParaRPr lang="en-US" sz="1250" dirty="0"/>
          </a:p>
          <a:p>
            <a:pPr marL="0" indent="0">
              <a:buNone/>
            </a:pPr>
            <a:r>
              <a:rPr lang="en-US" sz="1100" i="1" dirty="0">
                <a:solidFill>
                  <a:srgbClr val="3A3A3A"/>
                </a:solidFill>
                <a:latin typeface="Calibri" pitchFamily="34" charset="0"/>
                <a:ea typeface="Calibri" pitchFamily="34" charset="-122"/>
                <a:cs typeface="Calibri" pitchFamily="34" charset="-120"/>
              </a:rPr>
              <a:t>How can we make the way we work simpler and better?</a:t>
            </a:r>
            <a:endParaRPr lang="en-US" sz="1250" dirty="0"/>
          </a:p>
        </p:txBody>
      </p:sp>
      <p:sp>
        <p:nvSpPr>
          <p:cNvPr id="16" name="Shape 14"/>
          <p:cNvSpPr/>
          <p:nvPr/>
        </p:nvSpPr>
        <p:spPr>
          <a:xfrm>
            <a:off x="6210148" y="3017520"/>
            <a:ext cx="5432908" cy="23774"/>
          </a:xfrm>
          <a:prstGeom prst="rect">
            <a:avLst/>
          </a:prstGeom>
          <a:solidFill>
            <a:srgbClr val="B8965A"/>
          </a:solidFill>
          <a:ln/>
        </p:spPr>
      </p:sp>
      <p:sp>
        <p:nvSpPr>
          <p:cNvPr id="17" name="Shape 15"/>
          <p:cNvSpPr/>
          <p:nvPr/>
        </p:nvSpPr>
        <p:spPr>
          <a:xfrm>
            <a:off x="6210148" y="3041294"/>
            <a:ext cx="5432908" cy="844906"/>
          </a:xfrm>
          <a:prstGeom prst="rect">
            <a:avLst/>
          </a:prstGeom>
          <a:solidFill>
            <a:srgbClr val="EDEBE5"/>
          </a:solidFill>
          <a:ln/>
        </p:spPr>
      </p:sp>
      <p:sp>
        <p:nvSpPr>
          <p:cNvPr id="18" name="Text 16"/>
          <p:cNvSpPr txBox="1"/>
          <p:nvPr/>
        </p:nvSpPr>
        <p:spPr>
          <a:xfrm>
            <a:off x="6374740" y="3072384"/>
            <a:ext cx="5103724" cy="731520"/>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Standard Operating Procedures (SOPs)
</a:t>
            </a:r>
            <a:endParaRPr lang="en-US" sz="1250" dirty="0"/>
          </a:p>
          <a:p>
            <a:pPr marL="0" indent="0">
              <a:buNone/>
            </a:pPr>
            <a:r>
              <a:rPr lang="en-US" sz="1100" i="1" dirty="0">
                <a:solidFill>
                  <a:srgbClr val="3A3A3A"/>
                </a:solidFill>
                <a:latin typeface="Calibri" pitchFamily="34" charset="0"/>
                <a:ea typeface="Calibri" pitchFamily="34" charset="-122"/>
                <a:cs typeface="Calibri" pitchFamily="34" charset="-120"/>
              </a:rPr>
              <a:t>How should important work be done consistently?</a:t>
            </a:r>
            <a:endParaRPr lang="en-US" sz="1250" dirty="0"/>
          </a:p>
        </p:txBody>
      </p:sp>
      <p:sp>
        <p:nvSpPr>
          <p:cNvPr id="19" name="Shape 17"/>
          <p:cNvSpPr/>
          <p:nvPr/>
        </p:nvSpPr>
        <p:spPr>
          <a:xfrm>
            <a:off x="548640" y="4114800"/>
            <a:ext cx="5432908" cy="23774"/>
          </a:xfrm>
          <a:prstGeom prst="rect">
            <a:avLst/>
          </a:prstGeom>
          <a:solidFill>
            <a:srgbClr val="B8965A"/>
          </a:solidFill>
          <a:ln/>
        </p:spPr>
      </p:sp>
      <p:sp>
        <p:nvSpPr>
          <p:cNvPr id="20" name="Shape 18"/>
          <p:cNvSpPr/>
          <p:nvPr/>
        </p:nvSpPr>
        <p:spPr>
          <a:xfrm>
            <a:off x="548640" y="4138574"/>
            <a:ext cx="5432908" cy="844906"/>
          </a:xfrm>
          <a:prstGeom prst="rect">
            <a:avLst/>
          </a:prstGeom>
          <a:solidFill>
            <a:srgbClr val="EDEBE5"/>
          </a:solidFill>
          <a:ln/>
        </p:spPr>
      </p:sp>
      <p:sp>
        <p:nvSpPr>
          <p:cNvPr id="21" name="Text 19"/>
          <p:cNvSpPr txBox="1"/>
          <p:nvPr/>
        </p:nvSpPr>
        <p:spPr>
          <a:xfrm>
            <a:off x="713232" y="4169664"/>
            <a:ext cx="5103724" cy="731520"/>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Management Systems
</a:t>
            </a:r>
            <a:endParaRPr lang="en-US" sz="1250" dirty="0"/>
          </a:p>
          <a:p>
            <a:pPr marL="0" indent="0">
              <a:buNone/>
            </a:pPr>
            <a:r>
              <a:rPr lang="en-US" sz="1100" i="1" dirty="0">
                <a:solidFill>
                  <a:srgbClr val="3A3A3A"/>
                </a:solidFill>
                <a:latin typeface="Calibri" pitchFamily="34" charset="0"/>
                <a:ea typeface="Calibri" pitchFamily="34" charset="-122"/>
                <a:cs typeface="Calibri" pitchFamily="34" charset="-120"/>
              </a:rPr>
              <a:t>How will we keep track of the business and make better decisions?</a:t>
            </a:r>
            <a:endParaRPr lang="en-US" sz="1250" dirty="0"/>
          </a:p>
        </p:txBody>
      </p:sp>
      <p:sp>
        <p:nvSpPr>
          <p:cNvPr id="22" name="Shape 20"/>
          <p:cNvSpPr/>
          <p:nvPr/>
        </p:nvSpPr>
        <p:spPr>
          <a:xfrm>
            <a:off x="6210148" y="4114800"/>
            <a:ext cx="5432908" cy="23774"/>
          </a:xfrm>
          <a:prstGeom prst="rect">
            <a:avLst/>
          </a:prstGeom>
          <a:solidFill>
            <a:srgbClr val="B8965A"/>
          </a:solidFill>
          <a:ln/>
        </p:spPr>
      </p:sp>
      <p:sp>
        <p:nvSpPr>
          <p:cNvPr id="23" name="Shape 21"/>
          <p:cNvSpPr/>
          <p:nvPr/>
        </p:nvSpPr>
        <p:spPr>
          <a:xfrm>
            <a:off x="6210148" y="4138574"/>
            <a:ext cx="5432908" cy="844906"/>
          </a:xfrm>
          <a:prstGeom prst="rect">
            <a:avLst/>
          </a:prstGeom>
          <a:solidFill>
            <a:srgbClr val="F2F0EA"/>
          </a:solidFill>
          <a:ln/>
        </p:spPr>
      </p:sp>
      <p:sp>
        <p:nvSpPr>
          <p:cNvPr id="24" name="Text 22"/>
          <p:cNvSpPr txBox="1"/>
          <p:nvPr/>
        </p:nvSpPr>
        <p:spPr>
          <a:xfrm>
            <a:off x="6374740" y="4169664"/>
            <a:ext cx="5103724" cy="731520"/>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Business Systems &amp; Technology
</a:t>
            </a:r>
            <a:endParaRPr lang="en-US" sz="1250" dirty="0"/>
          </a:p>
          <a:p>
            <a:pPr marL="0" indent="0">
              <a:buNone/>
            </a:pPr>
            <a:r>
              <a:rPr lang="en-US" sz="1100" i="1" dirty="0">
                <a:solidFill>
                  <a:srgbClr val="3A3A3A"/>
                </a:solidFill>
                <a:latin typeface="Calibri" pitchFamily="34" charset="0"/>
                <a:ea typeface="Calibri" pitchFamily="34" charset="-122"/>
                <a:cs typeface="Calibri" pitchFamily="34" charset="-120"/>
              </a:rPr>
              <a:t>Do we have the right systems to support how the business works?</a:t>
            </a:r>
            <a:endParaRPr lang="en-US" sz="1250" dirty="0"/>
          </a:p>
        </p:txBody>
      </p:sp>
      <p:sp>
        <p:nvSpPr>
          <p:cNvPr id="25" name="Shape 23"/>
          <p:cNvSpPr/>
          <p:nvPr/>
        </p:nvSpPr>
        <p:spPr>
          <a:xfrm>
            <a:off x="548640" y="5212080"/>
            <a:ext cx="5432908" cy="23774"/>
          </a:xfrm>
          <a:prstGeom prst="rect">
            <a:avLst/>
          </a:prstGeom>
          <a:solidFill>
            <a:srgbClr val="B8965A"/>
          </a:solidFill>
          <a:ln/>
        </p:spPr>
      </p:sp>
      <p:sp>
        <p:nvSpPr>
          <p:cNvPr id="26" name="Shape 24"/>
          <p:cNvSpPr/>
          <p:nvPr/>
        </p:nvSpPr>
        <p:spPr>
          <a:xfrm>
            <a:off x="548640" y="5235854"/>
            <a:ext cx="5432908" cy="844906"/>
          </a:xfrm>
          <a:prstGeom prst="rect">
            <a:avLst/>
          </a:prstGeom>
          <a:solidFill>
            <a:srgbClr val="F2F0EA"/>
          </a:solidFill>
          <a:ln/>
        </p:spPr>
      </p:sp>
      <p:sp>
        <p:nvSpPr>
          <p:cNvPr id="27" name="Text 25"/>
          <p:cNvSpPr txBox="1"/>
          <p:nvPr/>
        </p:nvSpPr>
        <p:spPr>
          <a:xfrm>
            <a:off x="713232" y="5266944"/>
            <a:ext cx="5103724" cy="731520"/>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Operational Efficiency &amp; Growth Readiness
</a:t>
            </a:r>
            <a:endParaRPr lang="en-US" sz="1250" dirty="0"/>
          </a:p>
          <a:p>
            <a:pPr marL="0" indent="0">
              <a:buNone/>
            </a:pPr>
            <a:r>
              <a:rPr lang="en-US" sz="1100" i="1" dirty="0">
                <a:solidFill>
                  <a:srgbClr val="3A3A3A"/>
                </a:solidFill>
                <a:latin typeface="Calibri" pitchFamily="34" charset="0"/>
                <a:ea typeface="Calibri" pitchFamily="34" charset="-122"/>
                <a:cs typeface="Calibri" pitchFamily="34" charset="-120"/>
              </a:rPr>
              <a:t>Can the business handle growth without everything becoming harder?</a:t>
            </a:r>
            <a:endParaRPr lang="en-US" sz="1250" dirty="0"/>
          </a:p>
        </p:txBody>
      </p:sp>
      <p:sp>
        <p:nvSpPr>
          <p:cNvPr id="28" name="Shape 26"/>
          <p:cNvSpPr/>
          <p:nvPr/>
        </p:nvSpPr>
        <p:spPr>
          <a:xfrm>
            <a:off x="6210148" y="5212080"/>
            <a:ext cx="5432908" cy="23774"/>
          </a:xfrm>
          <a:prstGeom prst="rect">
            <a:avLst/>
          </a:prstGeom>
          <a:solidFill>
            <a:srgbClr val="B8965A"/>
          </a:solidFill>
          <a:ln/>
        </p:spPr>
      </p:sp>
      <p:sp>
        <p:nvSpPr>
          <p:cNvPr id="29" name="Shape 27"/>
          <p:cNvSpPr/>
          <p:nvPr/>
        </p:nvSpPr>
        <p:spPr>
          <a:xfrm>
            <a:off x="6210148" y="5235854"/>
            <a:ext cx="5432908" cy="844906"/>
          </a:xfrm>
          <a:prstGeom prst="rect">
            <a:avLst/>
          </a:prstGeom>
          <a:solidFill>
            <a:srgbClr val="EDEBE5"/>
          </a:solidFill>
          <a:ln/>
        </p:spPr>
      </p:sp>
      <p:sp>
        <p:nvSpPr>
          <p:cNvPr id="30" name="Text 28"/>
          <p:cNvSpPr txBox="1"/>
          <p:nvPr/>
        </p:nvSpPr>
        <p:spPr>
          <a:xfrm>
            <a:off x="6374740" y="5266944"/>
            <a:ext cx="5103724" cy="731520"/>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Reducing Owner Dependency
</a:t>
            </a:r>
            <a:endParaRPr lang="en-US" sz="1250" dirty="0"/>
          </a:p>
          <a:p>
            <a:pPr marL="0" indent="0">
              <a:buNone/>
            </a:pPr>
            <a:r>
              <a:rPr lang="en-US" sz="1100" i="1" dirty="0">
                <a:solidFill>
                  <a:srgbClr val="3A3A3A"/>
                </a:solidFill>
                <a:latin typeface="Calibri" pitchFamily="34" charset="0"/>
                <a:ea typeface="Calibri" pitchFamily="34" charset="-122"/>
                <a:cs typeface="Calibri" pitchFamily="34" charset="-120"/>
              </a:rPr>
              <a:t>How do we stop everything depending on the owner?</a:t>
            </a:r>
            <a:endParaRPr lang="en-US" sz="1250" dirty="0"/>
          </a:p>
        </p:txBody>
      </p:sp>
      <p:sp>
        <p:nvSpPr>
          <p:cNvPr id="31" name="Text 29"/>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COPY REVIEW</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4. People &amp; Organisation</a:t>
            </a:r>
            <a:endParaRPr lang="en-US" sz="2500" dirty="0"/>
          </a:p>
        </p:txBody>
      </p:sp>
      <p:sp>
        <p:nvSpPr>
          <p:cNvPr id="6" name="Shape 4"/>
          <p:cNvSpPr/>
          <p:nvPr/>
        </p:nvSpPr>
        <p:spPr>
          <a:xfrm>
            <a:off x="548640" y="1481328"/>
            <a:ext cx="5432908" cy="23774"/>
          </a:xfrm>
          <a:prstGeom prst="rect">
            <a:avLst/>
          </a:prstGeom>
          <a:solidFill>
            <a:srgbClr val="B8965A"/>
          </a:solidFill>
          <a:ln/>
        </p:spPr>
      </p:sp>
      <p:sp>
        <p:nvSpPr>
          <p:cNvPr id="7" name="Shape 5"/>
          <p:cNvSpPr/>
          <p:nvPr/>
        </p:nvSpPr>
        <p:spPr>
          <a:xfrm>
            <a:off x="548640" y="1505102"/>
            <a:ext cx="5432908" cy="844906"/>
          </a:xfrm>
          <a:prstGeom prst="rect">
            <a:avLst/>
          </a:prstGeom>
          <a:solidFill>
            <a:srgbClr val="EDEBE5"/>
          </a:solidFill>
          <a:ln/>
        </p:spPr>
      </p:sp>
      <p:sp>
        <p:nvSpPr>
          <p:cNvPr id="8" name="Text 6"/>
          <p:cNvSpPr txBox="1"/>
          <p:nvPr/>
        </p:nvSpPr>
        <p:spPr>
          <a:xfrm>
            <a:off x="713232" y="1536192"/>
            <a:ext cx="5103724" cy="731520"/>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Organization Structure
</a:t>
            </a:r>
            <a:endParaRPr lang="en-US" sz="1250" dirty="0"/>
          </a:p>
          <a:p>
            <a:pPr marL="0" indent="0">
              <a:buNone/>
            </a:pPr>
            <a:r>
              <a:rPr lang="en-US" sz="1100" i="1" dirty="0">
                <a:solidFill>
                  <a:srgbClr val="3A3A3A"/>
                </a:solidFill>
                <a:latin typeface="Calibri" pitchFamily="34" charset="0"/>
                <a:ea typeface="Calibri" pitchFamily="34" charset="-122"/>
                <a:cs typeface="Calibri" pitchFamily="34" charset="-120"/>
              </a:rPr>
              <a:t>Is the business structured in the right way for where it is going?</a:t>
            </a:r>
            <a:endParaRPr lang="en-US" sz="1250" dirty="0"/>
          </a:p>
        </p:txBody>
      </p:sp>
      <p:sp>
        <p:nvSpPr>
          <p:cNvPr id="9" name="Shape 7"/>
          <p:cNvSpPr/>
          <p:nvPr/>
        </p:nvSpPr>
        <p:spPr>
          <a:xfrm>
            <a:off x="6210148" y="1481328"/>
            <a:ext cx="5432908" cy="23774"/>
          </a:xfrm>
          <a:prstGeom prst="rect">
            <a:avLst/>
          </a:prstGeom>
          <a:solidFill>
            <a:srgbClr val="B8965A"/>
          </a:solidFill>
          <a:ln/>
        </p:spPr>
      </p:sp>
      <p:sp>
        <p:nvSpPr>
          <p:cNvPr id="10" name="Shape 8"/>
          <p:cNvSpPr/>
          <p:nvPr/>
        </p:nvSpPr>
        <p:spPr>
          <a:xfrm>
            <a:off x="6210148" y="1505102"/>
            <a:ext cx="5432908" cy="844906"/>
          </a:xfrm>
          <a:prstGeom prst="rect">
            <a:avLst/>
          </a:prstGeom>
          <a:solidFill>
            <a:srgbClr val="F2F0EA"/>
          </a:solidFill>
          <a:ln/>
        </p:spPr>
      </p:sp>
      <p:sp>
        <p:nvSpPr>
          <p:cNvPr id="11" name="Text 9"/>
          <p:cNvSpPr txBox="1"/>
          <p:nvPr/>
        </p:nvSpPr>
        <p:spPr>
          <a:xfrm>
            <a:off x="6374740" y="1536192"/>
            <a:ext cx="5103724" cy="731520"/>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Roles, Responsibilities &amp; Accountability
</a:t>
            </a:r>
            <a:endParaRPr lang="en-US" sz="1250" dirty="0"/>
          </a:p>
          <a:p>
            <a:pPr marL="0" indent="0">
              <a:buNone/>
            </a:pPr>
            <a:r>
              <a:rPr lang="en-US" sz="1100" i="1" dirty="0">
                <a:solidFill>
                  <a:srgbClr val="3A3A3A"/>
                </a:solidFill>
                <a:latin typeface="Calibri" pitchFamily="34" charset="0"/>
                <a:ea typeface="Calibri" pitchFamily="34" charset="-122"/>
                <a:cs typeface="Calibri" pitchFamily="34" charset="-120"/>
              </a:rPr>
              <a:t>Who is responsible for what, and who is accountable for getting it done?</a:t>
            </a:r>
            <a:endParaRPr lang="en-US" sz="1250" dirty="0"/>
          </a:p>
        </p:txBody>
      </p:sp>
      <p:sp>
        <p:nvSpPr>
          <p:cNvPr id="12" name="Shape 10"/>
          <p:cNvSpPr/>
          <p:nvPr/>
        </p:nvSpPr>
        <p:spPr>
          <a:xfrm>
            <a:off x="548640" y="2578608"/>
            <a:ext cx="5432908" cy="23774"/>
          </a:xfrm>
          <a:prstGeom prst="rect">
            <a:avLst/>
          </a:prstGeom>
          <a:solidFill>
            <a:srgbClr val="B8965A"/>
          </a:solidFill>
          <a:ln/>
        </p:spPr>
      </p:sp>
      <p:sp>
        <p:nvSpPr>
          <p:cNvPr id="13" name="Shape 11"/>
          <p:cNvSpPr/>
          <p:nvPr/>
        </p:nvSpPr>
        <p:spPr>
          <a:xfrm>
            <a:off x="548640" y="2602382"/>
            <a:ext cx="5432908" cy="844906"/>
          </a:xfrm>
          <a:prstGeom prst="rect">
            <a:avLst/>
          </a:prstGeom>
          <a:solidFill>
            <a:srgbClr val="F2F0EA"/>
          </a:solidFill>
          <a:ln/>
        </p:spPr>
      </p:sp>
      <p:sp>
        <p:nvSpPr>
          <p:cNvPr id="14" name="Text 12"/>
          <p:cNvSpPr txBox="1"/>
          <p:nvPr/>
        </p:nvSpPr>
        <p:spPr>
          <a:xfrm>
            <a:off x="713232" y="2633472"/>
            <a:ext cx="5103724" cy="731520"/>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Performance Management
</a:t>
            </a:r>
            <a:endParaRPr lang="en-US" sz="1250" dirty="0"/>
          </a:p>
          <a:p>
            <a:pPr marL="0" indent="0">
              <a:buNone/>
            </a:pPr>
            <a:r>
              <a:rPr lang="en-US" sz="1100" i="1" dirty="0">
                <a:solidFill>
                  <a:srgbClr val="3A3A3A"/>
                </a:solidFill>
                <a:latin typeface="Calibri" pitchFamily="34" charset="0"/>
                <a:ea typeface="Calibri" pitchFamily="34" charset="-122"/>
                <a:cs typeface="Calibri" pitchFamily="34" charset="-120"/>
              </a:rPr>
              <a:t>How do we set clear expectations, track performance and address gaps?</a:t>
            </a:r>
            <a:endParaRPr lang="en-US" sz="1250" dirty="0"/>
          </a:p>
        </p:txBody>
      </p:sp>
      <p:sp>
        <p:nvSpPr>
          <p:cNvPr id="15" name="Shape 13"/>
          <p:cNvSpPr/>
          <p:nvPr/>
        </p:nvSpPr>
        <p:spPr>
          <a:xfrm>
            <a:off x="6210148" y="2578608"/>
            <a:ext cx="5432908" cy="23774"/>
          </a:xfrm>
          <a:prstGeom prst="rect">
            <a:avLst/>
          </a:prstGeom>
          <a:solidFill>
            <a:srgbClr val="B8965A"/>
          </a:solidFill>
          <a:ln/>
        </p:spPr>
      </p:sp>
      <p:sp>
        <p:nvSpPr>
          <p:cNvPr id="16" name="Shape 14"/>
          <p:cNvSpPr/>
          <p:nvPr/>
        </p:nvSpPr>
        <p:spPr>
          <a:xfrm>
            <a:off x="6210148" y="2602382"/>
            <a:ext cx="5432908" cy="844906"/>
          </a:xfrm>
          <a:prstGeom prst="rect">
            <a:avLst/>
          </a:prstGeom>
          <a:solidFill>
            <a:srgbClr val="EDEBE5"/>
          </a:solidFill>
          <a:ln/>
        </p:spPr>
      </p:sp>
      <p:sp>
        <p:nvSpPr>
          <p:cNvPr id="17" name="Text 15"/>
          <p:cNvSpPr txBox="1"/>
          <p:nvPr/>
        </p:nvSpPr>
        <p:spPr>
          <a:xfrm>
            <a:off x="6374740" y="2633472"/>
            <a:ext cx="5103724" cy="731520"/>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Leadership &amp; Team Development
</a:t>
            </a:r>
            <a:endParaRPr lang="en-US" sz="1250" dirty="0"/>
          </a:p>
          <a:p>
            <a:pPr marL="0" indent="0">
              <a:buNone/>
            </a:pPr>
            <a:r>
              <a:rPr lang="en-US" sz="1100" i="1" dirty="0">
                <a:solidFill>
                  <a:srgbClr val="3A3A3A"/>
                </a:solidFill>
                <a:latin typeface="Calibri" pitchFamily="34" charset="0"/>
                <a:ea typeface="Calibri" pitchFamily="34" charset="-122"/>
                <a:cs typeface="Calibri" pitchFamily="34" charset="-120"/>
              </a:rPr>
              <a:t>How do we build leaders and teams that can perform with greater independence?</a:t>
            </a:r>
            <a:endParaRPr lang="en-US" sz="1250" dirty="0"/>
          </a:p>
        </p:txBody>
      </p:sp>
      <p:sp>
        <p:nvSpPr>
          <p:cNvPr id="18" name="Shape 16"/>
          <p:cNvSpPr/>
          <p:nvPr/>
        </p:nvSpPr>
        <p:spPr>
          <a:xfrm>
            <a:off x="548640" y="3675888"/>
            <a:ext cx="5432908" cy="23774"/>
          </a:xfrm>
          <a:prstGeom prst="rect">
            <a:avLst/>
          </a:prstGeom>
          <a:solidFill>
            <a:srgbClr val="B8965A"/>
          </a:solidFill>
          <a:ln/>
        </p:spPr>
      </p:sp>
      <p:sp>
        <p:nvSpPr>
          <p:cNvPr id="19" name="Shape 17"/>
          <p:cNvSpPr/>
          <p:nvPr/>
        </p:nvSpPr>
        <p:spPr>
          <a:xfrm>
            <a:off x="548640" y="3699662"/>
            <a:ext cx="5432908" cy="844906"/>
          </a:xfrm>
          <a:prstGeom prst="rect">
            <a:avLst/>
          </a:prstGeom>
          <a:solidFill>
            <a:srgbClr val="EDEBE5"/>
          </a:solidFill>
          <a:ln/>
        </p:spPr>
      </p:sp>
      <p:sp>
        <p:nvSpPr>
          <p:cNvPr id="20" name="Text 18"/>
          <p:cNvSpPr txBox="1"/>
          <p:nvPr/>
        </p:nvSpPr>
        <p:spPr>
          <a:xfrm>
            <a:off x="713232" y="3730752"/>
            <a:ext cx="5103724" cy="731520"/>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Workforce &amp; Hiring Planning
</a:t>
            </a:r>
            <a:endParaRPr lang="en-US" sz="1250" dirty="0"/>
          </a:p>
          <a:p>
            <a:pPr marL="0" indent="0">
              <a:buNone/>
            </a:pPr>
            <a:r>
              <a:rPr lang="en-US" sz="1100" i="1" dirty="0">
                <a:solidFill>
                  <a:srgbClr val="3A3A3A"/>
                </a:solidFill>
                <a:latin typeface="Calibri" pitchFamily="34" charset="0"/>
                <a:ea typeface="Calibri" pitchFamily="34" charset="-122"/>
                <a:cs typeface="Calibri" pitchFamily="34" charset="-120"/>
              </a:rPr>
              <a:t>Who do we need, when do we need them, and what should they be responsible for?</a:t>
            </a:r>
            <a:endParaRPr lang="en-US" sz="1250" dirty="0"/>
          </a:p>
        </p:txBody>
      </p:sp>
      <p:sp>
        <p:nvSpPr>
          <p:cNvPr id="21" name="Shape 19"/>
          <p:cNvSpPr/>
          <p:nvPr/>
        </p:nvSpPr>
        <p:spPr>
          <a:xfrm>
            <a:off x="6210148" y="3675888"/>
            <a:ext cx="5432908" cy="23774"/>
          </a:xfrm>
          <a:prstGeom prst="rect">
            <a:avLst/>
          </a:prstGeom>
          <a:solidFill>
            <a:srgbClr val="B8965A"/>
          </a:solidFill>
          <a:ln/>
        </p:spPr>
      </p:sp>
      <p:sp>
        <p:nvSpPr>
          <p:cNvPr id="22" name="Shape 20"/>
          <p:cNvSpPr/>
          <p:nvPr/>
        </p:nvSpPr>
        <p:spPr>
          <a:xfrm>
            <a:off x="6210148" y="3699662"/>
            <a:ext cx="5432908" cy="844906"/>
          </a:xfrm>
          <a:prstGeom prst="rect">
            <a:avLst/>
          </a:prstGeom>
          <a:solidFill>
            <a:srgbClr val="F2F0EA"/>
          </a:solidFill>
          <a:ln/>
        </p:spPr>
      </p:sp>
      <p:sp>
        <p:nvSpPr>
          <p:cNvPr id="23" name="Text 21"/>
          <p:cNvSpPr txBox="1"/>
          <p:nvPr/>
        </p:nvSpPr>
        <p:spPr>
          <a:xfrm>
            <a:off x="6374740" y="3730752"/>
            <a:ext cx="5103724" cy="731520"/>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Founder &amp; Leadership Transition
</a:t>
            </a:r>
            <a:endParaRPr lang="en-US" sz="1250" dirty="0"/>
          </a:p>
          <a:p>
            <a:pPr marL="0" indent="0">
              <a:buNone/>
            </a:pPr>
            <a:r>
              <a:rPr lang="en-US" sz="1100" i="1" dirty="0">
                <a:solidFill>
                  <a:srgbClr val="3A3A3A"/>
                </a:solidFill>
                <a:latin typeface="Calibri" pitchFamily="34" charset="0"/>
                <a:ea typeface="Calibri" pitchFamily="34" charset="-122"/>
                <a:cs typeface="Calibri" pitchFamily="34" charset="-120"/>
              </a:rPr>
              <a:t>How can the business continue to thrive as the founder's role changes?</a:t>
            </a:r>
            <a:endParaRPr lang="en-US" sz="1250" dirty="0"/>
          </a:p>
        </p:txBody>
      </p:sp>
      <p:sp>
        <p:nvSpPr>
          <p:cNvPr id="24" name="Text 22"/>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COPY REVIEW</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5. Business Performance</a:t>
            </a:r>
            <a:endParaRPr lang="en-US" sz="2500" dirty="0"/>
          </a:p>
        </p:txBody>
      </p:sp>
      <p:sp>
        <p:nvSpPr>
          <p:cNvPr id="6" name="Shape 4"/>
          <p:cNvSpPr/>
          <p:nvPr/>
        </p:nvSpPr>
        <p:spPr>
          <a:xfrm>
            <a:off x="548640" y="1481328"/>
            <a:ext cx="5432908" cy="23774"/>
          </a:xfrm>
          <a:prstGeom prst="rect">
            <a:avLst/>
          </a:prstGeom>
          <a:solidFill>
            <a:srgbClr val="B8965A"/>
          </a:solidFill>
          <a:ln/>
        </p:spPr>
      </p:sp>
      <p:sp>
        <p:nvSpPr>
          <p:cNvPr id="7" name="Shape 5"/>
          <p:cNvSpPr/>
          <p:nvPr/>
        </p:nvSpPr>
        <p:spPr>
          <a:xfrm>
            <a:off x="548640" y="1505102"/>
            <a:ext cx="5432908" cy="844906"/>
          </a:xfrm>
          <a:prstGeom prst="rect">
            <a:avLst/>
          </a:prstGeom>
          <a:solidFill>
            <a:srgbClr val="EDEBE5"/>
          </a:solidFill>
          <a:ln/>
        </p:spPr>
      </p:sp>
      <p:sp>
        <p:nvSpPr>
          <p:cNvPr id="8" name="Text 6"/>
          <p:cNvSpPr txBox="1"/>
          <p:nvPr/>
        </p:nvSpPr>
        <p:spPr>
          <a:xfrm>
            <a:off x="713232" y="1536192"/>
            <a:ext cx="5103724" cy="731520"/>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Business Performance Review
</a:t>
            </a:r>
            <a:endParaRPr lang="en-US" sz="1250" dirty="0"/>
          </a:p>
          <a:p>
            <a:pPr marL="0" indent="0">
              <a:buNone/>
            </a:pPr>
            <a:r>
              <a:rPr lang="en-US" sz="1100" i="1" dirty="0">
                <a:solidFill>
                  <a:srgbClr val="3A3A3A"/>
                </a:solidFill>
                <a:latin typeface="Calibri" pitchFamily="34" charset="0"/>
                <a:ea typeface="Calibri" pitchFamily="34" charset="-122"/>
                <a:cs typeface="Calibri" pitchFamily="34" charset="-120"/>
              </a:rPr>
              <a:t>What is really happening in the business?</a:t>
            </a:r>
            <a:endParaRPr lang="en-US" sz="1250" dirty="0"/>
          </a:p>
        </p:txBody>
      </p:sp>
      <p:sp>
        <p:nvSpPr>
          <p:cNvPr id="9" name="Shape 7"/>
          <p:cNvSpPr/>
          <p:nvPr/>
        </p:nvSpPr>
        <p:spPr>
          <a:xfrm>
            <a:off x="6210148" y="1481328"/>
            <a:ext cx="5432908" cy="23774"/>
          </a:xfrm>
          <a:prstGeom prst="rect">
            <a:avLst/>
          </a:prstGeom>
          <a:solidFill>
            <a:srgbClr val="B8965A"/>
          </a:solidFill>
          <a:ln/>
        </p:spPr>
      </p:sp>
      <p:sp>
        <p:nvSpPr>
          <p:cNvPr id="10" name="Shape 8"/>
          <p:cNvSpPr/>
          <p:nvPr/>
        </p:nvSpPr>
        <p:spPr>
          <a:xfrm>
            <a:off x="6210148" y="1505102"/>
            <a:ext cx="5432908" cy="844906"/>
          </a:xfrm>
          <a:prstGeom prst="rect">
            <a:avLst/>
          </a:prstGeom>
          <a:solidFill>
            <a:srgbClr val="F2F0EA"/>
          </a:solidFill>
          <a:ln/>
        </p:spPr>
      </p:sp>
      <p:sp>
        <p:nvSpPr>
          <p:cNvPr id="11" name="Text 9"/>
          <p:cNvSpPr txBox="1"/>
          <p:nvPr/>
        </p:nvSpPr>
        <p:spPr>
          <a:xfrm>
            <a:off x="6374740" y="1536192"/>
            <a:ext cx="5103724" cy="731520"/>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Performance Measures
</a:t>
            </a:r>
            <a:endParaRPr lang="en-US" sz="1250" dirty="0"/>
          </a:p>
          <a:p>
            <a:pPr marL="0" indent="0">
              <a:buNone/>
            </a:pPr>
            <a:r>
              <a:rPr lang="en-US" sz="1100" i="1" dirty="0">
                <a:solidFill>
                  <a:srgbClr val="3A3A3A"/>
                </a:solidFill>
                <a:latin typeface="Calibri" pitchFamily="34" charset="0"/>
                <a:ea typeface="Calibri" pitchFamily="34" charset="-122"/>
                <a:cs typeface="Calibri" pitchFamily="34" charset="-120"/>
              </a:rPr>
              <a:t>What should we measure to know if the business is doing well?</a:t>
            </a:r>
            <a:endParaRPr lang="en-US" sz="1250" dirty="0"/>
          </a:p>
        </p:txBody>
      </p:sp>
      <p:sp>
        <p:nvSpPr>
          <p:cNvPr id="12" name="Shape 10"/>
          <p:cNvSpPr/>
          <p:nvPr/>
        </p:nvSpPr>
        <p:spPr>
          <a:xfrm>
            <a:off x="548640" y="2578608"/>
            <a:ext cx="5432908" cy="23774"/>
          </a:xfrm>
          <a:prstGeom prst="rect">
            <a:avLst/>
          </a:prstGeom>
          <a:solidFill>
            <a:srgbClr val="B8965A"/>
          </a:solidFill>
          <a:ln/>
        </p:spPr>
      </p:sp>
      <p:sp>
        <p:nvSpPr>
          <p:cNvPr id="13" name="Shape 11"/>
          <p:cNvSpPr/>
          <p:nvPr/>
        </p:nvSpPr>
        <p:spPr>
          <a:xfrm>
            <a:off x="548640" y="2602382"/>
            <a:ext cx="5432908" cy="844906"/>
          </a:xfrm>
          <a:prstGeom prst="rect">
            <a:avLst/>
          </a:prstGeom>
          <a:solidFill>
            <a:srgbClr val="F2F0EA"/>
          </a:solidFill>
          <a:ln/>
        </p:spPr>
      </p:sp>
      <p:sp>
        <p:nvSpPr>
          <p:cNvPr id="14" name="Text 12"/>
          <p:cNvSpPr txBox="1"/>
          <p:nvPr/>
        </p:nvSpPr>
        <p:spPr>
          <a:xfrm>
            <a:off x="713232" y="2633472"/>
            <a:ext cx="5103724" cy="731520"/>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Performance Reporting
</a:t>
            </a:r>
            <a:endParaRPr lang="en-US" sz="1250" dirty="0"/>
          </a:p>
          <a:p>
            <a:pPr marL="0" indent="0">
              <a:buNone/>
            </a:pPr>
            <a:r>
              <a:rPr lang="en-US" sz="1100" i="1" dirty="0">
                <a:solidFill>
                  <a:srgbClr val="3A3A3A"/>
                </a:solidFill>
                <a:latin typeface="Calibri" pitchFamily="34" charset="0"/>
                <a:ea typeface="Calibri" pitchFamily="34" charset="-122"/>
                <a:cs typeface="Calibri" pitchFamily="34" charset="-120"/>
              </a:rPr>
              <a:t>How do we track performance and know when something needs attention?</a:t>
            </a:r>
            <a:endParaRPr lang="en-US" sz="1250" dirty="0"/>
          </a:p>
        </p:txBody>
      </p:sp>
      <p:sp>
        <p:nvSpPr>
          <p:cNvPr id="15" name="Shape 13"/>
          <p:cNvSpPr/>
          <p:nvPr/>
        </p:nvSpPr>
        <p:spPr>
          <a:xfrm>
            <a:off x="6210148" y="2578608"/>
            <a:ext cx="5432908" cy="23774"/>
          </a:xfrm>
          <a:prstGeom prst="rect">
            <a:avLst/>
          </a:prstGeom>
          <a:solidFill>
            <a:srgbClr val="B8965A"/>
          </a:solidFill>
          <a:ln/>
        </p:spPr>
      </p:sp>
      <p:sp>
        <p:nvSpPr>
          <p:cNvPr id="16" name="Shape 14"/>
          <p:cNvSpPr/>
          <p:nvPr/>
        </p:nvSpPr>
        <p:spPr>
          <a:xfrm>
            <a:off x="6210148" y="2602382"/>
            <a:ext cx="5432908" cy="844906"/>
          </a:xfrm>
          <a:prstGeom prst="rect">
            <a:avLst/>
          </a:prstGeom>
          <a:solidFill>
            <a:srgbClr val="EDEBE5"/>
          </a:solidFill>
          <a:ln/>
        </p:spPr>
      </p:sp>
      <p:sp>
        <p:nvSpPr>
          <p:cNvPr id="17" name="Text 15"/>
          <p:cNvSpPr txBox="1"/>
          <p:nvPr/>
        </p:nvSpPr>
        <p:spPr>
          <a:xfrm>
            <a:off x="6374740" y="2633472"/>
            <a:ext cx="5103724" cy="731520"/>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Business Insights
</a:t>
            </a:r>
            <a:endParaRPr lang="en-US" sz="1250" dirty="0"/>
          </a:p>
          <a:p>
            <a:pPr marL="0" indent="0">
              <a:buNone/>
            </a:pPr>
            <a:r>
              <a:rPr lang="en-US" sz="1100" i="1" dirty="0">
                <a:solidFill>
                  <a:srgbClr val="3A3A3A"/>
                </a:solidFill>
                <a:latin typeface="Calibri" pitchFamily="34" charset="0"/>
                <a:ea typeface="Calibri" pitchFamily="34" charset="-122"/>
                <a:cs typeface="Calibri" pitchFamily="34" charset="-120"/>
              </a:rPr>
              <a:t>What do our business numbers tell us?</a:t>
            </a:r>
            <a:endParaRPr lang="en-US" sz="1250" dirty="0"/>
          </a:p>
        </p:txBody>
      </p:sp>
      <p:sp>
        <p:nvSpPr>
          <p:cNvPr id="18" name="Shape 16"/>
          <p:cNvSpPr/>
          <p:nvPr/>
        </p:nvSpPr>
        <p:spPr>
          <a:xfrm>
            <a:off x="548640" y="3675888"/>
            <a:ext cx="5432908" cy="23774"/>
          </a:xfrm>
          <a:prstGeom prst="rect">
            <a:avLst/>
          </a:prstGeom>
          <a:solidFill>
            <a:srgbClr val="B8965A"/>
          </a:solidFill>
          <a:ln/>
        </p:spPr>
      </p:sp>
      <p:sp>
        <p:nvSpPr>
          <p:cNvPr id="19" name="Shape 17"/>
          <p:cNvSpPr/>
          <p:nvPr/>
        </p:nvSpPr>
        <p:spPr>
          <a:xfrm>
            <a:off x="548640" y="3699662"/>
            <a:ext cx="5432908" cy="844906"/>
          </a:xfrm>
          <a:prstGeom prst="rect">
            <a:avLst/>
          </a:prstGeom>
          <a:solidFill>
            <a:srgbClr val="EDEBE5"/>
          </a:solidFill>
          <a:ln/>
        </p:spPr>
      </p:sp>
      <p:sp>
        <p:nvSpPr>
          <p:cNvPr id="20" name="Text 18"/>
          <p:cNvSpPr txBox="1"/>
          <p:nvPr/>
        </p:nvSpPr>
        <p:spPr>
          <a:xfrm>
            <a:off x="713232" y="3730752"/>
            <a:ext cx="5103724" cy="731520"/>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Better Business Decisions
</a:t>
            </a:r>
            <a:endParaRPr lang="en-US" sz="1250" dirty="0"/>
          </a:p>
          <a:p>
            <a:pPr marL="0" indent="0">
              <a:buNone/>
            </a:pPr>
            <a:r>
              <a:rPr lang="en-US" sz="1100" i="1" dirty="0">
                <a:solidFill>
                  <a:srgbClr val="3A3A3A"/>
                </a:solidFill>
                <a:latin typeface="Calibri" pitchFamily="34" charset="0"/>
                <a:ea typeface="Calibri" pitchFamily="34" charset="-122"/>
                <a:cs typeface="Calibri" pitchFamily="34" charset="-120"/>
              </a:rPr>
              <a:t>How do we use the right information to make better decisions?</a:t>
            </a:r>
            <a:endParaRPr lang="en-US" sz="1250" dirty="0"/>
          </a:p>
        </p:txBody>
      </p:sp>
      <p:sp>
        <p:nvSpPr>
          <p:cNvPr id="21" name="Text 19"/>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COPY REVIEW</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6. Closing statement before engagement</a:t>
            </a:r>
            <a:endParaRPr lang="en-US" sz="2500" dirty="0"/>
          </a:p>
        </p:txBody>
      </p:sp>
      <p:sp>
        <p:nvSpPr>
          <p:cNvPr id="6" name="Text 4"/>
          <p:cNvSpPr txBox="1"/>
          <p:nvPr/>
        </p:nvSpPr>
        <p:spPr>
          <a:xfrm>
            <a:off x="548640" y="1481328"/>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ORIGINAL</a:t>
            </a:r>
            <a:endParaRPr lang="en-US" sz="1100" dirty="0"/>
          </a:p>
        </p:txBody>
      </p:sp>
      <p:sp>
        <p:nvSpPr>
          <p:cNvPr id="7" name="Shape 5"/>
          <p:cNvSpPr/>
          <p:nvPr/>
        </p:nvSpPr>
        <p:spPr>
          <a:xfrm>
            <a:off x="548640" y="1755648"/>
            <a:ext cx="11094415" cy="25603"/>
          </a:xfrm>
          <a:prstGeom prst="rect">
            <a:avLst/>
          </a:prstGeom>
          <a:solidFill>
            <a:srgbClr val="B8965A"/>
          </a:solidFill>
          <a:ln/>
        </p:spPr>
      </p:sp>
      <p:sp>
        <p:nvSpPr>
          <p:cNvPr id="8" name="Shape 6"/>
          <p:cNvSpPr/>
          <p:nvPr/>
        </p:nvSpPr>
        <p:spPr>
          <a:xfrm>
            <a:off x="548640" y="1781251"/>
            <a:ext cx="11094415" cy="762000"/>
          </a:xfrm>
          <a:prstGeom prst="rect">
            <a:avLst/>
          </a:prstGeom>
          <a:solidFill>
            <a:srgbClr val="EDEBE5"/>
          </a:solidFill>
          <a:ln/>
        </p:spPr>
      </p:sp>
      <p:sp>
        <p:nvSpPr>
          <p:cNvPr id="9" name="Text 7"/>
          <p:cNvSpPr txBox="1"/>
          <p:nvPr/>
        </p:nvSpPr>
        <p:spPr>
          <a:xfrm>
            <a:off x="749808" y="1781251"/>
            <a:ext cx="10692079" cy="762000"/>
          </a:xfrm>
          <a:prstGeom prst="rect">
            <a:avLst/>
          </a:prstGeom>
          <a:noFill/>
          <a:ln/>
        </p:spPr>
        <p:txBody>
          <a:bodyPr wrap="square" lIns="635" tIns="635" rIns="635" bIns="635" rtlCol="0" anchor="ctr"/>
          <a:lstStyle/>
          <a:p>
            <a:pPr marL="0" indent="0">
              <a:buNone/>
            </a:pPr>
            <a:r>
              <a:rPr lang="en-US" sz="1400" i="1" dirty="0">
                <a:solidFill>
                  <a:srgbClr val="3A3A3A"/>
                </a:solidFill>
                <a:latin typeface="Calibri" pitchFamily="34" charset="0"/>
                <a:ea typeface="Calibri" pitchFamily="34" charset="-122"/>
                <a:cs typeface="Calibri" pitchFamily="34" charset="-120"/>
              </a:rPr>
              <a:t>Most engagements in this area begin with a diagnostic rather than a proposal, because the presenting problem is rarely the constraint.</a:t>
            </a:r>
            <a:endParaRPr lang="en-US" sz="1400" dirty="0"/>
          </a:p>
        </p:txBody>
      </p:sp>
      <p:sp>
        <p:nvSpPr>
          <p:cNvPr id="10" name="Text 8"/>
          <p:cNvSpPr txBox="1"/>
          <p:nvPr/>
        </p:nvSpPr>
        <p:spPr>
          <a:xfrm>
            <a:off x="548640" y="2707843"/>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REVISED / PROPOSED</a:t>
            </a:r>
            <a:endParaRPr lang="en-US" sz="1100" dirty="0"/>
          </a:p>
        </p:txBody>
      </p:sp>
      <p:sp>
        <p:nvSpPr>
          <p:cNvPr id="11" name="Shape 9"/>
          <p:cNvSpPr/>
          <p:nvPr/>
        </p:nvSpPr>
        <p:spPr>
          <a:xfrm>
            <a:off x="548640" y="2982163"/>
            <a:ext cx="11094415" cy="25603"/>
          </a:xfrm>
          <a:prstGeom prst="rect">
            <a:avLst/>
          </a:prstGeom>
          <a:solidFill>
            <a:srgbClr val="B8965A"/>
          </a:solidFill>
          <a:ln/>
        </p:spPr>
      </p:sp>
      <p:sp>
        <p:nvSpPr>
          <p:cNvPr id="12" name="Shape 10"/>
          <p:cNvSpPr/>
          <p:nvPr/>
        </p:nvSpPr>
        <p:spPr>
          <a:xfrm>
            <a:off x="548640" y="3007766"/>
            <a:ext cx="11094415" cy="762000"/>
          </a:xfrm>
          <a:prstGeom prst="rect">
            <a:avLst/>
          </a:prstGeom>
          <a:solidFill>
            <a:srgbClr val="F2F0EA"/>
          </a:solidFill>
          <a:ln/>
        </p:spPr>
      </p:sp>
      <p:sp>
        <p:nvSpPr>
          <p:cNvPr id="13" name="Text 11"/>
          <p:cNvSpPr txBox="1"/>
          <p:nvPr/>
        </p:nvSpPr>
        <p:spPr>
          <a:xfrm>
            <a:off x="749808" y="3007766"/>
            <a:ext cx="10692079" cy="762000"/>
          </a:xfrm>
          <a:prstGeom prst="rect">
            <a:avLst/>
          </a:prstGeom>
          <a:noFill/>
          <a:ln/>
        </p:spPr>
        <p:txBody>
          <a:bodyPr wrap="square" lIns="635" tIns="635" rIns="635" bIns="635" rtlCol="0" anchor="ctr"/>
          <a:lstStyle/>
          <a:p>
            <a:pPr marL="0" indent="0">
              <a:buNone/>
            </a:pPr>
            <a:r>
              <a:rPr lang="en-US" sz="1400" i="1" dirty="0">
                <a:solidFill>
                  <a:srgbClr val="3A3A3A"/>
                </a:solidFill>
                <a:latin typeface="Calibri" pitchFamily="34" charset="0"/>
                <a:ea typeface="Calibri" pitchFamily="34" charset="-122"/>
                <a:cs typeface="Calibri" pitchFamily="34" charset="-120"/>
              </a:rPr>
              <a:t>We start by understanding the business before recommending a solution. The problem you see may not be the real problem holding the business back.</a:t>
            </a:r>
            <a:endParaRPr lang="en-US" sz="1400" dirty="0"/>
          </a:p>
        </p:txBody>
      </p:sp>
      <p:sp>
        <p:nvSpPr>
          <p:cNvPr id="14" name="Text 12"/>
          <p:cNvSpPr txBox="1"/>
          <p:nvPr/>
        </p:nvSpPr>
        <p:spPr>
          <a:xfrm>
            <a:off x="548640" y="3934358"/>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REASON</a:t>
            </a:r>
            <a:endParaRPr lang="en-US" sz="1100" dirty="0"/>
          </a:p>
        </p:txBody>
      </p:sp>
      <p:sp>
        <p:nvSpPr>
          <p:cNvPr id="15" name="Shape 13"/>
          <p:cNvSpPr/>
          <p:nvPr/>
        </p:nvSpPr>
        <p:spPr>
          <a:xfrm>
            <a:off x="548640" y="4208678"/>
            <a:ext cx="11094415" cy="510540"/>
          </a:xfrm>
          <a:prstGeom prst="rect">
            <a:avLst/>
          </a:prstGeom>
          <a:solidFill>
            <a:srgbClr val="FFFFFF"/>
          </a:solidFill>
          <a:ln/>
        </p:spPr>
      </p:sp>
      <p:sp>
        <p:nvSpPr>
          <p:cNvPr id="16" name="Text 14"/>
          <p:cNvSpPr txBox="1"/>
          <p:nvPr/>
        </p:nvSpPr>
        <p:spPr>
          <a:xfrm>
            <a:off x="749808" y="4208678"/>
            <a:ext cx="10692079" cy="510540"/>
          </a:xfrm>
          <a:prstGeom prst="rect">
            <a:avLst/>
          </a:prstGeom>
          <a:noFill/>
          <a:ln/>
        </p:spPr>
        <p:txBody>
          <a:bodyPr wrap="square" lIns="635" tIns="635" rIns="635" bIns="635" rtlCol="0" anchor="ctr"/>
          <a:lstStyle/>
          <a:p>
            <a:pPr marL="0" indent="0">
              <a:buNone/>
            </a:pPr>
            <a:r>
              <a:rPr lang="en-US" sz="1300" dirty="0">
                <a:solidFill>
                  <a:srgbClr val="3A3A3A"/>
                </a:solidFill>
                <a:latin typeface="Calibri" pitchFamily="34" charset="0"/>
                <a:ea typeface="Calibri" pitchFamily="34" charset="-122"/>
                <a:cs typeface="Calibri" pitchFamily="34" charset="-120"/>
              </a:rPr>
              <a:t>Keep the principle, simplify the language.</a:t>
            </a:r>
            <a:endParaRPr lang="en-US" sz="1300" dirty="0"/>
          </a:p>
        </p:txBody>
      </p:sp>
      <p:sp>
        <p:nvSpPr>
          <p:cNvPr id="17" name="Text 15"/>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COPY REVIEW</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B8965A"/>
          </a:solidFill>
          <a:ln/>
        </p:spPr>
      </p:sp>
      <p:sp>
        <p:nvSpPr>
          <p:cNvPr id="3" name="Text 1"/>
          <p:cNvSpPr txBox="1"/>
          <p:nvPr/>
        </p:nvSpPr>
        <p:spPr>
          <a:xfrm>
            <a:off x="548640" y="2377440"/>
            <a:ext cx="7315200" cy="365760"/>
          </a:xfrm>
          <a:prstGeom prst="rect">
            <a:avLst/>
          </a:prstGeom>
          <a:noFill/>
          <a:ln/>
        </p:spPr>
        <p:txBody>
          <a:bodyPr wrap="square" lIns="0" tIns="0" rIns="0" bIns="0" rtlCol="0" anchor="ctr"/>
          <a:lstStyle/>
          <a:p>
            <a:pPr marL="0" indent="0">
              <a:buNone/>
            </a:pPr>
            <a:r>
              <a:rPr lang="en-US" sz="1400" b="1" kern="0" spc="200" dirty="0">
                <a:solidFill>
                  <a:srgbClr val="7D6230"/>
                </a:solidFill>
                <a:latin typeface="Calibri" pitchFamily="34" charset="0"/>
                <a:ea typeface="Calibri" pitchFamily="34" charset="-122"/>
                <a:cs typeface="Calibri" pitchFamily="34" charset="-120"/>
              </a:rPr>
              <a:t>SECTION 05</a:t>
            </a:r>
            <a:endParaRPr lang="en-US" sz="1400" dirty="0"/>
          </a:p>
        </p:txBody>
      </p:sp>
      <p:sp>
        <p:nvSpPr>
          <p:cNvPr id="4" name="Text 2"/>
          <p:cNvSpPr txBox="1"/>
          <p:nvPr/>
        </p:nvSpPr>
        <p:spPr>
          <a:xfrm>
            <a:off x="548640" y="2743200"/>
            <a:ext cx="9601200" cy="1097280"/>
          </a:xfrm>
          <a:prstGeom prst="rect">
            <a:avLst/>
          </a:prstGeom>
          <a:noFill/>
          <a:ln/>
        </p:spPr>
        <p:txBody>
          <a:bodyPr wrap="square" lIns="0" tIns="0" rIns="0" bIns="0"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Team</a:t>
            </a:r>
            <a:endParaRPr lang="en-US" sz="4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1. Who does the work</a:t>
            </a:r>
            <a:endParaRPr lang="en-US" sz="2500" dirty="0"/>
          </a:p>
        </p:txBody>
      </p:sp>
      <p:sp>
        <p:nvSpPr>
          <p:cNvPr id="6" name="Text 4"/>
          <p:cNvSpPr txBox="1"/>
          <p:nvPr/>
        </p:nvSpPr>
        <p:spPr>
          <a:xfrm>
            <a:off x="548640" y="1481328"/>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ORIGINAL</a:t>
            </a:r>
            <a:endParaRPr lang="en-US" sz="1100" dirty="0"/>
          </a:p>
        </p:txBody>
      </p:sp>
      <p:sp>
        <p:nvSpPr>
          <p:cNvPr id="7" name="Shape 5"/>
          <p:cNvSpPr/>
          <p:nvPr/>
        </p:nvSpPr>
        <p:spPr>
          <a:xfrm>
            <a:off x="548640" y="1755648"/>
            <a:ext cx="11094415" cy="25603"/>
          </a:xfrm>
          <a:prstGeom prst="rect">
            <a:avLst/>
          </a:prstGeom>
          <a:solidFill>
            <a:srgbClr val="B8965A"/>
          </a:solidFill>
          <a:ln/>
        </p:spPr>
      </p:sp>
      <p:sp>
        <p:nvSpPr>
          <p:cNvPr id="8" name="Shape 6"/>
          <p:cNvSpPr/>
          <p:nvPr/>
        </p:nvSpPr>
        <p:spPr>
          <a:xfrm>
            <a:off x="548640" y="1781251"/>
            <a:ext cx="11094415" cy="762000"/>
          </a:xfrm>
          <a:prstGeom prst="rect">
            <a:avLst/>
          </a:prstGeom>
          <a:solidFill>
            <a:srgbClr val="EDEBE5"/>
          </a:solidFill>
          <a:ln/>
        </p:spPr>
      </p:sp>
      <p:sp>
        <p:nvSpPr>
          <p:cNvPr id="9" name="Text 7"/>
          <p:cNvSpPr txBox="1"/>
          <p:nvPr/>
        </p:nvSpPr>
        <p:spPr>
          <a:xfrm>
            <a:off x="749808" y="1781251"/>
            <a:ext cx="10692079" cy="762000"/>
          </a:xfrm>
          <a:prstGeom prst="rect">
            <a:avLst/>
          </a:prstGeom>
          <a:noFill/>
          <a:ln/>
        </p:spPr>
        <p:txBody>
          <a:bodyPr wrap="square" lIns="635" tIns="635" rIns="635" bIns="635" rtlCol="0" anchor="ctr"/>
          <a:lstStyle/>
          <a:p>
            <a:pPr marL="0" indent="0">
              <a:buNone/>
            </a:pPr>
            <a:r>
              <a:rPr lang="en-US" sz="1400" i="1" dirty="0">
                <a:solidFill>
                  <a:srgbClr val="3A3A3A"/>
                </a:solidFill>
                <a:latin typeface="Calibri" pitchFamily="34" charset="0"/>
                <a:ea typeface="Calibri" pitchFamily="34" charset="-122"/>
                <a:cs typeface="Calibri" pitchFamily="34" charset="-120"/>
              </a:rPr>
              <a:t>One named consultant leads the work, with a network of associates brought in where a specific engagement needs them.</a:t>
            </a:r>
            <a:endParaRPr lang="en-US" sz="1400" dirty="0"/>
          </a:p>
        </p:txBody>
      </p:sp>
      <p:sp>
        <p:nvSpPr>
          <p:cNvPr id="10" name="Text 8"/>
          <p:cNvSpPr txBox="1"/>
          <p:nvPr/>
        </p:nvSpPr>
        <p:spPr>
          <a:xfrm>
            <a:off x="548640" y="2707843"/>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REVISED / PROPOSED</a:t>
            </a:r>
            <a:endParaRPr lang="en-US" sz="1100" dirty="0"/>
          </a:p>
        </p:txBody>
      </p:sp>
      <p:sp>
        <p:nvSpPr>
          <p:cNvPr id="11" name="Shape 9"/>
          <p:cNvSpPr/>
          <p:nvPr/>
        </p:nvSpPr>
        <p:spPr>
          <a:xfrm>
            <a:off x="548640" y="2982163"/>
            <a:ext cx="11094415" cy="25603"/>
          </a:xfrm>
          <a:prstGeom prst="rect">
            <a:avLst/>
          </a:prstGeom>
          <a:solidFill>
            <a:srgbClr val="B8965A"/>
          </a:solidFill>
          <a:ln/>
        </p:spPr>
      </p:sp>
      <p:sp>
        <p:nvSpPr>
          <p:cNvPr id="12" name="Shape 10"/>
          <p:cNvSpPr/>
          <p:nvPr/>
        </p:nvSpPr>
        <p:spPr>
          <a:xfrm>
            <a:off x="548640" y="3007766"/>
            <a:ext cx="11094415" cy="996696"/>
          </a:xfrm>
          <a:prstGeom prst="rect">
            <a:avLst/>
          </a:prstGeom>
          <a:solidFill>
            <a:srgbClr val="F2F0EA"/>
          </a:solidFill>
          <a:ln/>
        </p:spPr>
      </p:sp>
      <p:sp>
        <p:nvSpPr>
          <p:cNvPr id="13" name="Text 11"/>
          <p:cNvSpPr txBox="1"/>
          <p:nvPr/>
        </p:nvSpPr>
        <p:spPr>
          <a:xfrm>
            <a:off x="749808" y="3007766"/>
            <a:ext cx="10692079" cy="996696"/>
          </a:xfrm>
          <a:prstGeom prst="rect">
            <a:avLst/>
          </a:prstGeom>
          <a:noFill/>
          <a:ln/>
        </p:spPr>
        <p:txBody>
          <a:bodyPr wrap="square" lIns="635" tIns="635" rIns="635" bIns="635" rtlCol="0" anchor="ctr"/>
          <a:lstStyle/>
          <a:p>
            <a:pPr marL="0" indent="0">
              <a:buNone/>
            </a:pPr>
            <a:r>
              <a:rPr lang="en-US" sz="1400" i="1" dirty="0">
                <a:solidFill>
                  <a:srgbClr val="3A3A3A"/>
                </a:solidFill>
                <a:latin typeface="Calibri" pitchFamily="34" charset="0"/>
                <a:ea typeface="Calibri" pitchFamily="34" charset="-122"/>
                <a:cs typeface="Calibri" pitchFamily="34" charset="-120"/>
              </a:rPr>
              <a:t>Every Seiran engagement has a named consultant accountable for the work. The consultant leads the engagement and draws on strategic associates and specialist expertise where the work calls for it.</a:t>
            </a:r>
            <a:endParaRPr lang="en-US" sz="1400" dirty="0"/>
          </a:p>
        </p:txBody>
      </p:sp>
      <p:sp>
        <p:nvSpPr>
          <p:cNvPr id="14" name="Text 12"/>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COPY REVIEW</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2. Consultant profile — edits from Eldaah</a:t>
            </a:r>
            <a:endParaRPr lang="en-US" sz="2500" dirty="0"/>
          </a:p>
        </p:txBody>
      </p:sp>
      <p:sp>
        <p:nvSpPr>
          <p:cNvPr id="5" name="Text 3"/>
          <p:cNvSpPr txBox="1"/>
          <p:nvPr/>
        </p:nvSpPr>
        <p:spPr>
          <a:xfrm>
            <a:off x="548640" y="1097280"/>
            <a:ext cx="11094415" cy="274320"/>
          </a:xfrm>
          <a:prstGeom prst="rect">
            <a:avLst/>
          </a:prstGeom>
          <a:noFill/>
          <a:ln/>
        </p:spPr>
        <p:txBody>
          <a:bodyPr wrap="square" lIns="0" tIns="0" rIns="0" bIns="0" rtlCol="0" anchor="ctr"/>
          <a:lstStyle/>
          <a:p>
            <a:pPr marL="0" indent="0">
              <a:buNone/>
            </a:pPr>
            <a:r>
              <a:rPr lang="en-US" sz="1200" b="1" kern="0" spc="150" dirty="0">
                <a:solidFill>
                  <a:srgbClr val="7D6230"/>
                </a:solidFill>
                <a:latin typeface="Calibri" pitchFamily="34" charset="0"/>
                <a:ea typeface="Calibri" pitchFamily="34" charset="-122"/>
                <a:cs typeface="Calibri" pitchFamily="34" charset="-120"/>
              </a:rPr>
              <a:t>TEAM</a:t>
            </a:r>
            <a:endParaRPr lang="en-US" sz="1200" dirty="0"/>
          </a:p>
        </p:txBody>
      </p:sp>
      <p:sp>
        <p:nvSpPr>
          <p:cNvPr id="6" name="Shape 4"/>
          <p:cNvSpPr/>
          <p:nvPr/>
        </p:nvSpPr>
        <p:spPr>
          <a:xfrm>
            <a:off x="548640" y="1481328"/>
            <a:ext cx="6949440" cy="25603"/>
          </a:xfrm>
          <a:prstGeom prst="rect">
            <a:avLst/>
          </a:prstGeom>
          <a:solidFill>
            <a:srgbClr val="B8965A"/>
          </a:solidFill>
          <a:ln/>
        </p:spPr>
      </p:sp>
      <p:sp>
        <p:nvSpPr>
          <p:cNvPr id="7" name="Shape 5"/>
          <p:cNvSpPr/>
          <p:nvPr/>
        </p:nvSpPr>
        <p:spPr>
          <a:xfrm>
            <a:off x="548640" y="1506931"/>
            <a:ext cx="6949440" cy="2779776"/>
          </a:xfrm>
          <a:prstGeom prst="rect">
            <a:avLst/>
          </a:prstGeom>
          <a:solidFill>
            <a:srgbClr val="EDEBE5"/>
          </a:solidFill>
          <a:ln/>
        </p:spPr>
      </p:sp>
      <p:sp>
        <p:nvSpPr>
          <p:cNvPr id="8" name="Text 6"/>
          <p:cNvSpPr txBox="1"/>
          <p:nvPr/>
        </p:nvSpPr>
        <p:spPr>
          <a:xfrm>
            <a:off x="731520" y="1506931"/>
            <a:ext cx="6583680" cy="2779776"/>
          </a:xfrm>
          <a:prstGeom prst="rect">
            <a:avLst/>
          </a:prstGeom>
          <a:noFill/>
          <a:ln/>
        </p:spPr>
        <p:txBody>
          <a:bodyPr wrap="square" lIns="635" tIns="635" rIns="635" bIns="635" rtlCol="0" anchor="ctr"/>
          <a:lstStyle/>
          <a:p>
            <a:pPr marL="0" indent="0">
              <a:spcAft>
                <a:spcPts val="400"/>
              </a:spcAft>
              <a:buNone/>
            </a:pPr>
            <a:r>
              <a:rPr lang="en-US" sz="1150" dirty="0">
                <a:solidFill>
                  <a:srgbClr val="3A3A3A"/>
                </a:solidFill>
                <a:latin typeface="Calibri" pitchFamily="34" charset="0"/>
                <a:ea typeface="Calibri" pitchFamily="34" charset="-122"/>
                <a:cs typeface="Calibri" pitchFamily="34" charset="-120"/>
              </a:rPr>
              <a:t>Eldaah Toi, PMP® — Founder &amp; Managing Consultant</a:t>
            </a:r>
            <a:endParaRPr lang="en-US" sz="1150" dirty="0"/>
          </a:p>
          <a:p>
            <a:pPr marL="0" indent="0">
              <a:spcAft>
                <a:spcPts val="400"/>
              </a:spcAft>
              <a:buNone/>
            </a:pPr>
            <a:endParaRPr lang="en-US" sz="1150" dirty="0"/>
          </a:p>
          <a:p>
            <a:pPr marL="0" indent="0">
              <a:spcAft>
                <a:spcPts val="400"/>
              </a:spcAft>
              <a:buNone/>
            </a:pPr>
            <a:r>
              <a:rPr lang="en-US" sz="1150" dirty="0">
                <a:solidFill>
                  <a:srgbClr val="3A3A3A"/>
                </a:solidFill>
                <a:latin typeface="Calibri" pitchFamily="34" charset="0"/>
                <a:ea typeface="Calibri" pitchFamily="34" charset="-122"/>
                <a:cs typeface="Calibri" pitchFamily="34" charset="-120"/>
              </a:rPr>
              <a:t>Eldaah brings experience across telecommunications, project management and strategic management. He holds an MBA in Strategic Management from USIU-Africa and a Bachelor of Engineering in Electrical &amp; Electronic Engineering from the Technical University of Kenya, and is a PMP® credential holder. He has also undertaken professional training in strategic consulting practice through the Strathmore University Research and Consultancy Centre. His experience includes strategic and business advisory work, alongside leadership of complex projects and initiatives. At Seiran, he helps owner-managed businesses make clearer decisions, strengthen how they operate, and build the structures and capabilities required for sustainable growth.</a:t>
            </a:r>
            <a:endParaRPr lang="en-US" sz="1150" dirty="0"/>
          </a:p>
        </p:txBody>
      </p:sp>
      <p:sp>
        <p:nvSpPr>
          <p:cNvPr id="10" name="Text 8"/>
          <p:cNvSpPr txBox="1"/>
          <p:nvPr/>
        </p:nvSpPr>
        <p:spPr>
          <a:xfrm>
            <a:off x="7863840" y="1481328"/>
            <a:ext cx="3779215" cy="457200"/>
          </a:xfrm>
          <a:prstGeom prst="rect">
            <a:avLst/>
          </a:prstGeom>
          <a:noFill/>
          <a:ln/>
        </p:spPr>
        <p:txBody>
          <a:bodyPr wrap="square" lIns="0" tIns="0" rIns="0" bIns="0" rtlCol="0" anchor="ctr"/>
          <a:lstStyle/>
          <a:p>
            <a:pPr marL="0" indent="0">
              <a:buNone/>
            </a:pPr>
            <a:r>
              <a:rPr lang="en-US" sz="1050" b="1" kern="0" spc="50" dirty="0">
                <a:solidFill>
                  <a:srgbClr val="7D6230"/>
                </a:solidFill>
                <a:latin typeface="Calibri" pitchFamily="34" charset="0"/>
                <a:ea typeface="Calibri" pitchFamily="34" charset="-122"/>
                <a:cs typeface="Calibri" pitchFamily="34" charset="-120"/>
              </a:rPr>
              <a:t>4 SECTIONS BELOW PROFILE — REVISE TO</a:t>
            </a:r>
            <a:endParaRPr lang="en-US" sz="1050" dirty="0"/>
          </a:p>
        </p:txBody>
      </p:sp>
      <p:sp>
        <p:nvSpPr>
          <p:cNvPr id="11" name="Shape 9"/>
          <p:cNvSpPr/>
          <p:nvPr/>
        </p:nvSpPr>
        <p:spPr>
          <a:xfrm>
            <a:off x="7863840" y="1938528"/>
            <a:ext cx="3779215" cy="4206240"/>
          </a:xfrm>
          <a:prstGeom prst="rect">
            <a:avLst/>
          </a:prstGeom>
          <a:solidFill>
            <a:srgbClr val="F2F0EA"/>
          </a:solidFill>
          <a:ln/>
        </p:spPr>
      </p:sp>
      <p:sp>
        <p:nvSpPr>
          <p:cNvPr id="12" name="Text 10"/>
          <p:cNvSpPr txBox="1"/>
          <p:nvPr/>
        </p:nvSpPr>
        <p:spPr>
          <a:xfrm>
            <a:off x="8065008" y="2103120"/>
            <a:ext cx="3376879" cy="388620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3A3A3A"/>
                </a:solidFill>
                <a:latin typeface="Calibri" pitchFamily="34" charset="0"/>
                <a:ea typeface="Calibri" pitchFamily="34" charset="-122"/>
                <a:cs typeface="Calibri" pitchFamily="34" charset="-120"/>
              </a:rPr>
              <a:t>You work directly with the consultant leading your engagement.</a:t>
            </a:r>
            <a:endParaRPr lang="en-US" sz="1250" dirty="0"/>
          </a:p>
          <a:p>
            <a:pPr marL="342900" indent="-342900">
              <a:spcAft>
                <a:spcPts val="1000"/>
              </a:spcAft>
              <a:buSzPct val="100000"/>
              <a:buChar char="•"/>
            </a:pPr>
            <a:r>
              <a:rPr lang="en-US" sz="1250" dirty="0">
                <a:solidFill>
                  <a:srgbClr val="3A3A3A"/>
                </a:solidFill>
                <a:latin typeface="Calibri" pitchFamily="34" charset="0"/>
                <a:ea typeface="Calibri" pitchFamily="34" charset="-122"/>
                <a:cs typeface="Calibri" pitchFamily="34" charset="-120"/>
              </a:rPr>
              <a:t>The right specialist expertise is brought in where the work needs it.</a:t>
            </a:r>
            <a:endParaRPr lang="en-US" sz="1250" dirty="0"/>
          </a:p>
          <a:p>
            <a:pPr marL="342900" indent="-342900">
              <a:spcAft>
                <a:spcPts val="1000"/>
              </a:spcAft>
              <a:buSzPct val="100000"/>
              <a:buChar char="•"/>
            </a:pPr>
            <a:r>
              <a:rPr lang="en-US" sz="1250" dirty="0">
                <a:solidFill>
                  <a:srgbClr val="3A3A3A"/>
                </a:solidFill>
                <a:latin typeface="Calibri" pitchFamily="34" charset="0"/>
                <a:ea typeface="Calibri" pitchFamily="34" charset="-122"/>
                <a:cs typeface="Calibri" pitchFamily="34" charset="-120"/>
              </a:rPr>
              <a:t>We stay involved through execution, not just to the report.</a:t>
            </a:r>
            <a:endParaRPr lang="en-US" sz="1250" dirty="0"/>
          </a:p>
        </p:txBody>
      </p:sp>
      <p:sp>
        <p:nvSpPr>
          <p:cNvPr id="13" name="Text 11"/>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COPY REVIEW</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3. Strategic associates &amp; specialist expertise</a:t>
            </a:r>
            <a:endParaRPr lang="en-US" sz="2500" dirty="0"/>
          </a:p>
        </p:txBody>
      </p:sp>
      <p:sp>
        <p:nvSpPr>
          <p:cNvPr id="6" name="Text 4"/>
          <p:cNvSpPr txBox="1"/>
          <p:nvPr/>
        </p:nvSpPr>
        <p:spPr>
          <a:xfrm>
            <a:off x="548640" y="1481328"/>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HEADING &amp; SUB-HEADING</a:t>
            </a:r>
            <a:endParaRPr lang="en-US" sz="1100" dirty="0"/>
          </a:p>
        </p:txBody>
      </p:sp>
      <p:sp>
        <p:nvSpPr>
          <p:cNvPr id="7" name="Shape 5"/>
          <p:cNvSpPr/>
          <p:nvPr/>
        </p:nvSpPr>
        <p:spPr>
          <a:xfrm>
            <a:off x="548640" y="1755648"/>
            <a:ext cx="11094415" cy="25603"/>
          </a:xfrm>
          <a:prstGeom prst="rect">
            <a:avLst/>
          </a:prstGeom>
          <a:solidFill>
            <a:srgbClr val="B8965A"/>
          </a:solidFill>
          <a:ln/>
        </p:spPr>
      </p:sp>
      <p:sp>
        <p:nvSpPr>
          <p:cNvPr id="8" name="Shape 6"/>
          <p:cNvSpPr/>
          <p:nvPr/>
        </p:nvSpPr>
        <p:spPr>
          <a:xfrm>
            <a:off x="548640" y="1781251"/>
            <a:ext cx="11094415" cy="527304"/>
          </a:xfrm>
          <a:prstGeom prst="rect">
            <a:avLst/>
          </a:prstGeom>
          <a:solidFill>
            <a:srgbClr val="EDEBE5"/>
          </a:solidFill>
          <a:ln/>
        </p:spPr>
      </p:sp>
      <p:sp>
        <p:nvSpPr>
          <p:cNvPr id="9" name="Text 7"/>
          <p:cNvSpPr txBox="1"/>
          <p:nvPr/>
        </p:nvSpPr>
        <p:spPr>
          <a:xfrm>
            <a:off x="749808" y="1781251"/>
            <a:ext cx="10692079" cy="527304"/>
          </a:xfrm>
          <a:prstGeom prst="rect">
            <a:avLst/>
          </a:prstGeom>
          <a:noFill/>
          <a:ln/>
        </p:spPr>
        <p:txBody>
          <a:bodyPr wrap="square" lIns="635" tIns="635" rIns="635" bIns="635" rtlCol="0" anchor="ctr"/>
          <a:lstStyle/>
          <a:p>
            <a:pPr marL="0" indent="0">
              <a:buNone/>
            </a:pPr>
            <a:r>
              <a:rPr lang="en-US" sz="1400" i="1" dirty="0">
                <a:solidFill>
                  <a:srgbClr val="3A3A3A"/>
                </a:solidFill>
                <a:latin typeface="Calibri" pitchFamily="34" charset="0"/>
                <a:ea typeface="Calibri" pitchFamily="34" charset="-122"/>
                <a:cs typeface="Calibri" pitchFamily="34" charset="-120"/>
              </a:rPr>
              <a:t>Strategic associates &amp; specialist expertise</a:t>
            </a:r>
            <a:endParaRPr lang="en-US" sz="1400" dirty="0"/>
          </a:p>
          <a:p>
            <a:pPr marL="0" indent="0">
              <a:buNone/>
            </a:pPr>
            <a:r>
              <a:rPr lang="en-US" sz="1400" i="1" dirty="0">
                <a:solidFill>
                  <a:srgbClr val="3A3A3A"/>
                </a:solidFill>
                <a:latin typeface="Calibri" pitchFamily="34" charset="0"/>
                <a:ea typeface="Calibri" pitchFamily="34" charset="-122"/>
                <a:cs typeface="Calibri" pitchFamily="34" charset="-120"/>
              </a:rPr>
              <a:t>The right expertise for the work</a:t>
            </a:r>
            <a:endParaRPr lang="en-US" sz="1400" dirty="0"/>
          </a:p>
        </p:txBody>
      </p:sp>
      <p:sp>
        <p:nvSpPr>
          <p:cNvPr id="10" name="Shape 8"/>
          <p:cNvSpPr/>
          <p:nvPr/>
        </p:nvSpPr>
        <p:spPr>
          <a:xfrm>
            <a:off x="548640" y="2473147"/>
            <a:ext cx="11094415" cy="921258"/>
          </a:xfrm>
          <a:prstGeom prst="rect">
            <a:avLst/>
          </a:prstGeom>
          <a:solidFill>
            <a:srgbClr val="F2F0EA"/>
          </a:solidFill>
          <a:ln/>
        </p:spPr>
      </p:sp>
      <p:sp>
        <p:nvSpPr>
          <p:cNvPr id="11" name="Text 9"/>
          <p:cNvSpPr txBox="1"/>
          <p:nvPr/>
        </p:nvSpPr>
        <p:spPr>
          <a:xfrm>
            <a:off x="749808" y="2473147"/>
            <a:ext cx="10692079" cy="921258"/>
          </a:xfrm>
          <a:prstGeom prst="rect">
            <a:avLst/>
          </a:prstGeom>
          <a:noFill/>
          <a:ln/>
        </p:spPr>
        <p:txBody>
          <a:bodyPr wrap="square" lIns="635" tIns="635" rIns="635" bIns="635" rtlCol="0" anchor="ctr"/>
          <a:lstStyle/>
          <a:p>
            <a:pPr marL="0" indent="0">
              <a:buNone/>
            </a:pPr>
            <a:r>
              <a:rPr lang="en-US" sz="1250" dirty="0">
                <a:solidFill>
                  <a:srgbClr val="3A3A3A"/>
                </a:solidFill>
                <a:latin typeface="Calibri" pitchFamily="34" charset="0"/>
                <a:ea typeface="Calibri" pitchFamily="34" charset="-122"/>
                <a:cs typeface="Calibri" pitchFamily="34" charset="-120"/>
              </a:rPr>
              <a:t>Seiran's four advisory pillars define our core work. Strategic associates and specialist expertise extend that capability where an engagement requires additional knowledge or experience. Our growing associate and specialist network includes expertise across:</a:t>
            </a:r>
            <a:endParaRPr lang="en-US" sz="1250" dirty="0"/>
          </a:p>
        </p:txBody>
      </p:sp>
      <p:sp>
        <p:nvSpPr>
          <p:cNvPr id="12" name="Shape 10"/>
          <p:cNvSpPr/>
          <p:nvPr/>
        </p:nvSpPr>
        <p:spPr>
          <a:xfrm>
            <a:off x="548640" y="3558997"/>
            <a:ext cx="2636444" cy="457200"/>
          </a:xfrm>
          <a:prstGeom prst="rect">
            <a:avLst/>
          </a:prstGeom>
          <a:solidFill>
            <a:srgbClr val="1B2A4A"/>
          </a:solidFill>
          <a:ln/>
        </p:spPr>
      </p:sp>
      <p:sp>
        <p:nvSpPr>
          <p:cNvPr id="13" name="Text 11"/>
          <p:cNvSpPr txBox="1"/>
          <p:nvPr/>
        </p:nvSpPr>
        <p:spPr>
          <a:xfrm>
            <a:off x="621792" y="3558997"/>
            <a:ext cx="249014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Strategy &amp; Growth</a:t>
            </a:r>
            <a:endParaRPr lang="en-US" sz="1100" dirty="0"/>
          </a:p>
        </p:txBody>
      </p:sp>
      <p:sp>
        <p:nvSpPr>
          <p:cNvPr id="14" name="Shape 12"/>
          <p:cNvSpPr/>
          <p:nvPr/>
        </p:nvSpPr>
        <p:spPr>
          <a:xfrm>
            <a:off x="3367964" y="3558997"/>
            <a:ext cx="2636444" cy="457200"/>
          </a:xfrm>
          <a:prstGeom prst="rect">
            <a:avLst/>
          </a:prstGeom>
          <a:solidFill>
            <a:srgbClr val="1B2A4A"/>
          </a:solidFill>
          <a:ln/>
        </p:spPr>
      </p:sp>
      <p:sp>
        <p:nvSpPr>
          <p:cNvPr id="15" name="Text 13"/>
          <p:cNvSpPr txBox="1"/>
          <p:nvPr/>
        </p:nvSpPr>
        <p:spPr>
          <a:xfrm>
            <a:off x="3441116" y="3558997"/>
            <a:ext cx="249014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Operations &amp; Business Systems</a:t>
            </a:r>
            <a:endParaRPr lang="en-US" sz="1100" dirty="0"/>
          </a:p>
        </p:txBody>
      </p:sp>
      <p:sp>
        <p:nvSpPr>
          <p:cNvPr id="16" name="Shape 14"/>
          <p:cNvSpPr/>
          <p:nvPr/>
        </p:nvSpPr>
        <p:spPr>
          <a:xfrm>
            <a:off x="6187288" y="3558997"/>
            <a:ext cx="2636444" cy="457200"/>
          </a:xfrm>
          <a:prstGeom prst="rect">
            <a:avLst/>
          </a:prstGeom>
          <a:solidFill>
            <a:srgbClr val="1B2A4A"/>
          </a:solidFill>
          <a:ln/>
        </p:spPr>
      </p:sp>
      <p:sp>
        <p:nvSpPr>
          <p:cNvPr id="17" name="Text 15"/>
          <p:cNvSpPr txBox="1"/>
          <p:nvPr/>
        </p:nvSpPr>
        <p:spPr>
          <a:xfrm>
            <a:off x="6260440" y="3558997"/>
            <a:ext cx="249014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People &amp; Organization</a:t>
            </a:r>
            <a:endParaRPr lang="en-US" sz="1100" dirty="0"/>
          </a:p>
        </p:txBody>
      </p:sp>
      <p:sp>
        <p:nvSpPr>
          <p:cNvPr id="18" name="Shape 16"/>
          <p:cNvSpPr/>
          <p:nvPr/>
        </p:nvSpPr>
        <p:spPr>
          <a:xfrm>
            <a:off x="9006611" y="3558997"/>
            <a:ext cx="2636444" cy="457200"/>
          </a:xfrm>
          <a:prstGeom prst="rect">
            <a:avLst/>
          </a:prstGeom>
          <a:solidFill>
            <a:srgbClr val="1B2A4A"/>
          </a:solidFill>
          <a:ln/>
        </p:spPr>
      </p:sp>
      <p:sp>
        <p:nvSpPr>
          <p:cNvPr id="19" name="Text 17"/>
          <p:cNvSpPr txBox="1"/>
          <p:nvPr/>
        </p:nvSpPr>
        <p:spPr>
          <a:xfrm>
            <a:off x="9079763" y="3558997"/>
            <a:ext cx="249014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Business Performance</a:t>
            </a:r>
            <a:endParaRPr lang="en-US" sz="1100" dirty="0"/>
          </a:p>
        </p:txBody>
      </p:sp>
      <p:sp>
        <p:nvSpPr>
          <p:cNvPr id="20" name="Shape 18"/>
          <p:cNvSpPr/>
          <p:nvPr/>
        </p:nvSpPr>
        <p:spPr>
          <a:xfrm>
            <a:off x="548640" y="4217365"/>
            <a:ext cx="11094415" cy="711708"/>
          </a:xfrm>
          <a:prstGeom prst="rect">
            <a:avLst/>
          </a:prstGeom>
          <a:solidFill>
            <a:srgbClr val="FBF8F1"/>
          </a:solidFill>
          <a:ln/>
        </p:spPr>
      </p:sp>
      <p:sp>
        <p:nvSpPr>
          <p:cNvPr id="21" name="Text 19"/>
          <p:cNvSpPr txBox="1"/>
          <p:nvPr/>
        </p:nvSpPr>
        <p:spPr>
          <a:xfrm>
            <a:off x="749808" y="4217365"/>
            <a:ext cx="10692079" cy="711708"/>
          </a:xfrm>
          <a:prstGeom prst="rect">
            <a:avLst/>
          </a:prstGeom>
          <a:noFill/>
          <a:ln/>
        </p:spPr>
        <p:txBody>
          <a:bodyPr wrap="square" lIns="635" tIns="635" rIns="635" bIns="635" rtlCol="0" anchor="ctr"/>
          <a:lstStyle/>
          <a:p>
            <a:pPr marL="0" indent="0">
              <a:buNone/>
            </a:pPr>
            <a:r>
              <a:rPr lang="en-US" sz="1250" dirty="0">
                <a:solidFill>
                  <a:srgbClr val="3A3A3A"/>
                </a:solidFill>
                <a:latin typeface="Calibri" pitchFamily="34" charset="0"/>
                <a:ea typeface="Calibri" pitchFamily="34" charset="-122"/>
                <a:cs typeface="Calibri" pitchFamily="34" charset="-120"/>
              </a:rPr>
              <a:t>Where a client's situation calls for expertise beyond our core advisory work, Seiran can bring the appropriate specialist capability into the engagement.</a:t>
            </a:r>
            <a:endParaRPr lang="en-US" sz="1250" dirty="0"/>
          </a:p>
        </p:txBody>
      </p:sp>
      <p:sp>
        <p:nvSpPr>
          <p:cNvPr id="22" name="Shape 20"/>
          <p:cNvSpPr/>
          <p:nvPr/>
        </p:nvSpPr>
        <p:spPr>
          <a:xfrm>
            <a:off x="548640" y="5093665"/>
            <a:ext cx="11094415" cy="728472"/>
          </a:xfrm>
          <a:prstGeom prst="rect">
            <a:avLst/>
          </a:prstGeom>
          <a:solidFill>
            <a:srgbClr val="EDEBE5"/>
          </a:solidFill>
          <a:ln/>
        </p:spPr>
      </p:sp>
      <p:sp>
        <p:nvSpPr>
          <p:cNvPr id="23" name="Text 21"/>
          <p:cNvSpPr txBox="1"/>
          <p:nvPr/>
        </p:nvSpPr>
        <p:spPr>
          <a:xfrm>
            <a:off x="749808" y="5093665"/>
            <a:ext cx="10692079" cy="728472"/>
          </a:xfrm>
          <a:prstGeom prst="rect">
            <a:avLst/>
          </a:prstGeom>
          <a:noFill/>
          <a:ln/>
        </p:spPr>
        <p:txBody>
          <a:bodyPr wrap="square" lIns="635" tIns="635" rIns="635" bIns="635" rtlCol="0" anchor="ctr"/>
          <a:lstStyle/>
          <a:p>
            <a:pPr marL="0" indent="0">
              <a:buNone/>
            </a:pPr>
            <a:r>
              <a:rPr lang="en-US" sz="1300" b="1" dirty="0">
                <a:solidFill>
                  <a:srgbClr val="3A3A3A"/>
                </a:solidFill>
                <a:latin typeface="Calibri" pitchFamily="34" charset="0"/>
                <a:ea typeface="Calibri" pitchFamily="34" charset="-122"/>
                <a:cs typeface="Calibri" pitchFamily="34" charset="-120"/>
              </a:rPr>
              <a:t>The work remains led by a Seiran consultant, with the right expertise brought around the engagement where it adds value.</a:t>
            </a:r>
            <a:endParaRPr lang="en-US" sz="1300" dirty="0"/>
          </a:p>
        </p:txBody>
      </p:sp>
      <p:sp>
        <p:nvSpPr>
          <p:cNvPr id="24" name="Text 22"/>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COPY REVIEW</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4. Closing statement on delivery model</a:t>
            </a:r>
            <a:endParaRPr lang="en-US" sz="2500" dirty="0"/>
          </a:p>
        </p:txBody>
      </p:sp>
      <p:sp>
        <p:nvSpPr>
          <p:cNvPr id="6" name="Text 4"/>
          <p:cNvSpPr txBox="1"/>
          <p:nvPr/>
        </p:nvSpPr>
        <p:spPr>
          <a:xfrm>
            <a:off x="548640" y="1481328"/>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ORIGINAL</a:t>
            </a:r>
            <a:endParaRPr lang="en-US" sz="1100" dirty="0"/>
          </a:p>
        </p:txBody>
      </p:sp>
      <p:sp>
        <p:nvSpPr>
          <p:cNvPr id="7" name="Shape 5"/>
          <p:cNvSpPr/>
          <p:nvPr/>
        </p:nvSpPr>
        <p:spPr>
          <a:xfrm>
            <a:off x="548640" y="1755648"/>
            <a:ext cx="11094415" cy="25603"/>
          </a:xfrm>
          <a:prstGeom prst="rect">
            <a:avLst/>
          </a:prstGeom>
          <a:solidFill>
            <a:srgbClr val="B8965A"/>
          </a:solidFill>
          <a:ln/>
        </p:spPr>
      </p:sp>
      <p:sp>
        <p:nvSpPr>
          <p:cNvPr id="8" name="Shape 6"/>
          <p:cNvSpPr/>
          <p:nvPr/>
        </p:nvSpPr>
        <p:spPr>
          <a:xfrm>
            <a:off x="548640" y="1781251"/>
            <a:ext cx="11094415" cy="762000"/>
          </a:xfrm>
          <a:prstGeom prst="rect">
            <a:avLst/>
          </a:prstGeom>
          <a:solidFill>
            <a:srgbClr val="EDEBE5"/>
          </a:solidFill>
          <a:ln/>
        </p:spPr>
      </p:sp>
      <p:sp>
        <p:nvSpPr>
          <p:cNvPr id="9" name="Text 7"/>
          <p:cNvSpPr txBox="1"/>
          <p:nvPr/>
        </p:nvSpPr>
        <p:spPr>
          <a:xfrm>
            <a:off x="749808" y="1781251"/>
            <a:ext cx="10692079" cy="762000"/>
          </a:xfrm>
          <a:prstGeom prst="rect">
            <a:avLst/>
          </a:prstGeom>
          <a:noFill/>
          <a:ln/>
        </p:spPr>
        <p:txBody>
          <a:bodyPr wrap="square" lIns="635" tIns="635" rIns="635" bIns="635" rtlCol="0" anchor="ctr"/>
          <a:lstStyle/>
          <a:p>
            <a:pPr marL="0" indent="0">
              <a:buNone/>
            </a:pPr>
            <a:r>
              <a:rPr lang="en-US" sz="1400" i="1" dirty="0">
                <a:solidFill>
                  <a:srgbClr val="3A3A3A"/>
                </a:solidFill>
                <a:latin typeface="Calibri" pitchFamily="34" charset="0"/>
                <a:ea typeface="Calibri" pitchFamily="34" charset="-122"/>
                <a:cs typeface="Calibri" pitchFamily="34" charset="-120"/>
              </a:rPr>
              <a:t>No account layer and no rotating team. The consultant in the first conversation is the one who runs the engagement.</a:t>
            </a:r>
            <a:endParaRPr lang="en-US" sz="1400" dirty="0"/>
          </a:p>
        </p:txBody>
      </p:sp>
      <p:sp>
        <p:nvSpPr>
          <p:cNvPr id="10" name="Text 8"/>
          <p:cNvSpPr txBox="1"/>
          <p:nvPr/>
        </p:nvSpPr>
        <p:spPr>
          <a:xfrm>
            <a:off x="548640" y="2707843"/>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REVISED / PROPOSED</a:t>
            </a:r>
            <a:endParaRPr lang="en-US" sz="1100" dirty="0"/>
          </a:p>
        </p:txBody>
      </p:sp>
      <p:sp>
        <p:nvSpPr>
          <p:cNvPr id="11" name="Shape 9"/>
          <p:cNvSpPr/>
          <p:nvPr/>
        </p:nvSpPr>
        <p:spPr>
          <a:xfrm>
            <a:off x="548640" y="2982163"/>
            <a:ext cx="11094415" cy="25603"/>
          </a:xfrm>
          <a:prstGeom prst="rect">
            <a:avLst/>
          </a:prstGeom>
          <a:solidFill>
            <a:srgbClr val="B8965A"/>
          </a:solidFill>
          <a:ln/>
        </p:spPr>
      </p:sp>
      <p:sp>
        <p:nvSpPr>
          <p:cNvPr id="12" name="Shape 10"/>
          <p:cNvSpPr/>
          <p:nvPr/>
        </p:nvSpPr>
        <p:spPr>
          <a:xfrm>
            <a:off x="548640" y="3007766"/>
            <a:ext cx="11094415" cy="762000"/>
          </a:xfrm>
          <a:prstGeom prst="rect">
            <a:avLst/>
          </a:prstGeom>
          <a:solidFill>
            <a:srgbClr val="F2F0EA"/>
          </a:solidFill>
          <a:ln/>
        </p:spPr>
      </p:sp>
      <p:sp>
        <p:nvSpPr>
          <p:cNvPr id="13" name="Text 11"/>
          <p:cNvSpPr txBox="1"/>
          <p:nvPr/>
        </p:nvSpPr>
        <p:spPr>
          <a:xfrm>
            <a:off x="749808" y="3007766"/>
            <a:ext cx="10692079" cy="762000"/>
          </a:xfrm>
          <a:prstGeom prst="rect">
            <a:avLst/>
          </a:prstGeom>
          <a:noFill/>
          <a:ln/>
        </p:spPr>
        <p:txBody>
          <a:bodyPr wrap="square" lIns="635" tIns="635" rIns="635" bIns="635" rtlCol="0" anchor="ctr"/>
          <a:lstStyle/>
          <a:p>
            <a:pPr marL="0" indent="0">
              <a:buNone/>
            </a:pPr>
            <a:r>
              <a:rPr lang="en-US" sz="1400" i="1" dirty="0">
                <a:solidFill>
                  <a:srgbClr val="3A3A3A"/>
                </a:solidFill>
                <a:latin typeface="Calibri" pitchFamily="34" charset="0"/>
                <a:ea typeface="Calibri" pitchFamily="34" charset="-122"/>
                <a:cs typeface="Calibri" pitchFamily="34" charset="-120"/>
              </a:rPr>
              <a:t>You won't be passed from one person to another. The consultant leading your engagement stays close to the work from the first conversation through execution.</a:t>
            </a:r>
            <a:endParaRPr lang="en-US" sz="1400" dirty="0"/>
          </a:p>
        </p:txBody>
      </p:sp>
      <p:sp>
        <p:nvSpPr>
          <p:cNvPr id="14" name="Text 12"/>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COPY REVIEW</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9">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B8965A"/>
          </a:solidFill>
          <a:ln/>
        </p:spPr>
      </p:sp>
      <p:sp>
        <p:nvSpPr>
          <p:cNvPr id="3" name="Text 1"/>
          <p:cNvSpPr txBox="1"/>
          <p:nvPr/>
        </p:nvSpPr>
        <p:spPr>
          <a:xfrm>
            <a:off x="548640" y="2377440"/>
            <a:ext cx="7315200" cy="365760"/>
          </a:xfrm>
          <a:prstGeom prst="rect">
            <a:avLst/>
          </a:prstGeom>
          <a:noFill/>
          <a:ln/>
        </p:spPr>
        <p:txBody>
          <a:bodyPr wrap="square" lIns="0" tIns="0" rIns="0" bIns="0" rtlCol="0" anchor="ctr"/>
          <a:lstStyle/>
          <a:p>
            <a:pPr marL="0" indent="0">
              <a:buNone/>
            </a:pPr>
            <a:r>
              <a:rPr lang="en-US" sz="1400" b="1" kern="0" spc="200" dirty="0">
                <a:solidFill>
                  <a:srgbClr val="7D6230"/>
                </a:solidFill>
                <a:latin typeface="Calibri" pitchFamily="34" charset="0"/>
                <a:ea typeface="Calibri" pitchFamily="34" charset="-122"/>
                <a:cs typeface="Calibri" pitchFamily="34" charset="-120"/>
              </a:rPr>
              <a:t>SECTION 06</a:t>
            </a:r>
            <a:endParaRPr lang="en-US" sz="1400" dirty="0"/>
          </a:p>
        </p:txBody>
      </p:sp>
      <p:sp>
        <p:nvSpPr>
          <p:cNvPr id="4" name="Text 2"/>
          <p:cNvSpPr txBox="1"/>
          <p:nvPr/>
        </p:nvSpPr>
        <p:spPr>
          <a:xfrm>
            <a:off x="548640" y="2743200"/>
            <a:ext cx="9601200" cy="1097280"/>
          </a:xfrm>
          <a:prstGeom prst="rect">
            <a:avLst/>
          </a:prstGeom>
          <a:noFill/>
          <a:ln/>
        </p:spPr>
        <p:txBody>
          <a:bodyPr wrap="square" lIns="0" tIns="0" rIns="0" bIns="0"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Insights</a:t>
            </a:r>
            <a:endParaRPr lang="en-US" sz="4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1. Writing for owner-managers</a:t>
            </a:r>
            <a:endParaRPr lang="en-US" sz="2500" dirty="0"/>
          </a:p>
        </p:txBody>
      </p:sp>
      <p:sp>
        <p:nvSpPr>
          <p:cNvPr id="6" name="Text 4"/>
          <p:cNvSpPr txBox="1"/>
          <p:nvPr/>
        </p:nvSpPr>
        <p:spPr>
          <a:xfrm>
            <a:off x="548640" y="1481328"/>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ORIGINAL</a:t>
            </a:r>
            <a:endParaRPr lang="en-US" sz="1100" dirty="0"/>
          </a:p>
        </p:txBody>
      </p:sp>
      <p:sp>
        <p:nvSpPr>
          <p:cNvPr id="7" name="Shape 5"/>
          <p:cNvSpPr/>
          <p:nvPr/>
        </p:nvSpPr>
        <p:spPr>
          <a:xfrm>
            <a:off x="548640" y="1755648"/>
            <a:ext cx="11094415" cy="25603"/>
          </a:xfrm>
          <a:prstGeom prst="rect">
            <a:avLst/>
          </a:prstGeom>
          <a:solidFill>
            <a:srgbClr val="B8965A"/>
          </a:solidFill>
          <a:ln/>
        </p:spPr>
      </p:sp>
      <p:sp>
        <p:nvSpPr>
          <p:cNvPr id="8" name="Shape 6"/>
          <p:cNvSpPr/>
          <p:nvPr/>
        </p:nvSpPr>
        <p:spPr>
          <a:xfrm>
            <a:off x="548640" y="1781251"/>
            <a:ext cx="11094415" cy="762000"/>
          </a:xfrm>
          <a:prstGeom prst="rect">
            <a:avLst/>
          </a:prstGeom>
          <a:solidFill>
            <a:srgbClr val="EDEBE5"/>
          </a:solidFill>
          <a:ln/>
        </p:spPr>
      </p:sp>
      <p:sp>
        <p:nvSpPr>
          <p:cNvPr id="9" name="Text 7"/>
          <p:cNvSpPr txBox="1"/>
          <p:nvPr/>
        </p:nvSpPr>
        <p:spPr>
          <a:xfrm>
            <a:off x="749808" y="1781251"/>
            <a:ext cx="10692079" cy="762000"/>
          </a:xfrm>
          <a:prstGeom prst="rect">
            <a:avLst/>
          </a:prstGeom>
          <a:noFill/>
          <a:ln/>
        </p:spPr>
        <p:txBody>
          <a:bodyPr wrap="square" lIns="635" tIns="635" rIns="635" bIns="635" rtlCol="0" anchor="ctr"/>
          <a:lstStyle/>
          <a:p>
            <a:pPr marL="0" indent="0">
              <a:buNone/>
            </a:pPr>
            <a:r>
              <a:rPr lang="en-US" sz="1400" i="1" dirty="0">
                <a:solidFill>
                  <a:srgbClr val="3A3A3A"/>
                </a:solidFill>
                <a:latin typeface="Calibri" pitchFamily="34" charset="0"/>
                <a:ea typeface="Calibri" pitchFamily="34" charset="-122"/>
                <a:cs typeface="Calibri" pitchFamily="34" charset="-120"/>
              </a:rPr>
              <a:t>Thinking on growth, systems and founder transition</a:t>
            </a:r>
            <a:endParaRPr lang="en-US" sz="1400" dirty="0"/>
          </a:p>
          <a:p>
            <a:pPr marL="0" indent="0">
              <a:buNone/>
            </a:pPr>
            <a:r>
              <a:rPr lang="en-US" sz="1400" i="1" dirty="0">
                <a:solidFill>
                  <a:srgbClr val="3A3A3A"/>
                </a:solidFill>
                <a:latin typeface="Calibri" pitchFamily="34" charset="0"/>
                <a:ea typeface="Calibri" pitchFamily="34" charset="-122"/>
                <a:cs typeface="Calibri" pitchFamily="34" charset="-120"/>
              </a:rPr>
              <a:t>Articles, research, guides and founder perspectives on the problems owner-managed businesses hit as they scale.</a:t>
            </a:r>
            <a:endParaRPr lang="en-US" sz="1400" dirty="0"/>
          </a:p>
        </p:txBody>
      </p:sp>
      <p:sp>
        <p:nvSpPr>
          <p:cNvPr id="10" name="Text 8"/>
          <p:cNvSpPr txBox="1"/>
          <p:nvPr/>
        </p:nvSpPr>
        <p:spPr>
          <a:xfrm>
            <a:off x="548640" y="2707843"/>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REVISED / PROPOSED</a:t>
            </a:r>
            <a:endParaRPr lang="en-US" sz="1100" dirty="0"/>
          </a:p>
        </p:txBody>
      </p:sp>
      <p:sp>
        <p:nvSpPr>
          <p:cNvPr id="11" name="Shape 9"/>
          <p:cNvSpPr/>
          <p:nvPr/>
        </p:nvSpPr>
        <p:spPr>
          <a:xfrm>
            <a:off x="548640" y="2982163"/>
            <a:ext cx="11094415" cy="25603"/>
          </a:xfrm>
          <a:prstGeom prst="rect">
            <a:avLst/>
          </a:prstGeom>
          <a:solidFill>
            <a:srgbClr val="B8965A"/>
          </a:solidFill>
          <a:ln/>
        </p:spPr>
      </p:sp>
      <p:sp>
        <p:nvSpPr>
          <p:cNvPr id="12" name="Shape 10"/>
          <p:cNvSpPr/>
          <p:nvPr/>
        </p:nvSpPr>
        <p:spPr>
          <a:xfrm>
            <a:off x="548640" y="3007766"/>
            <a:ext cx="11094415" cy="762000"/>
          </a:xfrm>
          <a:prstGeom prst="rect">
            <a:avLst/>
          </a:prstGeom>
          <a:solidFill>
            <a:srgbClr val="F2F0EA"/>
          </a:solidFill>
          <a:ln/>
        </p:spPr>
      </p:sp>
      <p:sp>
        <p:nvSpPr>
          <p:cNvPr id="13" name="Text 11"/>
          <p:cNvSpPr txBox="1"/>
          <p:nvPr/>
        </p:nvSpPr>
        <p:spPr>
          <a:xfrm>
            <a:off x="749808" y="3007766"/>
            <a:ext cx="10692079" cy="762000"/>
          </a:xfrm>
          <a:prstGeom prst="rect">
            <a:avLst/>
          </a:prstGeom>
          <a:noFill/>
          <a:ln/>
        </p:spPr>
        <p:txBody>
          <a:bodyPr wrap="square" lIns="635" tIns="635" rIns="635" bIns="635" rtlCol="0" anchor="ctr"/>
          <a:lstStyle/>
          <a:p>
            <a:pPr marL="0" indent="0">
              <a:buNone/>
            </a:pPr>
            <a:r>
              <a:rPr lang="en-US" sz="1400" i="1" dirty="0">
                <a:solidFill>
                  <a:srgbClr val="3A3A3A"/>
                </a:solidFill>
                <a:latin typeface="Calibri" pitchFamily="34" charset="0"/>
                <a:ea typeface="Calibri" pitchFamily="34" charset="-122"/>
                <a:cs typeface="Calibri" pitchFamily="34" charset="-120"/>
              </a:rPr>
              <a:t>Practical thinking on growth, systems and the founder's role</a:t>
            </a:r>
            <a:endParaRPr lang="en-US" sz="1400" dirty="0"/>
          </a:p>
          <a:p>
            <a:pPr marL="0" indent="0">
              <a:buNone/>
            </a:pPr>
            <a:r>
              <a:rPr lang="en-US" sz="1400" i="1" dirty="0">
                <a:solidFill>
                  <a:srgbClr val="3A3A3A"/>
                </a:solidFill>
                <a:latin typeface="Calibri" pitchFamily="34" charset="0"/>
                <a:ea typeface="Calibri" pitchFamily="34" charset="-122"/>
                <a:cs typeface="Calibri" pitchFamily="34" charset="-120"/>
              </a:rPr>
              <a:t>Articles, guides and practical perspectives on the challenges owner-managed businesses face as they grow.</a:t>
            </a:r>
            <a:endParaRPr lang="en-US" sz="1400" dirty="0"/>
          </a:p>
        </p:txBody>
      </p:sp>
      <p:sp>
        <p:nvSpPr>
          <p:cNvPr id="14" name="Text 12"/>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COPY REVIEW</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2. Newsletter sign-up — “when they land”</a:t>
            </a:r>
            <a:endParaRPr lang="en-US" sz="2500" dirty="0"/>
          </a:p>
        </p:txBody>
      </p:sp>
      <p:sp>
        <p:nvSpPr>
          <p:cNvPr id="5" name="Text 3"/>
          <p:cNvSpPr txBox="1"/>
          <p:nvPr/>
        </p:nvSpPr>
        <p:spPr>
          <a:xfrm>
            <a:off x="548640" y="1097280"/>
            <a:ext cx="11094415" cy="274320"/>
          </a:xfrm>
          <a:prstGeom prst="rect">
            <a:avLst/>
          </a:prstGeom>
          <a:noFill/>
          <a:ln/>
        </p:spPr>
        <p:txBody>
          <a:bodyPr wrap="square" lIns="0" tIns="0" rIns="0" bIns="0" rtlCol="0" anchor="ctr"/>
          <a:lstStyle/>
          <a:p>
            <a:pPr marL="0" indent="0">
              <a:buNone/>
            </a:pPr>
            <a:r>
              <a:rPr lang="en-US" sz="1200" b="1" kern="0" spc="150" dirty="0">
                <a:solidFill>
                  <a:srgbClr val="7D6230"/>
                </a:solidFill>
                <a:latin typeface="Calibri" pitchFamily="34" charset="0"/>
                <a:ea typeface="Calibri" pitchFamily="34" charset="-122"/>
                <a:cs typeface="Calibri" pitchFamily="34" charset="-120"/>
              </a:rPr>
              <a:t>INSIGHTS</a:t>
            </a:r>
            <a:endParaRPr lang="en-US" sz="1200" dirty="0"/>
          </a:p>
        </p:txBody>
      </p:sp>
      <p:sp>
        <p:nvSpPr>
          <p:cNvPr id="6" name="Text 4"/>
          <p:cNvSpPr txBox="1"/>
          <p:nvPr/>
        </p:nvSpPr>
        <p:spPr>
          <a:xfrm>
            <a:off x="548640" y="1481328"/>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ORIGINAL</a:t>
            </a:r>
            <a:endParaRPr lang="en-US" sz="1100" dirty="0"/>
          </a:p>
        </p:txBody>
      </p:sp>
      <p:sp>
        <p:nvSpPr>
          <p:cNvPr id="7" name="Shape 5"/>
          <p:cNvSpPr/>
          <p:nvPr/>
        </p:nvSpPr>
        <p:spPr>
          <a:xfrm>
            <a:off x="548640" y="1755648"/>
            <a:ext cx="11094415" cy="25603"/>
          </a:xfrm>
          <a:prstGeom prst="rect">
            <a:avLst/>
          </a:prstGeom>
          <a:solidFill>
            <a:srgbClr val="B8965A"/>
          </a:solidFill>
          <a:ln/>
        </p:spPr>
      </p:sp>
      <p:sp>
        <p:nvSpPr>
          <p:cNvPr id="8" name="Shape 6"/>
          <p:cNvSpPr/>
          <p:nvPr/>
        </p:nvSpPr>
        <p:spPr>
          <a:xfrm>
            <a:off x="548640" y="1781251"/>
            <a:ext cx="11094415" cy="527304"/>
          </a:xfrm>
          <a:prstGeom prst="rect">
            <a:avLst/>
          </a:prstGeom>
          <a:solidFill>
            <a:srgbClr val="EDEBE5"/>
          </a:solidFill>
          <a:ln/>
        </p:spPr>
      </p:sp>
      <p:sp>
        <p:nvSpPr>
          <p:cNvPr id="9" name="Text 7"/>
          <p:cNvSpPr txBox="1"/>
          <p:nvPr/>
        </p:nvSpPr>
        <p:spPr>
          <a:xfrm>
            <a:off x="749808" y="1781251"/>
            <a:ext cx="10692079" cy="527304"/>
          </a:xfrm>
          <a:prstGeom prst="rect">
            <a:avLst/>
          </a:prstGeom>
          <a:noFill/>
          <a:ln/>
        </p:spPr>
        <p:txBody>
          <a:bodyPr wrap="square" lIns="635" tIns="635" rIns="635" bIns="635" rtlCol="0" anchor="ctr"/>
          <a:lstStyle/>
          <a:p>
            <a:pPr marL="0" indent="0">
              <a:buNone/>
            </a:pPr>
            <a:r>
              <a:rPr lang="en-US" sz="1400" i="1" dirty="0">
                <a:solidFill>
                  <a:srgbClr val="3A3A3A"/>
                </a:solidFill>
                <a:latin typeface="Calibri" pitchFamily="34" charset="0"/>
                <a:ea typeface="Calibri" pitchFamily="34" charset="-122"/>
                <a:cs typeface="Calibri" pitchFamily="34" charset="-120"/>
              </a:rPr>
              <a:t>Get these when they land.</a:t>
            </a:r>
            <a:endParaRPr lang="en-US" sz="1400" dirty="0"/>
          </a:p>
          <a:p>
            <a:pPr marL="0" indent="0">
              <a:buNone/>
            </a:pPr>
            <a:r>
              <a:rPr lang="en-US" sz="1400" i="1" dirty="0">
                <a:solidFill>
                  <a:srgbClr val="3A3A3A"/>
                </a:solidFill>
                <a:latin typeface="Calibri" pitchFamily="34" charset="0"/>
                <a:ea typeface="Calibri" pitchFamily="34" charset="-122"/>
                <a:cs typeface="Calibri" pitchFamily="34" charset="-120"/>
              </a:rPr>
              <a:t>No more than once a month, and nothing you did not ask for.</a:t>
            </a:r>
            <a:endParaRPr lang="en-US" sz="1400" dirty="0"/>
          </a:p>
        </p:txBody>
      </p:sp>
      <p:sp>
        <p:nvSpPr>
          <p:cNvPr id="10" name="Text 8"/>
          <p:cNvSpPr txBox="1"/>
          <p:nvPr/>
        </p:nvSpPr>
        <p:spPr>
          <a:xfrm>
            <a:off x="548640" y="2473147"/>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REVISED / PROPOSED</a:t>
            </a:r>
            <a:endParaRPr lang="en-US" sz="1100" dirty="0"/>
          </a:p>
        </p:txBody>
      </p:sp>
      <p:sp>
        <p:nvSpPr>
          <p:cNvPr id="11" name="Shape 9"/>
          <p:cNvSpPr/>
          <p:nvPr/>
        </p:nvSpPr>
        <p:spPr>
          <a:xfrm>
            <a:off x="548640" y="2747467"/>
            <a:ext cx="11094415" cy="25603"/>
          </a:xfrm>
          <a:prstGeom prst="rect">
            <a:avLst/>
          </a:prstGeom>
          <a:solidFill>
            <a:srgbClr val="B8965A"/>
          </a:solidFill>
          <a:ln/>
        </p:spPr>
      </p:sp>
      <p:sp>
        <p:nvSpPr>
          <p:cNvPr id="12" name="Shape 10"/>
          <p:cNvSpPr/>
          <p:nvPr/>
        </p:nvSpPr>
        <p:spPr>
          <a:xfrm>
            <a:off x="548640" y="2773070"/>
            <a:ext cx="11094415" cy="762000"/>
          </a:xfrm>
          <a:prstGeom prst="rect">
            <a:avLst/>
          </a:prstGeom>
          <a:solidFill>
            <a:srgbClr val="F2F0EA"/>
          </a:solidFill>
          <a:ln/>
        </p:spPr>
      </p:sp>
      <p:sp>
        <p:nvSpPr>
          <p:cNvPr id="13" name="Text 11"/>
          <p:cNvSpPr txBox="1"/>
          <p:nvPr/>
        </p:nvSpPr>
        <p:spPr>
          <a:xfrm>
            <a:off x="749808" y="2773070"/>
            <a:ext cx="10692079" cy="762000"/>
          </a:xfrm>
          <a:prstGeom prst="rect">
            <a:avLst/>
          </a:prstGeom>
          <a:noFill/>
          <a:ln/>
        </p:spPr>
        <p:txBody>
          <a:bodyPr wrap="square" lIns="635" tIns="635" rIns="635" bIns="635" rtlCol="0" anchor="ctr"/>
          <a:lstStyle/>
          <a:p>
            <a:pPr marL="0" indent="0">
              <a:buNone/>
            </a:pPr>
            <a:r>
              <a:rPr lang="en-US" sz="1400" i="1" dirty="0">
                <a:solidFill>
                  <a:srgbClr val="3A3A3A"/>
                </a:solidFill>
                <a:latin typeface="Calibri" pitchFamily="34" charset="0"/>
                <a:ea typeface="Calibri" pitchFamily="34" charset="-122"/>
                <a:cs typeface="Calibri" pitchFamily="34" charset="-120"/>
              </a:rPr>
              <a:t>Get practical insights for growing your business.</a:t>
            </a:r>
            <a:endParaRPr lang="en-US" sz="1400" dirty="0"/>
          </a:p>
          <a:p>
            <a:pPr marL="0" indent="0">
              <a:buNone/>
            </a:pPr>
            <a:r>
              <a:rPr lang="en-US" sz="1400" i="1" dirty="0">
                <a:solidFill>
                  <a:srgbClr val="3A3A3A"/>
                </a:solidFill>
                <a:latin typeface="Calibri" pitchFamily="34" charset="0"/>
                <a:ea typeface="Calibri" pitchFamily="34" charset="-122"/>
                <a:cs typeface="Calibri" pitchFamily="34" charset="-120"/>
              </a:rPr>
              <a:t>Get occasional insights from Seiran on growth, leadership, systems and business performance. We send no more than one email a month.</a:t>
            </a:r>
            <a:endParaRPr lang="en-US" sz="1400" dirty="0"/>
          </a:p>
        </p:txBody>
      </p:sp>
      <p:sp>
        <p:nvSpPr>
          <p:cNvPr id="14" name="Text 12"/>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COPY REVIEW</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3. Last comment before the call to action</a:t>
            </a:r>
            <a:endParaRPr lang="en-US" sz="2500" dirty="0"/>
          </a:p>
        </p:txBody>
      </p:sp>
      <p:sp>
        <p:nvSpPr>
          <p:cNvPr id="5" name="Text 3"/>
          <p:cNvSpPr txBox="1"/>
          <p:nvPr/>
        </p:nvSpPr>
        <p:spPr>
          <a:xfrm>
            <a:off x="548640" y="1097280"/>
            <a:ext cx="11094415" cy="274320"/>
          </a:xfrm>
          <a:prstGeom prst="rect">
            <a:avLst/>
          </a:prstGeom>
          <a:noFill/>
          <a:ln/>
        </p:spPr>
        <p:txBody>
          <a:bodyPr wrap="square" lIns="0" tIns="0" rIns="0" bIns="0" rtlCol="0" anchor="ctr"/>
          <a:lstStyle/>
          <a:p>
            <a:pPr marL="0" indent="0">
              <a:buNone/>
            </a:pPr>
            <a:r>
              <a:rPr lang="en-US" sz="1200" b="1" kern="0" spc="150" dirty="0">
                <a:solidFill>
                  <a:srgbClr val="7D6230"/>
                </a:solidFill>
                <a:latin typeface="Calibri" pitchFamily="34" charset="0"/>
                <a:ea typeface="Calibri" pitchFamily="34" charset="-122"/>
                <a:cs typeface="Calibri" pitchFamily="34" charset="-120"/>
              </a:rPr>
              <a:t>INSIGHTS</a:t>
            </a:r>
            <a:endParaRPr lang="en-US" sz="1200" dirty="0"/>
          </a:p>
        </p:txBody>
      </p:sp>
      <p:sp>
        <p:nvSpPr>
          <p:cNvPr id="6" name="Text 4"/>
          <p:cNvSpPr txBox="1"/>
          <p:nvPr/>
        </p:nvSpPr>
        <p:spPr>
          <a:xfrm>
            <a:off x="548640" y="1481328"/>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ORIGINAL</a:t>
            </a:r>
            <a:endParaRPr lang="en-US" sz="1100" dirty="0"/>
          </a:p>
        </p:txBody>
      </p:sp>
      <p:sp>
        <p:nvSpPr>
          <p:cNvPr id="7" name="Shape 5"/>
          <p:cNvSpPr/>
          <p:nvPr/>
        </p:nvSpPr>
        <p:spPr>
          <a:xfrm>
            <a:off x="548640" y="1755648"/>
            <a:ext cx="11094415" cy="25603"/>
          </a:xfrm>
          <a:prstGeom prst="rect">
            <a:avLst/>
          </a:prstGeom>
          <a:solidFill>
            <a:srgbClr val="B8965A"/>
          </a:solidFill>
          <a:ln/>
        </p:spPr>
      </p:sp>
      <p:sp>
        <p:nvSpPr>
          <p:cNvPr id="8" name="Shape 6"/>
          <p:cNvSpPr/>
          <p:nvPr/>
        </p:nvSpPr>
        <p:spPr>
          <a:xfrm>
            <a:off x="548640" y="1781251"/>
            <a:ext cx="11094415" cy="762000"/>
          </a:xfrm>
          <a:prstGeom prst="rect">
            <a:avLst/>
          </a:prstGeom>
          <a:solidFill>
            <a:srgbClr val="EDEBE5"/>
          </a:solidFill>
          <a:ln/>
        </p:spPr>
      </p:sp>
      <p:sp>
        <p:nvSpPr>
          <p:cNvPr id="9" name="Text 7"/>
          <p:cNvSpPr txBox="1"/>
          <p:nvPr/>
        </p:nvSpPr>
        <p:spPr>
          <a:xfrm>
            <a:off x="749808" y="1781251"/>
            <a:ext cx="10692079" cy="762000"/>
          </a:xfrm>
          <a:prstGeom prst="rect">
            <a:avLst/>
          </a:prstGeom>
          <a:noFill/>
          <a:ln/>
        </p:spPr>
        <p:txBody>
          <a:bodyPr wrap="square" lIns="635" tIns="635" rIns="635" bIns="635" rtlCol="0" anchor="ctr"/>
          <a:lstStyle/>
          <a:p>
            <a:pPr marL="0" indent="0">
              <a:buNone/>
            </a:pPr>
            <a:r>
              <a:rPr lang="en-US" sz="1400" i="1" dirty="0">
                <a:solidFill>
                  <a:srgbClr val="3A3A3A"/>
                </a:solidFill>
                <a:latin typeface="Calibri" pitchFamily="34" charset="0"/>
                <a:ea typeface="Calibri" pitchFamily="34" charset="-122"/>
                <a:cs typeface="Calibri" pitchFamily="34" charset="-120"/>
              </a:rPr>
              <a:t>Is one of these a live question for you?</a:t>
            </a:r>
            <a:endParaRPr lang="en-US" sz="1400" dirty="0"/>
          </a:p>
          <a:p>
            <a:pPr marL="0" indent="0">
              <a:buNone/>
            </a:pPr>
            <a:r>
              <a:rPr lang="en-US" sz="1400" i="1" dirty="0">
                <a:solidFill>
                  <a:srgbClr val="3A3A3A"/>
                </a:solidFill>
                <a:latin typeface="Calibri" pitchFamily="34" charset="0"/>
                <a:ea typeface="Calibri" pitchFamily="34" charset="-122"/>
                <a:cs typeface="Calibri" pitchFamily="34" charset="-120"/>
              </a:rPr>
              <a:t>Then it is worth a conversation rather than a wait for the article.</a:t>
            </a:r>
            <a:endParaRPr lang="en-US" sz="1400" dirty="0"/>
          </a:p>
        </p:txBody>
      </p:sp>
      <p:sp>
        <p:nvSpPr>
          <p:cNvPr id="10" name="Text 8"/>
          <p:cNvSpPr txBox="1"/>
          <p:nvPr/>
        </p:nvSpPr>
        <p:spPr>
          <a:xfrm>
            <a:off x="548640" y="2707843"/>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REVISED / PROPOSED</a:t>
            </a:r>
            <a:endParaRPr lang="en-US" sz="1100" dirty="0"/>
          </a:p>
        </p:txBody>
      </p:sp>
      <p:sp>
        <p:nvSpPr>
          <p:cNvPr id="11" name="Shape 9"/>
          <p:cNvSpPr/>
          <p:nvPr/>
        </p:nvSpPr>
        <p:spPr>
          <a:xfrm>
            <a:off x="548640" y="2982163"/>
            <a:ext cx="11094415" cy="25603"/>
          </a:xfrm>
          <a:prstGeom prst="rect">
            <a:avLst/>
          </a:prstGeom>
          <a:solidFill>
            <a:srgbClr val="B8965A"/>
          </a:solidFill>
          <a:ln/>
        </p:spPr>
      </p:sp>
      <p:sp>
        <p:nvSpPr>
          <p:cNvPr id="12" name="Shape 10"/>
          <p:cNvSpPr/>
          <p:nvPr/>
        </p:nvSpPr>
        <p:spPr>
          <a:xfrm>
            <a:off x="548640" y="3007766"/>
            <a:ext cx="11094415" cy="762000"/>
          </a:xfrm>
          <a:prstGeom prst="rect">
            <a:avLst/>
          </a:prstGeom>
          <a:solidFill>
            <a:srgbClr val="F2F0EA"/>
          </a:solidFill>
          <a:ln/>
        </p:spPr>
      </p:sp>
      <p:sp>
        <p:nvSpPr>
          <p:cNvPr id="13" name="Text 11"/>
          <p:cNvSpPr txBox="1"/>
          <p:nvPr/>
        </p:nvSpPr>
        <p:spPr>
          <a:xfrm>
            <a:off x="749808" y="3007766"/>
            <a:ext cx="10692079" cy="762000"/>
          </a:xfrm>
          <a:prstGeom prst="rect">
            <a:avLst/>
          </a:prstGeom>
          <a:noFill/>
          <a:ln/>
        </p:spPr>
        <p:txBody>
          <a:bodyPr wrap="square" lIns="635" tIns="635" rIns="635" bIns="635" rtlCol="0" anchor="ctr"/>
          <a:lstStyle/>
          <a:p>
            <a:pPr marL="0" indent="0">
              <a:buNone/>
            </a:pPr>
            <a:r>
              <a:rPr lang="en-US" sz="1400" i="1" dirty="0">
                <a:solidFill>
                  <a:srgbClr val="3A3A3A"/>
                </a:solidFill>
                <a:latin typeface="Calibri" pitchFamily="34" charset="0"/>
                <a:ea typeface="Calibri" pitchFamily="34" charset="-122"/>
                <a:cs typeface="Calibri" pitchFamily="34" charset="-120"/>
              </a:rPr>
              <a:t>Is one of these a live question for you?</a:t>
            </a:r>
            <a:endParaRPr lang="en-US" sz="1400" dirty="0"/>
          </a:p>
          <a:p>
            <a:pPr marL="0" indent="0">
              <a:buNone/>
            </a:pPr>
            <a:r>
              <a:rPr lang="en-US" sz="1400" i="1" dirty="0">
                <a:solidFill>
                  <a:srgbClr val="3A3A3A"/>
                </a:solidFill>
                <a:latin typeface="Calibri" pitchFamily="34" charset="0"/>
                <a:ea typeface="Calibri" pitchFamily="34" charset="-122"/>
                <a:cs typeface="Calibri" pitchFamily="34" charset="-120"/>
              </a:rPr>
              <a:t>If one of these is a question you're facing now, you don't have to wait for the article. Let's talk.</a:t>
            </a:r>
            <a:endParaRPr lang="en-US" sz="1400" dirty="0"/>
          </a:p>
        </p:txBody>
      </p:sp>
      <p:sp>
        <p:nvSpPr>
          <p:cNvPr id="14" name="Text 12"/>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COPY REVIEW</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3">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B8965A"/>
          </a:solidFill>
          <a:ln/>
        </p:spPr>
      </p:sp>
      <p:sp>
        <p:nvSpPr>
          <p:cNvPr id="3" name="Text 1"/>
          <p:cNvSpPr txBox="1"/>
          <p:nvPr/>
        </p:nvSpPr>
        <p:spPr>
          <a:xfrm>
            <a:off x="548640" y="2377440"/>
            <a:ext cx="7315200" cy="365760"/>
          </a:xfrm>
          <a:prstGeom prst="rect">
            <a:avLst/>
          </a:prstGeom>
          <a:noFill/>
          <a:ln/>
        </p:spPr>
        <p:txBody>
          <a:bodyPr wrap="square" lIns="0" tIns="0" rIns="0" bIns="0" rtlCol="0" anchor="ctr"/>
          <a:lstStyle/>
          <a:p>
            <a:pPr marL="0" indent="0">
              <a:buNone/>
            </a:pPr>
            <a:r>
              <a:rPr lang="en-US" sz="1400" b="1" kern="0" spc="200" dirty="0">
                <a:solidFill>
                  <a:srgbClr val="7D6230"/>
                </a:solidFill>
                <a:latin typeface="Calibri" pitchFamily="34" charset="0"/>
                <a:ea typeface="Calibri" pitchFamily="34" charset="-122"/>
                <a:cs typeface="Calibri" pitchFamily="34" charset="-120"/>
              </a:rPr>
              <a:t>SECTION 07</a:t>
            </a:r>
            <a:endParaRPr lang="en-US" sz="1400" dirty="0"/>
          </a:p>
        </p:txBody>
      </p:sp>
      <p:sp>
        <p:nvSpPr>
          <p:cNvPr id="4" name="Text 2"/>
          <p:cNvSpPr txBox="1"/>
          <p:nvPr/>
        </p:nvSpPr>
        <p:spPr>
          <a:xfrm>
            <a:off x="548640" y="2743200"/>
            <a:ext cx="9601200" cy="1097280"/>
          </a:xfrm>
          <a:prstGeom prst="rect">
            <a:avLst/>
          </a:prstGeom>
          <a:noFill/>
          <a:ln/>
        </p:spPr>
        <p:txBody>
          <a:bodyPr wrap="square" lIns="0" tIns="0" rIns="0" bIns="0"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Case Studies</a:t>
            </a:r>
            <a:endParaRPr lang="en-US" sz="4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1. Section intro — proposed copy</a:t>
            </a:r>
            <a:endParaRPr lang="en-US" sz="2500" dirty="0"/>
          </a:p>
        </p:txBody>
      </p:sp>
      <p:sp>
        <p:nvSpPr>
          <p:cNvPr id="5" name="Text 3"/>
          <p:cNvSpPr txBox="1"/>
          <p:nvPr/>
        </p:nvSpPr>
        <p:spPr>
          <a:xfrm>
            <a:off x="548640" y="1097280"/>
            <a:ext cx="11094415" cy="274320"/>
          </a:xfrm>
          <a:prstGeom prst="rect">
            <a:avLst/>
          </a:prstGeom>
          <a:noFill/>
          <a:ln/>
        </p:spPr>
        <p:txBody>
          <a:bodyPr wrap="square" lIns="0" tIns="0" rIns="0" bIns="0" rtlCol="0" anchor="ctr"/>
          <a:lstStyle/>
          <a:p>
            <a:pPr marL="0" indent="0">
              <a:buNone/>
            </a:pPr>
            <a:r>
              <a:rPr lang="en-US" sz="1200" b="1" kern="0" spc="150" dirty="0">
                <a:solidFill>
                  <a:srgbClr val="7D6230"/>
                </a:solidFill>
                <a:latin typeface="Calibri" pitchFamily="34" charset="0"/>
                <a:ea typeface="Calibri" pitchFamily="34" charset="-122"/>
                <a:cs typeface="Calibri" pitchFamily="34" charset="-120"/>
              </a:rPr>
              <a:t>CASE STUDIES</a:t>
            </a:r>
            <a:endParaRPr lang="en-US" sz="1200" dirty="0"/>
          </a:p>
        </p:txBody>
      </p:sp>
      <p:sp>
        <p:nvSpPr>
          <p:cNvPr id="6" name="Shape 4"/>
          <p:cNvSpPr/>
          <p:nvPr/>
        </p:nvSpPr>
        <p:spPr>
          <a:xfrm>
            <a:off x="548640" y="1481328"/>
            <a:ext cx="11094415" cy="25603"/>
          </a:xfrm>
          <a:prstGeom prst="rect">
            <a:avLst/>
          </a:prstGeom>
          <a:solidFill>
            <a:srgbClr val="B8965A"/>
          </a:solidFill>
          <a:ln/>
        </p:spPr>
      </p:sp>
      <p:sp>
        <p:nvSpPr>
          <p:cNvPr id="7" name="Shape 5"/>
          <p:cNvSpPr/>
          <p:nvPr/>
        </p:nvSpPr>
        <p:spPr>
          <a:xfrm>
            <a:off x="548640" y="1506931"/>
            <a:ext cx="11094415" cy="560832"/>
          </a:xfrm>
          <a:prstGeom prst="rect">
            <a:avLst/>
          </a:prstGeom>
          <a:solidFill>
            <a:srgbClr val="EDEBE5"/>
          </a:solidFill>
          <a:ln/>
        </p:spPr>
      </p:sp>
      <p:sp>
        <p:nvSpPr>
          <p:cNvPr id="8" name="Text 6"/>
          <p:cNvSpPr txBox="1"/>
          <p:nvPr/>
        </p:nvSpPr>
        <p:spPr>
          <a:xfrm>
            <a:off x="749808" y="1506931"/>
            <a:ext cx="10692079" cy="560832"/>
          </a:xfrm>
          <a:prstGeom prst="rect">
            <a:avLst/>
          </a:prstGeom>
          <a:noFill/>
          <a:ln/>
        </p:spPr>
        <p:txBody>
          <a:bodyPr wrap="square" lIns="635" tIns="635" rIns="635" bIns="635" rtlCol="0" anchor="ctr"/>
          <a:lstStyle/>
          <a:p>
            <a:pPr marL="0" indent="0">
              <a:buNone/>
            </a:pPr>
            <a:r>
              <a:rPr lang="en-US" sz="1600" b="1" i="1" dirty="0">
                <a:solidFill>
                  <a:srgbClr val="3A3A3A"/>
                </a:solidFill>
                <a:latin typeface="Calibri" pitchFamily="34" charset="0"/>
                <a:ea typeface="Calibri" pitchFamily="34" charset="-122"/>
                <a:cs typeface="Calibri" pitchFamily="34" charset="-120"/>
              </a:rPr>
              <a:t>Case studies</a:t>
            </a:r>
            <a:endParaRPr lang="en-US" sz="1600" dirty="0"/>
          </a:p>
          <a:p>
            <a:pPr marL="0" indent="0">
              <a:buNone/>
            </a:pPr>
            <a:r>
              <a:rPr lang="en-US" sz="1600" b="1" i="1" dirty="0">
                <a:solidFill>
                  <a:srgbClr val="3A3A3A"/>
                </a:solidFill>
                <a:latin typeface="Calibri" pitchFamily="34" charset="0"/>
                <a:ea typeface="Calibri" pitchFamily="34" charset="-122"/>
                <a:cs typeface="Calibri" pitchFamily="34" charset="-120"/>
              </a:rPr>
              <a:t>What the work looks like in practice</a:t>
            </a:r>
            <a:endParaRPr lang="en-US" sz="1600" dirty="0"/>
          </a:p>
        </p:txBody>
      </p:sp>
      <p:sp>
        <p:nvSpPr>
          <p:cNvPr id="9" name="Shape 7"/>
          <p:cNvSpPr/>
          <p:nvPr/>
        </p:nvSpPr>
        <p:spPr>
          <a:xfrm>
            <a:off x="548640" y="2232355"/>
            <a:ext cx="11094415" cy="946404"/>
          </a:xfrm>
          <a:prstGeom prst="rect">
            <a:avLst/>
          </a:prstGeom>
          <a:solidFill>
            <a:srgbClr val="F2F0EA"/>
          </a:solidFill>
          <a:ln/>
        </p:spPr>
      </p:sp>
      <p:sp>
        <p:nvSpPr>
          <p:cNvPr id="10" name="Text 8"/>
          <p:cNvSpPr txBox="1"/>
          <p:nvPr/>
        </p:nvSpPr>
        <p:spPr>
          <a:xfrm>
            <a:off x="749808" y="2232355"/>
            <a:ext cx="10692079" cy="946404"/>
          </a:xfrm>
          <a:prstGeom prst="rect">
            <a:avLst/>
          </a:prstGeom>
          <a:noFill/>
          <a:ln/>
        </p:spPr>
        <p:txBody>
          <a:bodyPr wrap="square" lIns="635" tIns="635" rIns="635" bIns="635" rtlCol="0" anchor="ctr"/>
          <a:lstStyle/>
          <a:p>
            <a:pPr marL="0" indent="0">
              <a:buNone/>
            </a:pPr>
            <a:r>
              <a:rPr lang="en-US" sz="1300" dirty="0">
                <a:solidFill>
                  <a:srgbClr val="3A3A3A"/>
                </a:solidFill>
                <a:latin typeface="Calibri" pitchFamily="34" charset="0"/>
                <a:ea typeface="Calibri" pitchFamily="34" charset="-122"/>
                <a:cs typeface="Calibri" pitchFamily="34" charset="-120"/>
              </a:rPr>
              <a:t>Real business problems. Clear thinking. Practical change.</a:t>
            </a:r>
            <a:endParaRPr lang="en-US" sz="1300" dirty="0"/>
          </a:p>
          <a:p>
            <a:pPr marL="0" indent="0">
              <a:buNone/>
            </a:pPr>
            <a:endParaRPr lang="en-US" sz="1300" dirty="0"/>
          </a:p>
          <a:p>
            <a:pPr marL="0" indent="0">
              <a:buNone/>
            </a:pPr>
            <a:r>
              <a:rPr lang="en-US" sz="1300" dirty="0">
                <a:solidFill>
                  <a:srgbClr val="3A3A3A"/>
                </a:solidFill>
                <a:latin typeface="Calibri" pitchFamily="34" charset="0"/>
                <a:ea typeface="Calibri" pitchFamily="34" charset="-122"/>
                <a:cs typeface="Calibri" pitchFamily="34" charset="-120"/>
              </a:rPr>
              <a:t>Each case study shows how Seiran moves from understanding the situation to identifying what is really holding the business back, deciding what needs to change, and putting that change into practice.</a:t>
            </a:r>
            <a:endParaRPr lang="en-US" sz="1300" dirty="0"/>
          </a:p>
        </p:txBody>
      </p:sp>
      <p:sp>
        <p:nvSpPr>
          <p:cNvPr id="11" name="Text 9"/>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COPY REVIEW</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2. Every case study follows the same six parts</a:t>
            </a:r>
            <a:endParaRPr lang="en-US" sz="2500" dirty="0"/>
          </a:p>
        </p:txBody>
      </p:sp>
      <p:sp>
        <p:nvSpPr>
          <p:cNvPr id="5" name="Text 3"/>
          <p:cNvSpPr txBox="1"/>
          <p:nvPr/>
        </p:nvSpPr>
        <p:spPr>
          <a:xfrm>
            <a:off x="548640" y="1097280"/>
            <a:ext cx="11094415" cy="274320"/>
          </a:xfrm>
          <a:prstGeom prst="rect">
            <a:avLst/>
          </a:prstGeom>
          <a:noFill/>
          <a:ln/>
        </p:spPr>
        <p:txBody>
          <a:bodyPr wrap="square" lIns="0" tIns="0" rIns="0" bIns="0" rtlCol="0" anchor="ctr"/>
          <a:lstStyle/>
          <a:p>
            <a:pPr marL="0" indent="0">
              <a:buNone/>
            </a:pPr>
            <a:r>
              <a:rPr lang="en-US" sz="1200" b="1" kern="0" spc="150" dirty="0">
                <a:solidFill>
                  <a:srgbClr val="7D6230"/>
                </a:solidFill>
                <a:latin typeface="Calibri" pitchFamily="34" charset="0"/>
                <a:ea typeface="Calibri" pitchFamily="34" charset="-122"/>
                <a:cs typeface="Calibri" pitchFamily="34" charset="-120"/>
              </a:rPr>
              <a:t>CASE STUDIES</a:t>
            </a:r>
            <a:endParaRPr lang="en-US" sz="1200" dirty="0"/>
          </a:p>
        </p:txBody>
      </p:sp>
      <p:sp>
        <p:nvSpPr>
          <p:cNvPr id="6" name="Text 4"/>
          <p:cNvSpPr txBox="1"/>
          <p:nvPr/>
        </p:nvSpPr>
        <p:spPr>
          <a:xfrm>
            <a:off x="548640" y="1481328"/>
            <a:ext cx="11094415" cy="365760"/>
          </a:xfrm>
          <a:prstGeom prst="rect">
            <a:avLst/>
          </a:prstGeom>
          <a:noFill/>
          <a:ln/>
        </p:spPr>
        <p:txBody>
          <a:bodyPr wrap="square" lIns="0" tIns="0" rIns="0" bIns="0" rtlCol="0" anchor="ctr"/>
          <a:lstStyle/>
          <a:p>
            <a:pPr marL="0" indent="0">
              <a:buNone/>
            </a:pPr>
            <a:r>
              <a:rPr lang="en-US" sz="1300" i="1" dirty="0">
                <a:solidFill>
                  <a:srgbClr val="3A3A3A"/>
                </a:solidFill>
                <a:latin typeface="Calibri" pitchFamily="34" charset="0"/>
                <a:ea typeface="Calibri" pitchFamily="34" charset="-122"/>
                <a:cs typeface="Calibri" pitchFamily="34" charset="-120"/>
              </a:rPr>
              <a:t>From problem to progress — this makes the work easy to understand, and shows not only what changed, but why.</a:t>
            </a:r>
            <a:endParaRPr lang="en-US" sz="1300" dirty="0"/>
          </a:p>
        </p:txBody>
      </p:sp>
      <p:sp>
        <p:nvSpPr>
          <p:cNvPr id="7" name="Shape 5"/>
          <p:cNvSpPr/>
          <p:nvPr/>
        </p:nvSpPr>
        <p:spPr>
          <a:xfrm>
            <a:off x="548640" y="1938528"/>
            <a:ext cx="3545738" cy="27432"/>
          </a:xfrm>
          <a:prstGeom prst="rect">
            <a:avLst/>
          </a:prstGeom>
          <a:solidFill>
            <a:srgbClr val="B8965A"/>
          </a:solidFill>
          <a:ln/>
        </p:spPr>
      </p:sp>
      <p:sp>
        <p:nvSpPr>
          <p:cNvPr id="8" name="Shape 6"/>
          <p:cNvSpPr/>
          <p:nvPr/>
        </p:nvSpPr>
        <p:spPr>
          <a:xfrm>
            <a:off x="548640" y="1965960"/>
            <a:ext cx="3545738" cy="1389888"/>
          </a:xfrm>
          <a:prstGeom prst="rect">
            <a:avLst/>
          </a:prstGeom>
          <a:solidFill>
            <a:srgbClr val="EDEBE5"/>
          </a:solidFill>
          <a:ln/>
        </p:spPr>
      </p:sp>
      <p:sp>
        <p:nvSpPr>
          <p:cNvPr id="9" name="Text 7"/>
          <p:cNvSpPr txBox="1"/>
          <p:nvPr/>
        </p:nvSpPr>
        <p:spPr>
          <a:xfrm>
            <a:off x="713232" y="2048256"/>
            <a:ext cx="3216554" cy="274320"/>
          </a:xfrm>
          <a:prstGeom prst="rect">
            <a:avLst/>
          </a:prstGeom>
          <a:noFill/>
          <a:ln/>
        </p:spPr>
        <p:txBody>
          <a:bodyPr wrap="square" lIns="0" tIns="0" rIns="0" bIns="0" rtlCol="0" anchor="ctr"/>
          <a:lstStyle/>
          <a:p>
            <a:pPr marL="0" indent="0">
              <a:buNone/>
            </a:pPr>
            <a:r>
              <a:rPr lang="en-US" sz="1400" b="1" dirty="0">
                <a:solidFill>
                  <a:srgbClr val="7D6230"/>
                </a:solidFill>
                <a:latin typeface="Georgia" pitchFamily="34" charset="0"/>
                <a:ea typeface="Georgia" pitchFamily="34" charset="-122"/>
                <a:cs typeface="Georgia" pitchFamily="34" charset="-120"/>
              </a:rPr>
              <a:t>01</a:t>
            </a:r>
            <a:endParaRPr lang="en-US" sz="1400" dirty="0"/>
          </a:p>
        </p:txBody>
      </p:sp>
      <p:sp>
        <p:nvSpPr>
          <p:cNvPr id="10" name="Text 8"/>
          <p:cNvSpPr txBox="1"/>
          <p:nvPr/>
        </p:nvSpPr>
        <p:spPr>
          <a:xfrm>
            <a:off x="713232" y="2322576"/>
            <a:ext cx="3216554" cy="292608"/>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Context</a:t>
            </a:r>
            <a:endParaRPr lang="en-US" sz="1500" dirty="0"/>
          </a:p>
        </p:txBody>
      </p:sp>
      <p:sp>
        <p:nvSpPr>
          <p:cNvPr id="11" name="Text 9"/>
          <p:cNvSpPr txBox="1"/>
          <p:nvPr/>
        </p:nvSpPr>
        <p:spPr>
          <a:xfrm>
            <a:off x="713232" y="2624328"/>
            <a:ext cx="3216554" cy="640080"/>
          </a:xfrm>
          <a:prstGeom prst="rect">
            <a:avLst/>
          </a:prstGeom>
          <a:noFill/>
          <a:ln/>
        </p:spPr>
        <p:txBody>
          <a:bodyPr wrap="square" lIns="0" tIns="0" rIns="0" bIns="0" rtlCol="0" anchor="ctr"/>
          <a:lstStyle/>
          <a:p>
            <a:pPr marL="0" indent="0">
              <a:buNone/>
            </a:pPr>
            <a:r>
              <a:rPr lang="en-US" sz="1050" dirty="0">
                <a:solidFill>
                  <a:srgbClr val="3A3A3A"/>
                </a:solidFill>
                <a:latin typeface="Calibri" pitchFamily="34" charset="0"/>
                <a:ea typeface="Calibri" pitchFamily="34" charset="-122"/>
                <a:cs typeface="Calibri" pitchFamily="34" charset="-120"/>
              </a:rPr>
              <a:t>Brief description of the organisation and situation.</a:t>
            </a:r>
            <a:endParaRPr lang="en-US" sz="1050" dirty="0"/>
          </a:p>
        </p:txBody>
      </p:sp>
      <p:sp>
        <p:nvSpPr>
          <p:cNvPr id="12" name="Shape 10"/>
          <p:cNvSpPr/>
          <p:nvPr/>
        </p:nvSpPr>
        <p:spPr>
          <a:xfrm>
            <a:off x="4322978" y="1938528"/>
            <a:ext cx="3545738" cy="27432"/>
          </a:xfrm>
          <a:prstGeom prst="rect">
            <a:avLst/>
          </a:prstGeom>
          <a:solidFill>
            <a:srgbClr val="B8965A"/>
          </a:solidFill>
          <a:ln/>
        </p:spPr>
      </p:sp>
      <p:sp>
        <p:nvSpPr>
          <p:cNvPr id="13" name="Shape 11"/>
          <p:cNvSpPr/>
          <p:nvPr/>
        </p:nvSpPr>
        <p:spPr>
          <a:xfrm>
            <a:off x="4322978" y="1965960"/>
            <a:ext cx="3545738" cy="1389888"/>
          </a:xfrm>
          <a:prstGeom prst="rect">
            <a:avLst/>
          </a:prstGeom>
          <a:solidFill>
            <a:srgbClr val="F2F0EA"/>
          </a:solidFill>
          <a:ln/>
        </p:spPr>
      </p:sp>
      <p:sp>
        <p:nvSpPr>
          <p:cNvPr id="14" name="Text 12"/>
          <p:cNvSpPr txBox="1"/>
          <p:nvPr/>
        </p:nvSpPr>
        <p:spPr>
          <a:xfrm>
            <a:off x="4487570" y="2048256"/>
            <a:ext cx="3216554" cy="274320"/>
          </a:xfrm>
          <a:prstGeom prst="rect">
            <a:avLst/>
          </a:prstGeom>
          <a:noFill/>
          <a:ln/>
        </p:spPr>
        <p:txBody>
          <a:bodyPr wrap="square" lIns="0" tIns="0" rIns="0" bIns="0" rtlCol="0" anchor="ctr"/>
          <a:lstStyle/>
          <a:p>
            <a:pPr marL="0" indent="0">
              <a:buNone/>
            </a:pPr>
            <a:r>
              <a:rPr lang="en-US" sz="1400" b="1" dirty="0">
                <a:solidFill>
                  <a:srgbClr val="7D6230"/>
                </a:solidFill>
                <a:latin typeface="Georgia" pitchFamily="34" charset="0"/>
                <a:ea typeface="Georgia" pitchFamily="34" charset="-122"/>
                <a:cs typeface="Georgia" pitchFamily="34" charset="-120"/>
              </a:rPr>
              <a:t>02</a:t>
            </a:r>
            <a:endParaRPr lang="en-US" sz="1400" dirty="0"/>
          </a:p>
        </p:txBody>
      </p:sp>
      <p:sp>
        <p:nvSpPr>
          <p:cNvPr id="15" name="Text 13"/>
          <p:cNvSpPr txBox="1"/>
          <p:nvPr/>
        </p:nvSpPr>
        <p:spPr>
          <a:xfrm>
            <a:off x="4487570" y="2322576"/>
            <a:ext cx="3216554" cy="292608"/>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Challenge</a:t>
            </a:r>
            <a:endParaRPr lang="en-US" sz="1500" dirty="0"/>
          </a:p>
        </p:txBody>
      </p:sp>
      <p:sp>
        <p:nvSpPr>
          <p:cNvPr id="16" name="Text 14"/>
          <p:cNvSpPr txBox="1"/>
          <p:nvPr/>
        </p:nvSpPr>
        <p:spPr>
          <a:xfrm>
            <a:off x="4487570" y="2624328"/>
            <a:ext cx="3216554" cy="640080"/>
          </a:xfrm>
          <a:prstGeom prst="rect">
            <a:avLst/>
          </a:prstGeom>
          <a:noFill/>
          <a:ln/>
        </p:spPr>
        <p:txBody>
          <a:bodyPr wrap="square" lIns="0" tIns="0" rIns="0" bIns="0" rtlCol="0" anchor="ctr"/>
          <a:lstStyle/>
          <a:p>
            <a:pPr marL="0" indent="0">
              <a:buNone/>
            </a:pPr>
            <a:r>
              <a:rPr lang="en-US" sz="1050" dirty="0">
                <a:solidFill>
                  <a:srgbClr val="3A3A3A"/>
                </a:solidFill>
                <a:latin typeface="Calibri" pitchFamily="34" charset="0"/>
                <a:ea typeface="Calibri" pitchFamily="34" charset="-122"/>
                <a:cs typeface="Calibri" pitchFamily="34" charset="-120"/>
              </a:rPr>
              <a:t>What the client was experiencing or trying to achieve.</a:t>
            </a:r>
            <a:endParaRPr lang="en-US" sz="1050" dirty="0"/>
          </a:p>
        </p:txBody>
      </p:sp>
      <p:sp>
        <p:nvSpPr>
          <p:cNvPr id="17" name="Shape 15"/>
          <p:cNvSpPr/>
          <p:nvPr/>
        </p:nvSpPr>
        <p:spPr>
          <a:xfrm>
            <a:off x="8097317" y="1938528"/>
            <a:ext cx="3545738" cy="27432"/>
          </a:xfrm>
          <a:prstGeom prst="rect">
            <a:avLst/>
          </a:prstGeom>
          <a:solidFill>
            <a:srgbClr val="B8965A"/>
          </a:solidFill>
          <a:ln/>
        </p:spPr>
      </p:sp>
      <p:sp>
        <p:nvSpPr>
          <p:cNvPr id="18" name="Shape 16"/>
          <p:cNvSpPr/>
          <p:nvPr/>
        </p:nvSpPr>
        <p:spPr>
          <a:xfrm>
            <a:off x="8097317" y="1965960"/>
            <a:ext cx="3545738" cy="1389888"/>
          </a:xfrm>
          <a:prstGeom prst="rect">
            <a:avLst/>
          </a:prstGeom>
          <a:solidFill>
            <a:srgbClr val="EDEBE5"/>
          </a:solidFill>
          <a:ln/>
        </p:spPr>
      </p:sp>
      <p:sp>
        <p:nvSpPr>
          <p:cNvPr id="19" name="Text 17"/>
          <p:cNvSpPr txBox="1"/>
          <p:nvPr/>
        </p:nvSpPr>
        <p:spPr>
          <a:xfrm>
            <a:off x="8261909" y="2048256"/>
            <a:ext cx="3216554" cy="274320"/>
          </a:xfrm>
          <a:prstGeom prst="rect">
            <a:avLst/>
          </a:prstGeom>
          <a:noFill/>
          <a:ln/>
        </p:spPr>
        <p:txBody>
          <a:bodyPr wrap="square" lIns="0" tIns="0" rIns="0" bIns="0" rtlCol="0" anchor="ctr"/>
          <a:lstStyle/>
          <a:p>
            <a:pPr marL="0" indent="0">
              <a:buNone/>
            </a:pPr>
            <a:r>
              <a:rPr lang="en-US" sz="1400" b="1" dirty="0">
                <a:solidFill>
                  <a:srgbClr val="7D6230"/>
                </a:solidFill>
                <a:latin typeface="Georgia" pitchFamily="34" charset="0"/>
                <a:ea typeface="Georgia" pitchFamily="34" charset="-122"/>
                <a:cs typeface="Georgia" pitchFamily="34" charset="-120"/>
              </a:rPr>
              <a:t>03</a:t>
            </a:r>
            <a:endParaRPr lang="en-US" sz="1400" dirty="0"/>
          </a:p>
        </p:txBody>
      </p:sp>
      <p:sp>
        <p:nvSpPr>
          <p:cNvPr id="20" name="Text 18"/>
          <p:cNvSpPr txBox="1"/>
          <p:nvPr/>
        </p:nvSpPr>
        <p:spPr>
          <a:xfrm>
            <a:off x="8261909" y="2322576"/>
            <a:ext cx="3216554" cy="292608"/>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Diagnosis</a:t>
            </a:r>
            <a:endParaRPr lang="en-US" sz="1500" dirty="0"/>
          </a:p>
        </p:txBody>
      </p:sp>
      <p:sp>
        <p:nvSpPr>
          <p:cNvPr id="21" name="Text 19"/>
          <p:cNvSpPr txBox="1"/>
          <p:nvPr/>
        </p:nvSpPr>
        <p:spPr>
          <a:xfrm>
            <a:off x="8261909" y="2624328"/>
            <a:ext cx="3216554" cy="640080"/>
          </a:xfrm>
          <a:prstGeom prst="rect">
            <a:avLst/>
          </a:prstGeom>
          <a:noFill/>
          <a:ln/>
        </p:spPr>
        <p:txBody>
          <a:bodyPr wrap="square" lIns="0" tIns="0" rIns="0" bIns="0" rtlCol="0" anchor="ctr"/>
          <a:lstStyle/>
          <a:p>
            <a:pPr marL="0" indent="0">
              <a:buNone/>
            </a:pPr>
            <a:r>
              <a:rPr lang="en-US" sz="1050" dirty="0">
                <a:solidFill>
                  <a:srgbClr val="3A3A3A"/>
                </a:solidFill>
                <a:latin typeface="Calibri" pitchFamily="34" charset="0"/>
                <a:ea typeface="Calibri" pitchFamily="34" charset="-122"/>
                <a:cs typeface="Calibri" pitchFamily="34" charset="-120"/>
              </a:rPr>
              <a:t>What Seiran identified as the underlying issue or constraint.</a:t>
            </a:r>
            <a:endParaRPr lang="en-US" sz="1050" dirty="0"/>
          </a:p>
        </p:txBody>
      </p:sp>
      <p:sp>
        <p:nvSpPr>
          <p:cNvPr id="22" name="Shape 20"/>
          <p:cNvSpPr/>
          <p:nvPr/>
        </p:nvSpPr>
        <p:spPr>
          <a:xfrm>
            <a:off x="548640" y="3584448"/>
            <a:ext cx="3545738" cy="27432"/>
          </a:xfrm>
          <a:prstGeom prst="rect">
            <a:avLst/>
          </a:prstGeom>
          <a:solidFill>
            <a:srgbClr val="B8965A"/>
          </a:solidFill>
          <a:ln/>
        </p:spPr>
      </p:sp>
      <p:sp>
        <p:nvSpPr>
          <p:cNvPr id="23" name="Shape 21"/>
          <p:cNvSpPr/>
          <p:nvPr/>
        </p:nvSpPr>
        <p:spPr>
          <a:xfrm>
            <a:off x="548640" y="3611880"/>
            <a:ext cx="3545738" cy="1389888"/>
          </a:xfrm>
          <a:prstGeom prst="rect">
            <a:avLst/>
          </a:prstGeom>
          <a:solidFill>
            <a:srgbClr val="F2F0EA"/>
          </a:solidFill>
          <a:ln/>
        </p:spPr>
      </p:sp>
      <p:sp>
        <p:nvSpPr>
          <p:cNvPr id="24" name="Text 22"/>
          <p:cNvSpPr txBox="1"/>
          <p:nvPr/>
        </p:nvSpPr>
        <p:spPr>
          <a:xfrm>
            <a:off x="713232" y="3694176"/>
            <a:ext cx="3216554" cy="274320"/>
          </a:xfrm>
          <a:prstGeom prst="rect">
            <a:avLst/>
          </a:prstGeom>
          <a:noFill/>
          <a:ln/>
        </p:spPr>
        <p:txBody>
          <a:bodyPr wrap="square" lIns="0" tIns="0" rIns="0" bIns="0" rtlCol="0" anchor="ctr"/>
          <a:lstStyle/>
          <a:p>
            <a:pPr marL="0" indent="0">
              <a:buNone/>
            </a:pPr>
            <a:r>
              <a:rPr lang="en-US" sz="1400" b="1" dirty="0">
                <a:solidFill>
                  <a:srgbClr val="7D6230"/>
                </a:solidFill>
                <a:latin typeface="Georgia" pitchFamily="34" charset="0"/>
                <a:ea typeface="Georgia" pitchFamily="34" charset="-122"/>
                <a:cs typeface="Georgia" pitchFamily="34" charset="-120"/>
              </a:rPr>
              <a:t>04</a:t>
            </a:r>
            <a:endParaRPr lang="en-US" sz="1400" dirty="0"/>
          </a:p>
        </p:txBody>
      </p:sp>
      <p:sp>
        <p:nvSpPr>
          <p:cNvPr id="25" name="Text 23"/>
          <p:cNvSpPr txBox="1"/>
          <p:nvPr/>
        </p:nvSpPr>
        <p:spPr>
          <a:xfrm>
            <a:off x="713232" y="3968496"/>
            <a:ext cx="3216554" cy="292608"/>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Intervention</a:t>
            </a:r>
            <a:endParaRPr lang="en-US" sz="1500" dirty="0"/>
          </a:p>
        </p:txBody>
      </p:sp>
      <p:sp>
        <p:nvSpPr>
          <p:cNvPr id="26" name="Text 24"/>
          <p:cNvSpPr txBox="1"/>
          <p:nvPr/>
        </p:nvSpPr>
        <p:spPr>
          <a:xfrm>
            <a:off x="713232" y="4270248"/>
            <a:ext cx="3216554" cy="640080"/>
          </a:xfrm>
          <a:prstGeom prst="rect">
            <a:avLst/>
          </a:prstGeom>
          <a:noFill/>
          <a:ln/>
        </p:spPr>
        <p:txBody>
          <a:bodyPr wrap="square" lIns="0" tIns="0" rIns="0" bIns="0" rtlCol="0" anchor="ctr"/>
          <a:lstStyle/>
          <a:p>
            <a:pPr marL="0" indent="0">
              <a:buNone/>
            </a:pPr>
            <a:r>
              <a:rPr lang="en-US" sz="1050" dirty="0">
                <a:solidFill>
                  <a:srgbClr val="3A3A3A"/>
                </a:solidFill>
                <a:latin typeface="Calibri" pitchFamily="34" charset="0"/>
                <a:ea typeface="Calibri" pitchFamily="34" charset="-122"/>
                <a:cs typeface="Calibri" pitchFamily="34" charset="-120"/>
              </a:rPr>
              <a:t>What Seiran designed, changed or implemented.</a:t>
            </a:r>
            <a:endParaRPr lang="en-US" sz="1050" dirty="0"/>
          </a:p>
        </p:txBody>
      </p:sp>
      <p:sp>
        <p:nvSpPr>
          <p:cNvPr id="27" name="Shape 25"/>
          <p:cNvSpPr/>
          <p:nvPr/>
        </p:nvSpPr>
        <p:spPr>
          <a:xfrm>
            <a:off x="4322978" y="3584448"/>
            <a:ext cx="3545738" cy="27432"/>
          </a:xfrm>
          <a:prstGeom prst="rect">
            <a:avLst/>
          </a:prstGeom>
          <a:solidFill>
            <a:srgbClr val="B8965A"/>
          </a:solidFill>
          <a:ln/>
        </p:spPr>
      </p:sp>
      <p:sp>
        <p:nvSpPr>
          <p:cNvPr id="28" name="Shape 26"/>
          <p:cNvSpPr/>
          <p:nvPr/>
        </p:nvSpPr>
        <p:spPr>
          <a:xfrm>
            <a:off x="4322978" y="3611880"/>
            <a:ext cx="3545738" cy="1389888"/>
          </a:xfrm>
          <a:prstGeom prst="rect">
            <a:avLst/>
          </a:prstGeom>
          <a:solidFill>
            <a:srgbClr val="EDEBE5"/>
          </a:solidFill>
          <a:ln/>
        </p:spPr>
      </p:sp>
      <p:sp>
        <p:nvSpPr>
          <p:cNvPr id="29" name="Text 27"/>
          <p:cNvSpPr txBox="1"/>
          <p:nvPr/>
        </p:nvSpPr>
        <p:spPr>
          <a:xfrm>
            <a:off x="4487570" y="3694176"/>
            <a:ext cx="3216554" cy="274320"/>
          </a:xfrm>
          <a:prstGeom prst="rect">
            <a:avLst/>
          </a:prstGeom>
          <a:noFill/>
          <a:ln/>
        </p:spPr>
        <p:txBody>
          <a:bodyPr wrap="square" lIns="0" tIns="0" rIns="0" bIns="0" rtlCol="0" anchor="ctr"/>
          <a:lstStyle/>
          <a:p>
            <a:pPr marL="0" indent="0">
              <a:buNone/>
            </a:pPr>
            <a:r>
              <a:rPr lang="en-US" sz="1400" b="1" dirty="0">
                <a:solidFill>
                  <a:srgbClr val="7D6230"/>
                </a:solidFill>
                <a:latin typeface="Georgia" pitchFamily="34" charset="0"/>
                <a:ea typeface="Georgia" pitchFamily="34" charset="-122"/>
                <a:cs typeface="Georgia" pitchFamily="34" charset="-120"/>
              </a:rPr>
              <a:t>05</a:t>
            </a:r>
            <a:endParaRPr lang="en-US" sz="1400" dirty="0"/>
          </a:p>
        </p:txBody>
      </p:sp>
      <p:sp>
        <p:nvSpPr>
          <p:cNvPr id="30" name="Text 28"/>
          <p:cNvSpPr txBox="1"/>
          <p:nvPr/>
        </p:nvSpPr>
        <p:spPr>
          <a:xfrm>
            <a:off x="4487570" y="3968496"/>
            <a:ext cx="3216554" cy="292608"/>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Outcome</a:t>
            </a:r>
            <a:endParaRPr lang="en-US" sz="1500" dirty="0"/>
          </a:p>
        </p:txBody>
      </p:sp>
      <p:sp>
        <p:nvSpPr>
          <p:cNvPr id="31" name="Text 29"/>
          <p:cNvSpPr txBox="1"/>
          <p:nvPr/>
        </p:nvSpPr>
        <p:spPr>
          <a:xfrm>
            <a:off x="4487570" y="4270248"/>
            <a:ext cx="3216554" cy="640080"/>
          </a:xfrm>
          <a:prstGeom prst="rect">
            <a:avLst/>
          </a:prstGeom>
          <a:noFill/>
          <a:ln/>
        </p:spPr>
        <p:txBody>
          <a:bodyPr wrap="square" lIns="0" tIns="0" rIns="0" bIns="0" rtlCol="0" anchor="ctr"/>
          <a:lstStyle/>
          <a:p>
            <a:pPr marL="0" indent="0">
              <a:buNone/>
            </a:pPr>
            <a:r>
              <a:rPr lang="en-US" sz="1050" dirty="0">
                <a:solidFill>
                  <a:srgbClr val="3A3A3A"/>
                </a:solidFill>
                <a:latin typeface="Calibri" pitchFamily="34" charset="0"/>
                <a:ea typeface="Calibri" pitchFamily="34" charset="-122"/>
                <a:cs typeface="Calibri" pitchFamily="34" charset="-120"/>
              </a:rPr>
              <a:t>What changed as a result of the work.</a:t>
            </a:r>
            <a:endParaRPr lang="en-US" sz="1050" dirty="0"/>
          </a:p>
        </p:txBody>
      </p:sp>
      <p:sp>
        <p:nvSpPr>
          <p:cNvPr id="32" name="Shape 30"/>
          <p:cNvSpPr/>
          <p:nvPr/>
        </p:nvSpPr>
        <p:spPr>
          <a:xfrm>
            <a:off x="8097317" y="3584448"/>
            <a:ext cx="3545738" cy="27432"/>
          </a:xfrm>
          <a:prstGeom prst="rect">
            <a:avLst/>
          </a:prstGeom>
          <a:solidFill>
            <a:srgbClr val="B8965A"/>
          </a:solidFill>
          <a:ln/>
        </p:spPr>
      </p:sp>
      <p:sp>
        <p:nvSpPr>
          <p:cNvPr id="33" name="Shape 31"/>
          <p:cNvSpPr/>
          <p:nvPr/>
        </p:nvSpPr>
        <p:spPr>
          <a:xfrm>
            <a:off x="8097317" y="3611880"/>
            <a:ext cx="3545738" cy="1389888"/>
          </a:xfrm>
          <a:prstGeom prst="rect">
            <a:avLst/>
          </a:prstGeom>
          <a:solidFill>
            <a:srgbClr val="F2F0EA"/>
          </a:solidFill>
          <a:ln/>
        </p:spPr>
      </p:sp>
      <p:sp>
        <p:nvSpPr>
          <p:cNvPr id="34" name="Text 32"/>
          <p:cNvSpPr txBox="1"/>
          <p:nvPr/>
        </p:nvSpPr>
        <p:spPr>
          <a:xfrm>
            <a:off x="8261909" y="3694176"/>
            <a:ext cx="3216554" cy="274320"/>
          </a:xfrm>
          <a:prstGeom prst="rect">
            <a:avLst/>
          </a:prstGeom>
          <a:noFill/>
          <a:ln/>
        </p:spPr>
        <p:txBody>
          <a:bodyPr wrap="square" lIns="0" tIns="0" rIns="0" bIns="0" rtlCol="0" anchor="ctr"/>
          <a:lstStyle/>
          <a:p>
            <a:pPr marL="0" indent="0">
              <a:buNone/>
            </a:pPr>
            <a:r>
              <a:rPr lang="en-US" sz="1400" b="1" dirty="0">
                <a:solidFill>
                  <a:srgbClr val="7D6230"/>
                </a:solidFill>
                <a:latin typeface="Georgia" pitchFamily="34" charset="0"/>
                <a:ea typeface="Georgia" pitchFamily="34" charset="-122"/>
                <a:cs typeface="Georgia" pitchFamily="34" charset="-120"/>
              </a:rPr>
              <a:t>06</a:t>
            </a:r>
            <a:endParaRPr lang="en-US" sz="1400" dirty="0"/>
          </a:p>
        </p:txBody>
      </p:sp>
      <p:sp>
        <p:nvSpPr>
          <p:cNvPr id="35" name="Text 33"/>
          <p:cNvSpPr txBox="1"/>
          <p:nvPr/>
        </p:nvSpPr>
        <p:spPr>
          <a:xfrm>
            <a:off x="8261909" y="3968496"/>
            <a:ext cx="3216554" cy="292608"/>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Learning</a:t>
            </a:r>
            <a:endParaRPr lang="en-US" sz="1500" dirty="0"/>
          </a:p>
        </p:txBody>
      </p:sp>
      <p:sp>
        <p:nvSpPr>
          <p:cNvPr id="36" name="Text 34"/>
          <p:cNvSpPr txBox="1"/>
          <p:nvPr/>
        </p:nvSpPr>
        <p:spPr>
          <a:xfrm>
            <a:off x="8261909" y="4270248"/>
            <a:ext cx="3216554" cy="640080"/>
          </a:xfrm>
          <a:prstGeom prst="rect">
            <a:avLst/>
          </a:prstGeom>
          <a:noFill/>
          <a:ln/>
        </p:spPr>
        <p:txBody>
          <a:bodyPr wrap="square" lIns="0" tIns="0" rIns="0" bIns="0" rtlCol="0" anchor="ctr"/>
          <a:lstStyle/>
          <a:p>
            <a:pPr marL="0" indent="0">
              <a:buNone/>
            </a:pPr>
            <a:r>
              <a:rPr lang="en-US" sz="1050" dirty="0">
                <a:solidFill>
                  <a:srgbClr val="3A3A3A"/>
                </a:solidFill>
                <a:latin typeface="Calibri" pitchFamily="34" charset="0"/>
                <a:ea typeface="Calibri" pitchFamily="34" charset="-122"/>
                <a:cs typeface="Calibri" pitchFamily="34" charset="-120"/>
              </a:rPr>
              <a:t>The broader insight from the engagement.</a:t>
            </a:r>
            <a:endParaRPr lang="en-US" sz="1050" dirty="0"/>
          </a:p>
        </p:txBody>
      </p:sp>
      <p:sp>
        <p:nvSpPr>
          <p:cNvPr id="37" name="Text 35"/>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COPY REVIEW</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2A4A"/>
          </a:solidFill>
          <a:ln/>
        </p:spPr>
      </p:sp>
      <p:sp>
        <p:nvSpPr>
          <p:cNvPr id="3" name="Shape 1"/>
          <p:cNvSpPr/>
          <p:nvPr/>
        </p:nvSpPr>
        <p:spPr>
          <a:xfrm>
            <a:off x="0" y="960120"/>
            <a:ext cx="12191695" cy="18288"/>
          </a:xfrm>
          <a:prstGeom prst="rect">
            <a:avLst/>
          </a:prstGeom>
          <a:solidFill>
            <a:srgbClr val="D8D5CC"/>
          </a:solidFill>
          <a:ln/>
        </p:spPr>
      </p:sp>
      <p:sp>
        <p:nvSpPr>
          <p:cNvPr id="4" name="Text 2"/>
          <p:cNvSpPr txBox="1"/>
          <p:nvPr/>
        </p:nvSpPr>
        <p:spPr>
          <a:xfrm>
            <a:off x="548640" y="0"/>
            <a:ext cx="9631375" cy="96012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3. Template fields, confidentiality &amp; CTA</a:t>
            </a:r>
            <a:endParaRPr lang="en-US" sz="2500" dirty="0"/>
          </a:p>
        </p:txBody>
      </p:sp>
      <p:sp>
        <p:nvSpPr>
          <p:cNvPr id="6" name="Text 4"/>
          <p:cNvSpPr txBox="1"/>
          <p:nvPr/>
        </p:nvSpPr>
        <p:spPr>
          <a:xfrm>
            <a:off x="548640" y="1481328"/>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PER-CASE TEMPLATE FIELDS</a:t>
            </a:r>
            <a:endParaRPr lang="en-US" sz="1100" dirty="0"/>
          </a:p>
        </p:txBody>
      </p:sp>
      <p:sp>
        <p:nvSpPr>
          <p:cNvPr id="7" name="Shape 5"/>
          <p:cNvSpPr/>
          <p:nvPr/>
        </p:nvSpPr>
        <p:spPr>
          <a:xfrm>
            <a:off x="548640" y="1755648"/>
            <a:ext cx="11094415" cy="25603"/>
          </a:xfrm>
          <a:prstGeom prst="rect">
            <a:avLst/>
          </a:prstGeom>
          <a:solidFill>
            <a:srgbClr val="B8965A"/>
          </a:solidFill>
          <a:ln/>
        </p:spPr>
      </p:sp>
      <p:sp>
        <p:nvSpPr>
          <p:cNvPr id="8" name="Shape 6"/>
          <p:cNvSpPr/>
          <p:nvPr/>
        </p:nvSpPr>
        <p:spPr>
          <a:xfrm>
            <a:off x="548640" y="1781251"/>
            <a:ext cx="11094415" cy="711708"/>
          </a:xfrm>
          <a:prstGeom prst="rect">
            <a:avLst/>
          </a:prstGeom>
          <a:solidFill>
            <a:srgbClr val="EDEBE5"/>
          </a:solidFill>
          <a:ln/>
        </p:spPr>
      </p:sp>
      <p:sp>
        <p:nvSpPr>
          <p:cNvPr id="9" name="Text 7"/>
          <p:cNvSpPr txBox="1"/>
          <p:nvPr/>
        </p:nvSpPr>
        <p:spPr>
          <a:xfrm>
            <a:off x="749808" y="1781251"/>
            <a:ext cx="10692079" cy="711708"/>
          </a:xfrm>
          <a:prstGeom prst="rect">
            <a:avLst/>
          </a:prstGeom>
          <a:noFill/>
          <a:ln/>
        </p:spPr>
        <p:txBody>
          <a:bodyPr wrap="square" lIns="635" tIns="635" rIns="635" bIns="635" rtlCol="0" anchor="ctr"/>
          <a:lstStyle/>
          <a:p>
            <a:pPr marL="0" indent="0">
              <a:buNone/>
            </a:pPr>
            <a:r>
              <a:rPr lang="en-US" sz="1250" i="1" dirty="0">
                <a:solidFill>
                  <a:srgbClr val="3A3A3A"/>
                </a:solidFill>
                <a:latin typeface="Calibri" pitchFamily="34" charset="0"/>
                <a:ea typeface="Calibri" pitchFamily="34" charset="-122"/>
                <a:cs typeface="Calibri" pitchFamily="34" charset="-120"/>
              </a:rPr>
              <a:t>[Case Study Title] — [Sector · Business context] — followed by the Context / Challenge / Diagnosis / Intervention / Outcome / Learning fields for that engagement.</a:t>
            </a:r>
            <a:endParaRPr lang="en-US" sz="1250" dirty="0"/>
          </a:p>
        </p:txBody>
      </p:sp>
      <p:sp>
        <p:nvSpPr>
          <p:cNvPr id="10" name="Text 8"/>
          <p:cNvSpPr txBox="1"/>
          <p:nvPr/>
        </p:nvSpPr>
        <p:spPr>
          <a:xfrm>
            <a:off x="548640" y="2657551"/>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HOW WE SHARE CLIENT WORK</a:t>
            </a:r>
            <a:endParaRPr lang="en-US" sz="1100" dirty="0"/>
          </a:p>
        </p:txBody>
      </p:sp>
      <p:sp>
        <p:nvSpPr>
          <p:cNvPr id="11" name="Shape 9"/>
          <p:cNvSpPr/>
          <p:nvPr/>
        </p:nvSpPr>
        <p:spPr>
          <a:xfrm>
            <a:off x="548640" y="2931871"/>
            <a:ext cx="11094415" cy="1130808"/>
          </a:xfrm>
          <a:prstGeom prst="rect">
            <a:avLst/>
          </a:prstGeom>
          <a:solidFill>
            <a:srgbClr val="F2F0EA"/>
          </a:solidFill>
          <a:ln/>
        </p:spPr>
      </p:sp>
      <p:sp>
        <p:nvSpPr>
          <p:cNvPr id="12" name="Text 10"/>
          <p:cNvSpPr txBox="1"/>
          <p:nvPr/>
        </p:nvSpPr>
        <p:spPr>
          <a:xfrm>
            <a:off x="749808" y="2931871"/>
            <a:ext cx="10692079" cy="1130808"/>
          </a:xfrm>
          <a:prstGeom prst="rect">
            <a:avLst/>
          </a:prstGeom>
          <a:noFill/>
          <a:ln/>
        </p:spPr>
        <p:txBody>
          <a:bodyPr wrap="square" lIns="635" tIns="635" rIns="635" bIns="635" rtlCol="0" anchor="ctr"/>
          <a:lstStyle/>
          <a:p>
            <a:pPr marL="0" indent="0">
              <a:buNone/>
            </a:pPr>
            <a:r>
              <a:rPr lang="en-US" sz="1250" dirty="0">
                <a:solidFill>
                  <a:srgbClr val="3A3A3A"/>
                </a:solidFill>
                <a:latin typeface="Calibri" pitchFamily="34" charset="0"/>
                <a:ea typeface="Calibri" pitchFamily="34" charset="-122"/>
                <a:cs typeface="Calibri" pitchFamily="34" charset="-120"/>
              </a:rPr>
              <a:t>A client's situation is theirs to disclose, not ours. Our work can involve sensitive issues around growth, leadership, operations and performance. We respect that confidentiality. Where a client gives permission for an engagement to be published, we share the work clearly and accurately. Where they do not, the work remains confidential.</a:t>
            </a:r>
            <a:endParaRPr lang="en-US" sz="1250" dirty="0"/>
          </a:p>
        </p:txBody>
      </p:sp>
      <p:sp>
        <p:nvSpPr>
          <p:cNvPr id="13" name="Text 11"/>
          <p:cNvSpPr txBox="1"/>
          <p:nvPr/>
        </p:nvSpPr>
        <p:spPr>
          <a:xfrm>
            <a:off x="548640" y="4227271"/>
            <a:ext cx="11094415" cy="237744"/>
          </a:xfrm>
          <a:prstGeom prst="rect">
            <a:avLst/>
          </a:prstGeom>
          <a:noFill/>
          <a:ln/>
        </p:spPr>
        <p:txBody>
          <a:bodyPr wrap="square" lIns="0" tIns="0" rIns="0" bIns="0" rtlCol="0" anchor="ctr"/>
          <a:lstStyle/>
          <a:p>
            <a:pPr marL="0" indent="0">
              <a:buNone/>
            </a:pPr>
            <a:r>
              <a:rPr lang="en-US" sz="1100" b="1" kern="0" spc="100" dirty="0">
                <a:solidFill>
                  <a:srgbClr val="3A3A3A"/>
                </a:solidFill>
                <a:latin typeface="Calibri" pitchFamily="34" charset="0"/>
                <a:ea typeface="Calibri" pitchFamily="34" charset="-122"/>
                <a:cs typeface="Calibri" pitchFamily="34" charset="-120"/>
              </a:rPr>
              <a:t>CLOSING CTA</a:t>
            </a:r>
            <a:endParaRPr lang="en-US" sz="1100" dirty="0"/>
          </a:p>
        </p:txBody>
      </p:sp>
      <p:sp>
        <p:nvSpPr>
          <p:cNvPr id="14" name="Shape 12"/>
          <p:cNvSpPr/>
          <p:nvPr/>
        </p:nvSpPr>
        <p:spPr>
          <a:xfrm>
            <a:off x="548640" y="4501591"/>
            <a:ext cx="11094415" cy="728472"/>
          </a:xfrm>
          <a:prstGeom prst="rect">
            <a:avLst/>
          </a:prstGeom>
          <a:solidFill>
            <a:srgbClr val="FBF8F1"/>
          </a:solidFill>
          <a:ln/>
        </p:spPr>
      </p:sp>
      <p:sp>
        <p:nvSpPr>
          <p:cNvPr id="15" name="Text 13"/>
          <p:cNvSpPr txBox="1"/>
          <p:nvPr/>
        </p:nvSpPr>
        <p:spPr>
          <a:xfrm>
            <a:off x="749808" y="4501591"/>
            <a:ext cx="10692079" cy="728472"/>
          </a:xfrm>
          <a:prstGeom prst="rect">
            <a:avLst/>
          </a:prstGeom>
          <a:noFill/>
          <a:ln/>
        </p:spPr>
        <p:txBody>
          <a:bodyPr wrap="square" lIns="635" tIns="635" rIns="635" bIns="635" rtlCol="0" anchor="ctr"/>
          <a:lstStyle/>
          <a:p>
            <a:pPr marL="0" indent="0">
              <a:buNone/>
            </a:pPr>
            <a:r>
              <a:rPr lang="en-US" sz="1300" b="1" i="1" dirty="0">
                <a:solidFill>
                  <a:srgbClr val="3A3A3A"/>
                </a:solidFill>
                <a:latin typeface="Calibri" pitchFamily="34" charset="0"/>
                <a:ea typeface="Calibri" pitchFamily="34" charset="-122"/>
                <a:cs typeface="Calibri" pitchFamily="34" charset="-120"/>
              </a:rPr>
              <a:t>“Recognize your situation? If something in this case study sounds familiar, the first conversation is where we explore what is really happening in your business.”  [Start a Conversation]</a:t>
            </a:r>
            <a:endParaRPr lang="en-US" sz="1300" dirty="0"/>
          </a:p>
        </p:txBody>
      </p:sp>
      <p:sp>
        <p:nvSpPr>
          <p:cNvPr id="16" name="Text 14"/>
          <p:cNvSpPr txBox="1"/>
          <p:nvPr/>
        </p:nvSpPr>
        <p:spPr>
          <a:xfrm>
            <a:off x="548640" y="6510528"/>
            <a:ext cx="7315200" cy="274320"/>
          </a:xfrm>
          <a:prstGeom prst="rect">
            <a:avLst/>
          </a:prstGeom>
          <a:noFill/>
          <a:ln/>
        </p:spPr>
        <p:txBody>
          <a:bodyPr wrap="square" lIns="0" tIns="0" rIns="0" bIns="0" rtlCol="0" anchor="ctr"/>
          <a:lstStyle/>
          <a:p>
            <a:pPr marL="0" indent="0">
              <a:buNone/>
            </a:pPr>
            <a:r>
              <a:rPr lang="en-US" sz="900" b="1" kern="0" spc="100" dirty="0">
                <a:solidFill>
                  <a:srgbClr val="7D6230"/>
                </a:solidFill>
                <a:latin typeface="Calibri" pitchFamily="34" charset="0"/>
                <a:ea typeface="Calibri" pitchFamily="34" charset="-122"/>
                <a:cs typeface="Calibri" pitchFamily="34" charset="-120"/>
              </a:rPr>
              <a:t>SEIRAN PARTNERS · WEBSITE COPY REVIEW</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7">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B8965A"/>
          </a:solidFill>
          <a:ln/>
        </p:spPr>
      </p:sp>
      <p:pic>
        <p:nvPicPr>
          <p:cNvPr id="3" name="Image 0" descr="/home/claude/seiran_ppt/assets/img-000.png"/>
          <p:cNvPicPr>
            <a:picLocks noChangeAspect="1"/>
          </p:cNvPicPr>
          <p:nvPr/>
        </p:nvPicPr>
        <p:blipFill>
          <a:blip r:embed="rId3"/>
          <a:stretch>
            <a:fillRect/>
          </a:stretch>
        </p:blipFill>
        <p:spPr>
          <a:xfrm>
            <a:off x="548640" y="502920"/>
            <a:ext cx="2194560" cy="735196"/>
          </a:xfrm>
          <a:prstGeom prst="rect">
            <a:avLst/>
          </a:prstGeom>
        </p:spPr>
      </p:pic>
      <p:sp>
        <p:nvSpPr>
          <p:cNvPr id="4" name="Text 1"/>
          <p:cNvSpPr txBox="1"/>
          <p:nvPr/>
        </p:nvSpPr>
        <p:spPr>
          <a:xfrm>
            <a:off x="548640" y="3017520"/>
            <a:ext cx="9144000" cy="914400"/>
          </a:xfrm>
          <a:prstGeom prst="rect">
            <a:avLst/>
          </a:prstGeom>
          <a:noFill/>
          <a:ln/>
        </p:spPr>
        <p:txBody>
          <a:bodyPr wrap="square" lIns="0" tIns="0" rIns="0" bIns="0" rtlCol="0" anchor="ctr"/>
          <a:lstStyle/>
          <a:p>
            <a:pPr marL="0" indent="0">
              <a:buNone/>
            </a:pPr>
            <a:r>
              <a:rPr lang="en-US" sz="4400" b="1" dirty="0">
                <a:solidFill>
                  <a:srgbClr val="7D6230"/>
                </a:solidFill>
                <a:latin typeface="Georgia" pitchFamily="34" charset="0"/>
                <a:ea typeface="Georgia" pitchFamily="34" charset="-122"/>
                <a:cs typeface="Georgia" pitchFamily="34" charset="-120"/>
              </a:rPr>
              <a:t>Thank You</a:t>
            </a:r>
            <a:endParaRPr lang="en-US" sz="4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3742</Words>
  <Application>Microsoft Office PowerPoint</Application>
  <PresentationFormat>Widescreen</PresentationFormat>
  <Paragraphs>456</Paragraphs>
  <Slides>46</Slides>
  <Notes>46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Eldaah Toi</cp:lastModifiedBy>
  <cp:revision>3</cp:revision>
  <dcterms:created xsi:type="dcterms:W3CDTF">2026-09-01T18:17:45Z</dcterms:created>
  <dcterms:modified xsi:type="dcterms:W3CDTF">2026-09-03T17:23:05Z</dcterms:modified>
</cp:coreProperties>
</file>